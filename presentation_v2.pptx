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5F5"/>
    <a:srgbClr val="FFF3E0"/>
    <a:srgbClr val="9272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2"/>
    <p:restoredTop sz="68163" autoAdjust="0"/>
  </p:normalViewPr>
  <p:slideViewPr>
    <p:cSldViewPr snapToGrid="0">
      <p:cViewPr varScale="1">
        <p:scale>
          <a:sx n="85" d="100"/>
          <a:sy n="85" d="100"/>
        </p:scale>
        <p:origin x="448" y="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806BD-263D-420E-88A4-6F31A1A3ECC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CFDBF-2741-4118-9156-22BF4A921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6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everyone, thanks for having me. Today I'll walk you through my rotation project — building a segmentation model for electron microscopy data. The long-term goal is a model that can take novel electron tomograms and automatically label every organelle.</a:t>
            </a:r>
          </a:p>
          <a:p/>
          <a:p>
            <a:r>
              <a:t>I'll cover why we chose CellMap as our training ground, the 8-step pipeline from baseline selection to novel tomograms, how we picked a stable loss function, the systematic ablation study — 59 experiments across 5 sweeps — key 2D results so far, and where we're headed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long-term goal is to build a model that takes in novel electron tomograms — data our lab generates — and automatically produces fully labeled organelle segmentations. No manual annotation.</a:t>
            </a:r>
          </a:p>
          <a:p/>
          <a:p>
            <a:r>
              <a:t>Why CellMap? It's the largest publicly available FIB-SEM segmentation benchmark. 48 organelle classes, 22 biological samples. It has a leaderboard so we can objectively measure how well we're doing. And it's the same imaging modality as our own tomograms.</a:t>
            </a:r>
          </a:p>
          <a:p/>
          <a:p>
            <a:r>
              <a:t>What makes this hard: annotations are partial — each crop only labels a subset of classes. Unlabeled does NOT mean absent. Class imbalance spans 6+ orders of magnitude. And 3D training needs 512 GB of host RAM just for data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full pipeline from start to finish. We're at step 3.</a:t>
            </a:r>
          </a:p>
          <a:p/>
          <a:p>
            <a:r>
              <a:t>Step 1: ran a short test to identify a stable loss function for ablations. Step 2: rebuilt the entire pipeline with native zarr and all 48 classes. Step 3 is where we are now — 59 experiments across 5 sweeps.</a:t>
            </a:r>
          </a:p>
          <a:p/>
          <a:p>
            <a:r>
              <a:t>Steps 4–8 are ahead: compose optimal config, full architecture training, per-class threshold tuning, per-class ensemble, and apply to novel tomograms.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spending thousands of GPU hours on ablations, we ran a short test to find a loss function that was stable and gave real results.</a:t>
            </a:r>
          </a:p>
          <a:p/>
          <a:p>
            <a:r>
              <a:t>BalancedSoftmaxTversky handles partial annotations and 6 orders of magnitude of class imbalance without collapsing. It became the constant loss across all our ablation sweeps, so each sweep isolates just one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full pipeline. Data flows left to right: 22 zarr volumes, 289 crops across 48 classes, weighted sampler, FlexUNet with ResNet-34 encoder.</a:t>
            </a:r>
          </a:p>
          <a:p/>
          <a:p>
            <a:r>
              <a:t>The loss pipeline: NaN mask for partial annotations, BalancedSoftmaxTversky loss, and logit adjustment.</a:t>
            </a:r>
          </a:p>
          <a:p/>
          <a:p>
            <a:r>
              <a:t>5 ablation sweeps, each varying one component. Sweep A: 8 loss functions. B: Tversky alpha-beta (6). C: class weight tau (5). D: masking strategy (7). E: training tricks (3+).</a:t>
            </a:r>
          </a:p>
          <a:p/>
          <a:p>
            <a:r>
              <a:t>59 experiments total: 29 in 2D, 30 in 3D. 2D takes ~3h on L40S, 3D takes ~15h on H100 with 512 GB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Sweep B: Tversky alpha-beta tradeoff. Alpha 0.6, beta 0.4 wins at 0.561. Mild precision bias — penalizing false positives more — works best.</a:t>
            </a:r>
          </a:p>
          <a:p/>
          <a:p>
            <a:r>
              <a:t>Sweep C: logit adjustment tau. Tau 2.0 wins. With 48 classes and extreme imbalance, a stronger logit adjustment is needed to prevent the majority classes from dominating.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masking sweep is the most interesting. No masking gives 0.678. FG masking alone: 0.487 — 28% improvement for free. But tight bbox alone is WORSE than nothing at 0.719.</a:t>
            </a:r>
          </a:p>
          <a:p/>
          <a:p>
            <a:r>
              <a:t>Winner: mask-supervised reconstruction plus FG masking without bbox at 0.384.</a:t>
            </a:r>
          </a:p>
          <a:p/>
          <a:p>
            <a:r>
              <a:t>Putting it all together: BST with tau=2.0, alpha=0.6, beta=0.4, masksup=0.3, no bbox, foreground mask, and EMA. That becomes the Phase 2 baseline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of 29 2D experiments complete, 4 relaunched after a bug fix. 3D ablation has 11 of 30 done, rest queued, should finish by Wednesday.</a:t>
            </a:r>
          </a:p>
          <a:p/>
          <a:p>
            <a:r>
              <a:t>Then: compose winning config, full architecture training across 8 models, per-class threshold tuning, per-class ensemble, submit to leaderboard, and apply to our own novel tomograms.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88AAE-C86C-1E44-B69A-7594543F44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E8EB3-C288-DB4A-B5B6-ACB5C15BF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4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CFB87C"/>
                </a:solidFill>
                <a:latin typeface="Calibri Light"/>
              </a:defRPr>
            </a:pPr>
            <a:r>
              <a:t>Multi-Label Organelle Segmentation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CFB87C"/>
                </a:solidFill>
                <a:latin typeface="Calibri Light"/>
              </a:defRPr>
            </a:pPr>
            <a:r>
              <a:t>from FIB-SEM Electron Microscopy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94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Toward Automated Annotation of Novel Electron Tomograms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333333"/>
                </a:solidFill>
                <a:latin typeface="Calibri"/>
              </a:defRPr>
            </a:pPr>
            <a:r>
              <a:t>George S. George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67676"/>
                </a:solidFill>
                <a:latin typeface="Calibri"/>
              </a:defRPr>
            </a:pPr>
            <a:r>
              <a:t>Department of Computer Science  •  Interdisciplinary Quantitative Biology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49240"/>
            <a:ext cx="9994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67676"/>
                </a:solidFill>
                <a:latin typeface="Calibri"/>
              </a:defRPr>
            </a:pPr>
            <a:r>
              <a:t>Lab Meeting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The Big Picture: Why CellMap?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7772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156082"/>
                </a:solidFill>
                <a:latin typeface="Calibri"/>
              </a:defRPr>
            </a:pPr>
            <a:r>
              <a:t>The Long-Term Goal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Build a model that takes novel electron</a:t>
            </a:r>
            <a:br/>
            <a:r>
              <a:t>tomograms and produces fully labeled</a:t>
            </a:r>
            <a:br/>
            <a:r>
              <a:t>organelle segmentations — automatically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No manual annotation — the model</a:t>
            </a:r>
            <a:br/>
            <a:r>
              <a:t>generalizes to unseen biology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Everything we learn here transfers</a:t>
            </a:r>
            <a:br/>
            <a:r>
              <a:t>directly to our own tomograms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156082"/>
                </a:solidFill>
                <a:latin typeface="Calibri"/>
              </a:defRPr>
            </a:pPr>
            <a:r>
              <a:t>Why Is This Hard?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48 organelle classes, 22 biological samples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Partial annotations — unlabeled ≠ absent;</a:t>
            </a:r>
            <a:br/>
            <a:r>
              <a:t>standard losses penalize correct predictions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6+ orders of magnitude class imbalance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3D volumes need up to 512 GB host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777240"/>
            <a:ext cx="5303520" cy="22860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8686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CFB87C"/>
                </a:solidFill>
                <a:latin typeface="Calibri"/>
              </a:defRPr>
            </a:pPr>
            <a:r>
              <a:t>Why CellMap as the Training Ground?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Largest public FIB-SEM segmentation benchmark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Diverse biology: HeLa, mouse kidney/liver/</a:t>
            </a:r>
            <a:br/>
            <a:r>
              <a:t>heart, fly brain, jurkat, macrophage...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Has a leaderboard → objective evaluation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Same imaging modality as our own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383280"/>
            <a:ext cx="4937760" cy="594360"/>
          </a:xfrm>
          <a:prstGeom prst="round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429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FB87C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930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67676"/>
                </a:solidFill>
                <a:latin typeface="Calibri"/>
              </a:defRPr>
            </a:pPr>
            <a:r>
              <a:t>organelle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069080"/>
            <a:ext cx="4937760" cy="594360"/>
          </a:xfrm>
          <a:prstGeom prst="round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114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FB87C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788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67676"/>
                </a:solidFill>
                <a:latin typeface="Calibri"/>
              </a:defRPr>
            </a:pPr>
            <a:r>
              <a:t>biological samples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754880"/>
            <a:ext cx="4937760" cy="594360"/>
          </a:xfrm>
          <a:prstGeom prst="round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800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FB87C"/>
                </a:solidFill>
                <a:latin typeface="Calibri"/>
              </a:defRPr>
            </a:pPr>
            <a:r>
              <a:t>289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646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67676"/>
                </a:solidFill>
                <a:latin typeface="Calibri"/>
              </a:defRPr>
            </a:pPr>
            <a:r>
              <a:t>annotated 3D crops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440680"/>
            <a:ext cx="4937760" cy="594360"/>
          </a:xfrm>
          <a:prstGeom prst="round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5486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FB87C"/>
                </a:solidFill>
                <a:latin typeface="Calibri"/>
              </a:defRPr>
            </a:pPr>
            <a:r>
              <a:t>42.3B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550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67676"/>
                </a:solidFill>
                <a:latin typeface="Calibri"/>
              </a:defRPr>
            </a:pPr>
            <a:r>
              <a:t>total voxels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The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94360" y="877824"/>
            <a:ext cx="438912" cy="438912"/>
          </a:xfrm>
          <a:prstGeom prst="ellipse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05256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822960"/>
            <a:ext cx="3474720" cy="566928"/>
          </a:xfrm>
          <a:prstGeom prst="round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89611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Baseline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89611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Quick test to identify stable loss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89611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96B24"/>
                </a:solidFill>
                <a:latin typeface="Calibri"/>
              </a:defRPr>
            </a:pPr>
            <a:r>
              <a:t>✅ Done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43200" y="1389888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1499616"/>
            <a:ext cx="438912" cy="438912"/>
          </a:xfrm>
          <a:prstGeom prst="ellipse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2704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444752"/>
            <a:ext cx="3474720" cy="566928"/>
          </a:xfrm>
          <a:prstGeom prst="round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151790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Infrastructure Rebuild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51790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Native zarr pipeline, all 48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5179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96B24"/>
                </a:solidFill>
                <a:latin typeface="Calibri"/>
              </a:defRPr>
            </a:pPr>
            <a:r>
              <a:t>✅ Done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43200" y="2011680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2121408"/>
            <a:ext cx="438912" cy="438912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148840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2066544"/>
            <a:ext cx="3474720" cy="566928"/>
          </a:xfrm>
          <a:prstGeom prst="roundRect">
            <a:avLst/>
          </a:prstGeom>
          <a:solidFill>
            <a:srgbClr val="D0DEE8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213969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156082"/>
                </a:solidFill>
                <a:latin typeface="Calibri"/>
              </a:defRPr>
            </a:pPr>
            <a:r>
              <a:t>Systematic Ablation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139696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59 experiments, 5 sweeps (2D + 3D)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13969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56082"/>
                </a:solidFill>
                <a:latin typeface="Calibri"/>
              </a:defRPr>
            </a:pPr>
            <a:r>
              <a:t>← In Progress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2743200" y="2633472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2743200"/>
            <a:ext cx="438912" cy="438912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77063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2688336"/>
            <a:ext cx="3474720" cy="56692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276148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Compose Optimal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76148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Best of each sweep → single config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2743200" y="3255264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" y="3364992"/>
            <a:ext cx="438912" cy="438912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392424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3310128"/>
            <a:ext cx="3474720" cy="56692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338328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Full Architecture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38328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8 architectures × 100 epochs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2743200" y="3877056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4360" y="3986784"/>
            <a:ext cx="438912" cy="438912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014216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" y="3931920"/>
            <a:ext cx="3474720" cy="56692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400507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Threshold Tuning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00507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Per-class IoU optimization on validation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2743200" y="4498848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4360" y="4608576"/>
            <a:ext cx="438912" cy="438912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63600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88720" y="4553712"/>
            <a:ext cx="3474720" cy="56692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462686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Per-Class Ensemble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462686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Best architecture per organelle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2743200" y="5120640"/>
            <a:ext cx="274320" cy="54864"/>
          </a:xfrm>
          <a:prstGeom prst="downArrow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4360" y="5230368"/>
            <a:ext cx="438912" cy="438912"/>
          </a:xfrm>
          <a:prstGeom prst="ellipse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257800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175504"/>
            <a:ext cx="3474720" cy="566928"/>
          </a:xfrm>
          <a:prstGeom prst="roundRect">
            <a:avLst/>
          </a:prstGeom>
          <a:solidFill>
            <a:srgbClr val="D4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524865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Apply to Novel Tomograms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5248656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The Goal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Step 1: Choosing a Baseline Loss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Before running 59 ablation experiments, we needed a stable loss function that would give real, comparable results across sweeps.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286000"/>
            <a:ext cx="9418320" cy="18288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CFB87C"/>
                </a:solidFill>
                <a:latin typeface="Calibri"/>
              </a:defRPr>
            </a:pPr>
            <a:r>
              <a:t>What we did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Ran a short test across several common loss functions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Identified BalancedSoftmaxTversky (BST) as a stable baseline — handles partial annotations and class imbalance without collapsing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Used BST as the constant loss in all ablation sweeps, isolating the effect of each variable being tested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480560"/>
            <a:ext cx="6675120" cy="685800"/>
          </a:xfrm>
          <a:prstGeom prst="roundRect">
            <a:avLst/>
          </a:prstGeom>
          <a:solidFill>
            <a:srgbClr val="D0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52628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56082"/>
                </a:solidFill>
                <a:latin typeface="Calibri"/>
              </a:defRPr>
            </a:pPr>
            <a:r>
              <a:t>→  BST loss = constant across all sweeps → minimal confounding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The Pipeline — 59 Ablation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pic>
        <p:nvPicPr>
          <p:cNvPr id="8" name="Picture 7" descr="pipeline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0"/>
            <a:ext cx="10608539" cy="2560320"/>
          </a:xfrm>
          <a:prstGeom prst="rect">
            <a:avLst/>
          </a:prstGeom>
        </p:spPr>
      </p:pic>
      <p:pic>
        <p:nvPicPr>
          <p:cNvPr id="9" name="Picture 8" descr="sweep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29000"/>
            <a:ext cx="796034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2D Results: Tversky α/β and Class Weighting 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777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Val losses comparable within each sweep (same loss family). 25/29 complete; 4 relaunched after bug fixes.</a:t>
            </a:r>
          </a:p>
        </p:txBody>
      </p:sp>
      <p:pic>
        <p:nvPicPr>
          <p:cNvPr id="9" name="Picture 8" descr="sweep_b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3895828" cy="3291840"/>
          </a:xfrm>
          <a:prstGeom prst="rect">
            <a:avLst/>
          </a:prstGeom>
        </p:spPr>
      </p:pic>
      <p:pic>
        <p:nvPicPr>
          <p:cNvPr id="10" name="Picture 9" descr="sweep_c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51560"/>
            <a:ext cx="3454009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56082"/>
                </a:solidFill>
                <a:latin typeface="Calibri"/>
              </a:defRPr>
            </a:pPr>
            <a:r>
              <a:t>Winner: α=0.6, β=0.4  (val_loss = 0.561)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Mild precision bias outperforms</a:t>
            </a:r>
            <a:br/>
            <a:r>
              <a:t>balanced Dice (α=β=0.5).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56082"/>
                </a:solidFill>
                <a:latin typeface="Calibri"/>
              </a:defRPr>
            </a:pPr>
            <a:r>
              <a:t>Winner: τ=2.0  (val_loss = 0.409)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Stronger logit adjustment needed</a:t>
            </a:r>
            <a:br/>
            <a:r>
              <a:t>for 48 classes with extreme imbalance.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2D Results: Masking Strategy &amp; Winners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pic>
        <p:nvPicPr>
          <p:cNvPr id="8" name="Picture 7" descr="sweep_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"/>
            <a:ext cx="7132320" cy="45073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77724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156082"/>
                </a:solidFill>
                <a:latin typeface="Calibri"/>
              </a:defRPr>
            </a:pPr>
            <a:r>
              <a:t>All Sweep Winners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96B24"/>
                </a:solidFill>
                <a:latin typeface="Calibri"/>
              </a:defRPr>
            </a:pPr>
            <a:r>
              <a:t>B: α=0.6, β=0.4  (0.561)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Mild precision bias outperforms balanced Dice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96B24"/>
                </a:solidFill>
                <a:latin typeface="Calibri"/>
              </a:defRPr>
            </a:pPr>
            <a:r>
              <a:t>C: τ=2.0  (0.409)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Stronger logit adjustment needed for 48 classes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96B24"/>
                </a:solidFill>
                <a:latin typeface="Calibri"/>
              </a:defRPr>
            </a:pPr>
            <a:r>
              <a:t>D: masksup + FG, no bbox  (0.384)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Surprise: tight bbox alone HURTS (0.719)</a:t>
            </a:r>
            <a:br/>
            <a:r>
              <a:t>FG mask + mask-supervised recon wins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E97132"/>
                </a:solidFill>
                <a:latin typeface="Calibri"/>
              </a:defRPr>
            </a:pPr>
            <a:r>
              <a:t>A: BST  (pending 2 relaunches)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focal_tversky &amp; unified_focal still running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E97132"/>
                </a:solidFill>
                <a:latin typeface="Calibri"/>
              </a:defRPr>
            </a:pPr>
            <a:r>
              <a:t>E: EMA leading  (pending 2 relaunches)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no_weighted_sampler &amp; focal_tversky_mild still running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7498079" y="4572000"/>
            <a:ext cx="4389120" cy="1097280"/>
          </a:xfrm>
          <a:prstGeom prst="roundRect">
            <a:avLst/>
          </a:prstGeom>
          <a:solidFill>
            <a:srgbClr val="D0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6177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56082"/>
                </a:solidFill>
                <a:latin typeface="Calibri"/>
              </a:defRPr>
            </a:pPr>
            <a:r>
              <a:t>Preliminary Phase 2 Config: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BST(τ=2.0, α=0.6, β=0.4)</a:t>
            </a:r>
            <a:br/>
            <a:r>
              <a:t>+ masksup=0.3, no bbox, FG mask</a:t>
            </a:r>
            <a:br/>
            <a:r>
              <a:t>+ EMA(0.999)  [pending final A &amp; 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CFB87C"/>
                </a:solidFill>
                <a:latin typeface="Calibri Light"/>
              </a:defRPr>
            </a:pPr>
            <a:r>
              <a:t>What’s Next: Steps 4–8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12648"/>
            <a:ext cx="11274552" cy="3175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007608"/>
            <a:ext cx="1719072" cy="78638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7772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2D Ablation (25/29)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converged at 50 epochs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2D Relaunches (4)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Running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Bug fix applied → relaunched on L40S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3D Ablation (11/30)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Sycamore H100 cluster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3D Pending (22/30)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⏳ Queued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~15h per job — done ~Wed Feb 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777240"/>
            <a:ext cx="5303520" cy="182880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868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FB87C"/>
                </a:solidFill>
                <a:latin typeface="Calibri"/>
              </a:defRPr>
            </a:pPr>
            <a:r>
              <a:t>Compute &amp; Timeline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2D relaunches: done within hours (L40S)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3D ablation: ~Wed Feb 26 (H100 cluster)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Phase 2 architecture training: ~2 weeks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~2,200 GPU-hours spent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156082"/>
                </a:solidFill>
                <a:latin typeface="Calibri"/>
              </a:defRPr>
            </a:pPr>
            <a:r>
              <a:t>Remaining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7772400" cy="4389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4. Compose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10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  <a:r>
              <a:t>Take winner from each sweep → single optimal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767676"/>
                </a:solidFill>
                <a:latin typeface="Calibri"/>
              </a:defRPr>
            </a:pPr>
            <a:r>
              <a:t>~1 day after ablation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22192"/>
            <a:ext cx="7772400" cy="4389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5. Full Arch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  <a:r>
              <a:t>4 archs × 2D + 4 archs × 3D, 100 epochs, 1000 iter/epoch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767676"/>
                </a:solidFill>
                <a:latin typeface="Calibri"/>
              </a:defRPr>
            </a:pPr>
            <a:r>
              <a:t>~2 weeks on cluster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52544"/>
            <a:ext cx="7772400" cy="4389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708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6. Threshold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708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  <a:r>
              <a:t>Per-class threshold optimization on validation (default 0.5 is suboptimal)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708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767676"/>
                </a:solidFill>
                <a:latin typeface="Calibri"/>
              </a:defRPr>
            </a:pPr>
            <a:r>
              <a:t>~2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82895"/>
            <a:ext cx="7772400" cy="43891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01183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7. Per-Class Ensemble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901183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  <a:r>
              <a:t>Different architectures excel at different organelles → composite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0118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767676"/>
                </a:solidFill>
                <a:latin typeface="Calibri"/>
              </a:defRPr>
            </a:pPr>
            <a:r>
              <a:t>~1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13248"/>
            <a:ext cx="7772400" cy="438912"/>
          </a:xfrm>
          <a:prstGeom prst="roundRect">
            <a:avLst/>
          </a:prstGeom>
          <a:solidFill>
            <a:srgbClr val="D4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315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8. Final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4315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  <a:r>
              <a:t>Submit to CellMap leaderboard → apply to novel tomograms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4315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96B24"/>
                </a:solidFill>
                <a:latin typeface="Calibri"/>
              </a:defRPr>
            </a:pPr>
            <a:r>
              <a:t>End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800" b="1">
                <a:solidFill>
                  <a:srgbClr val="CFB87C"/>
                </a:solidFill>
                <a:latin typeface="Calibri Light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800" b="0">
                <a:solidFill>
                  <a:srgbClr val="767676"/>
                </a:solidFill>
                <a:latin typeface="Calibri Light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767676"/>
                </a:solidFill>
                <a:latin typeface="Calibri"/>
              </a:defRPr>
            </a:pPr>
            <a:r>
              <a:t>George S. George  •  gsgeorge@unc.edu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D9D9D9"/>
                </a:solidFill>
                <a:latin typeface="Calibri"/>
              </a:defRPr>
            </a:pPr>
            <a:r>
              <a:t>Code: github.com/Shan-CU/CellMap-Segmentation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DCAE5AB8CB6E4DA5E3E6960FA14961" ma:contentTypeVersion="5" ma:contentTypeDescription="Create a new document." ma:contentTypeScope="" ma:versionID="977174e26617ef315414bd51ea0600dc">
  <xsd:schema xmlns:xsd="http://www.w3.org/2001/XMLSchema" xmlns:xs="http://www.w3.org/2001/XMLSchema" xmlns:p="http://schemas.microsoft.com/office/2006/metadata/properties" xmlns:ns3="e8f9bfac-c2a4-45f3-a98c-98b2872a7994" targetNamespace="http://schemas.microsoft.com/office/2006/metadata/properties" ma:root="true" ma:fieldsID="4bbf91fe8bd11ffa257e90278c334b52" ns3:_="">
    <xsd:import namespace="e8f9bfac-c2a4-45f3-a98c-98b2872a79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bfac-c2a4-45f3-a98c-98b2872a79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f9bfac-c2a4-45f3-a98c-98b2872a7994" xsi:nil="true"/>
  </documentManagement>
</p:properties>
</file>

<file path=customXml/itemProps1.xml><?xml version="1.0" encoding="utf-8"?>
<ds:datastoreItem xmlns:ds="http://schemas.openxmlformats.org/officeDocument/2006/customXml" ds:itemID="{37F5763D-5CE0-471B-A997-E2BAF106C9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E1EDA9-0259-4B09-9151-59FCA06D340E}">
  <ds:schemaRefs>
    <ds:schemaRef ds:uri="e8f9bfac-c2a4-45f3-a98c-98b2872a79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55332CA-9418-44DB-8F3D-D01A2AE62B89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8f9bfac-c2a4-45f3-a98c-98b2872a799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GStephenson_rotation1_slides</Template>
  <TotalTime>350</TotalTime>
  <Words>47</Words>
  <Application>Microsoft Macintosh PowerPoint</Application>
  <PresentationFormat>Widescreen</PresentationFormat>
  <Paragraphs>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Stephenson</dc:creator>
  <cp:lastModifiedBy>George Stephenson</cp:lastModifiedBy>
  <cp:revision>5</cp:revision>
  <dcterms:created xsi:type="dcterms:W3CDTF">2025-12-02T03:50:19Z</dcterms:created>
  <dcterms:modified xsi:type="dcterms:W3CDTF">2026-02-23T20:32:04Z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0x010100CBDCAE5AB8CB6E4DA5E3E6960FA14961</vt:lpwstr>
  </property>
</Properties>
</file>