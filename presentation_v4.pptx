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56" r:id="rId7"/>
    <p:sldId id="257" r:id="rId6"/>
    <p:sldId id="258" r:id="rId5"/>
    <p:sldId id="259" r:id="rId13"/>
    <p:sldId id="260" r:id="rId14"/>
    <p:sldId id="261" r:id="rId15"/>
    <p:sldId id="262" r:id="rId16"/>
    <p:sldId id="263" r:id="rId17"/>
    <p:sldId id="266" r:id="rId20"/>
    <p:sldId id="267" r:id="rId21"/>
    <p:sldId id="264"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5F5"/>
    <a:srgbClr val="FFF3E0"/>
    <a:srgbClr val="9272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32"/>
    <p:restoredTop sz="68163" autoAdjust="0"/>
  </p:normalViewPr>
  <p:slideViewPr>
    <p:cSldViewPr snapToGrid="0">
      <p:cViewPr varScale="1">
        <p:scale>
          <a:sx n="85" d="100"/>
          <a:sy n="85" d="100"/>
        </p:scale>
        <p:origin x="448" y="168"/>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9.xml"/><Relationship Id="rId2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806BD-263D-420E-88A4-6F31A1A3ECCC}"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CFDBF-2741-4118-9156-22BF4A92197E}" type="slidenum">
              <a:rPr lang="en-US" smtClean="0"/>
              <a:t>‹#›</a:t>
            </a:fld>
            <a:endParaRPr lang="en-US"/>
          </a:p>
        </p:txBody>
      </p:sp>
    </p:spTree>
    <p:extLst>
      <p:ext uri="{BB962C8B-B14F-4D97-AF65-F5344CB8AC3E}">
        <p14:creationId xmlns:p14="http://schemas.microsoft.com/office/powerpoint/2010/main" val="1815566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thanks for having me. Today I'll walk you through my rotation project — building a segmentation model for electron microscopy data.</a:t>
            </a:r>
            <a:br/>
            <a:br/>
            <a:r>
              <a:t>I'll cover: the CellMap challenge and why it's our proving ground, the key challenges of partial annotation and extreme class imbalance, what 63 ablation experiments taught us, the optimal training recipe, a deep dive into two bugs we caught this week — a three-layer memory leak and a loss-architecture incompatibility — and live training results from Phase 2 which has been running for about 10 hours now.</a:t>
            </a:r>
            <a:br/>
            <a:br/>
            <a:r>
              <a:t>This is v4 of the presentation — updated today, February 28, with live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long-term goal is to build a model that takes in novel electron tomograms and automatically produces fully labeled organelle segmentations.</a:t>
            </a:r>
            <a:br/>
            <a:br/>
            <a:r>
              <a:t>Why CellMap? It's the largest publicly available FIB-SEM segmentation benchmark. 48 organelle classes, 22 biological samples spanning HeLa cells, mouse organs, fly brain, and more. It has a public leaderboard so we can objectively measure progress. And critically, it's the same imaging modality as our own tomograms, so everything we learn transfers directly.</a:t>
            </a:r>
            <a:br/>
            <a:br/>
            <a:r>
              <a:t>42.3 billion annotated voxels, 289 labeled crops. But the annotations are partial — each crop only labels a subset of the 48 classes — which creates the first major challenge.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core challenges dominate this problem.</a:t>
            </a:r>
            <a:br/>
            <a:br/>
            <a:r>
              <a:t>First, partial annotation. Each 3D crop only labels a subset of the 48 classes. Unlabeled voxels are NaN, meaning 'not annotated' — NOT 'absent.' If you naively treat NaN as negative, you penalize the model for correct predictions. We solve this with NaN-masked loss: gradients only flow where annotations exist.</a:t>
            </a:r>
            <a:br/>
            <a:br/>
            <a:r>
              <a:t>Second, extreme class imbalance — 2.7 million to one between the largest and smallest classes. The 'cell' class has billions of voxels; 'nhchrom' and 'nucleo' each appear in exactly one crop. Without mitigation, the model only learns the biggest 5-10 classes and ignores everything else. We use weighted sampling — where rare-class crops get upsampled by up to 1,470x — and foreground masking to address this.</a:t>
            </a:r>
            <a:br/>
            <a:br/>
            <a:r>
              <a:t>The 48 classes form a hierarchy: 35 atomic labels like 'mito_mem' for mitochondrial membrane, plus 13 group labels like 'mito' = union of mito_mem + mito_lum + mito_ribo. No two atomic labels overlap.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pipeline. Steps 1 through 4 are in progress.</a:t>
            </a:r>
            <a:br/>
            <a:br/>
            <a:r>
              <a:t>Step 1, complete: Infrastructure — native zarr data loading, all 48 classes, NaN-masked loss, weighted sampling.</a:t>
            </a:r>
            <a:br/>
            <a:br/>
            <a:r>
              <a:t>Step 2, complete: 63 ablation experiments across 5 sweeps, about 600 GPU-hours, to find the optimal training recipe.</a:t>
            </a:r>
            <a:br/>
            <a:br/>
            <a:r>
              <a:t>Step 3, complete: Composed the winning configuration from each sweep.</a:t>
            </a:r>
            <a:br/>
            <a:br/>
            <a:r>
              <a:t>Step 4 is where we are right now — training 8 architectures, 3 in 2D and 5 in 3D, with the optimal recipe on Longleaf L40S GPUs. About 10 hours in, all jobs stable. A ninth model, ViT 2D, failed at launch due to a CUDA error and was skipped.</a:t>
            </a:r>
            <a:br/>
            <a:br/>
            <a:r>
              <a:t>Steps 5 through 8 are ahead: per-class threshold tuning, per-class ensemble, leaderboard submission, and finally applying to our own novel electron tomograms — which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 ablation experiments across 5 sweeps, about 600 GPU-hours. Here are the key findings.</a:t>
            </a:r>
            <a:br/>
            <a:br/>
            <a:r>
              <a:t>Sweep A, loss function: we tested 8 losses. Simple losses like BCE and DiceBCE massively outperformed complex ones like Tversky and focal variants. The best leaderboard Dice was BCE at 0.476, but we chose DiceBCE at 0.459 because it has better rare-class performance — the Dice component explicitly optimizes overlap. Important caveat: DiceBCE is incompatible with SegResNetDS deep supervision — more on that in slide 10.</a:t>
            </a:r>
            <a:br/>
            <a:br/>
            <a:r>
              <a:t>Sweeps B and C: Tversky alpha-beta tuning and logit adjustment both failed to improve on DiceBCE. High logit adjustment completely destroyed predictions.</a:t>
            </a:r>
            <a:br/>
            <a:br/>
            <a:r>
              <a:t>Sweep D: foreground masking gave a free 28% improvement. But bounding box masking alone actually hurt — surprising result.</a:t>
            </a:r>
            <a:br/>
            <a:br/>
            <a:r>
              <a:t>Sweep E: EMA gave a 4x improvement in val_loss — from 0.466 to 0.112. This is because partial annotations create noisy gradients; EMA at 0.999 averages over ~1000 steps to smooth that out. Weighted sampler is essential. But intensity augmentation hurt by 23% and class-aware crop weighting hurt by 38%. EM data has very consistent intensity within volumes, so augmenting it adds noise rather than useful variation.</a:t>
            </a:r>
            <a:br/>
            <a:br/>
            <a:r>
              <a:t>The bottom line: simple beats complex. Our optimal recipe is DiceBCE + EMA + foreground mask + weighted sampler.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exact configuration going into Phase 2.</a:t>
            </a:r>
            <a:br/>
            <a:br/>
            <a:r>
              <a:t>Why DiceBCE over BCE? BCE had the highest raw Dice at 0.476, but it achieves that by over-predicting common classes like ecs, pm, and mito. DiceBCE at 0.459 has better rare-class performance because the Dice component explicitly optimizes per-class overlap. Since the challenge weights all 48 classes equally, rare-class performance matters more than raw Dice.</a:t>
            </a:r>
            <a:br/>
            <a:br/>
            <a:r>
              <a:t>With EMA at decay 0.999, DiceBCE reaches a val_loss of 0.112 — 4x better than without.</a:t>
            </a:r>
            <a:br/>
            <a:br/>
            <a:r>
              <a:t>One exception: SegResNetDS uses Balanced Softmax Tversky instead of DiceBCE. We discovered this week that DiceBCE is mathematically incompatible with deep supervision — the BCE component on large raw logits produces enormous losses. BST operates in sigmoid probability space and is bounded regardless of logit magnitude. I'll cover this in detail on slide 10.</a:t>
            </a:r>
            <a:br/>
            <a:br/>
            <a:r>
              <a:t>Important note about Phase 1 3D experiments: they were essentially non-functional. Every experiment produced near-zero Dice. The training regime was only 12,500 steps — way too few for 3D volumes. So we transferred the 2D findings to 3D and are training 24x longer in Phase 2: 300,000 steps.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8 architectures running, same recipe. The question is which backbone learns organelles best.</a:t>
            </a:r>
            <a:br/>
            <a:br/>
            <a:r>
              <a:t>3 in 2D — a 4th, ViT at 105 million parameters, crashed at step 0 with a CUDA error and was dropped. The running ones: ResNet-34 at 7.8M params — our Phase 1 workhorse, UNet at 31M, and Swin Transformer at 36M with shifted-window attention.</a:t>
            </a:r>
            <a:br/>
            <a:br/>
            <a:r>
              <a:t>5 in 3D: SegResNetDS at 20M with deep supervision, SwinUNETR at 62M with 3D self-attention, FlexUNet-ResNet34 at 24.5M, UNet3D at 90M — our largest 3D model, and ViTAutoEnc at 31.5M.</a:t>
            </a:r>
            <a:br/>
            <a:br/>
            <a:r>
              <a:t>Key infrastructure changes from Phase 1: Crop size dropped from 128-cubed to 96-cubed. Why? Many crops have minimum physical extent around 680 to 800 nanometers. At 8nm resolution, 96 cubed is 768nm — fits nearly all crops. This doubled usable training data from 78 to 152 crops.</a:t>
            </a:r>
            <a:br/>
            <a:br/>
            <a:r>
              <a:t>Batch size increased from 2 to 8 — a 4x throughput gain — enabled by the memory leak fix. LR scaled linearly from 1e-4 to 4e-4. L40S VRAM utilization is only 22%, so we have headroom.</a:t>
            </a:r>
            <a:br/>
            <a:br/>
            <a:r>
              <a:t>All models run on single L40S GPUs with 48GB VRAM. 2D models target 100K steps, 3D models target 300K steps.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live data from about 10 hours of training.</a:t>
            </a:r>
            <a:br/>
            <a:br/>
            <a:r>
              <a:t>Starting with 2D: ResNet-34 is the clear leader at 0.387 training loss and 0.243 validation Dice at epoch 17. This is consistent with Phase 1 — ResNet is efficient and converges fast. UNet is at 0.445 loss with val Dice still at zero at epoch 13 — it needs more training to converge, this is not alarming yet. Swin Transformer is concerning — loss is flat at 0.842 after 17,000 steps. That's not just slow warmup. Swin may need a different learning rate or the patch-window geometry may not suit fine EM membranes.</a:t>
            </a:r>
            <a:br/>
            <a:br/>
            <a:r>
              <a:t>For 3D models: we're only at epoch 4 of 1000, so these are very early signals. ResNet-34 again leads at 0.501 loss. ViTAutoEnc is close at 0.544. SwinUNETR and UNet trail at 0.650 and 0.686. SegResNetDS started late because we had to relaunch with BST loss — it's at 0.900 which is appropriate for its stage.</a:t>
            </a:r>
            <a:br/>
            <a:br/>
            <a:r>
              <a:t>First 3D validation won't come until epoch 30, about 2 more days.</a:t>
            </a:r>
            <a:br/>
            <a:br/>
            <a:r>
              <a:t>On infrastructure: all 8 SLURM jobs have been stable for 10+ hours. RSS memory is flat at about 9.5 GB per job — compared to the 5.6 GB per step leak we had before the fix. The memory leak fix is confirmed working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updated timeline as of today.</a:t>
            </a:r>
            <a:br/>
            <a:br/>
            <a:r>
              <a:t>What's done: The memory leak is fully resolved — three-layer fix in commit 2c4aa84. Phase 2 is launched with 8 of 9 models running stably. The SegResNet-DiceBCE incompatibility was found and fixed this morning. Memory has been stable for 10+ hours across all jobs.</a:t>
            </a:r>
            <a:br/>
            <a:br/>
            <a:r>
              <a:t>What's coming: In about 12 hours, the 2D models will reach epoch 30 and we'll get the first real validation Dice scores. In about 2 days, 2D training should complete — 3 models finishing 100 epochs at 100K steps. Also around 2 days, the 3D models reach epoch 30 for first validation. Full 3D training takes 10 to 13 days — 5 models finishing 1000 epochs at 300K steps.</a:t>
            </a:r>
            <a:br/>
            <a:br/>
            <a:r>
              <a:t>After training completes, the post-training pipeline is: threshold tuning, which takes about 2 days — the default 0.5 threshold is conservative and precision typically far exceeds recall. Then per-class ensemble in about 1 day — pick the best architecture for each organelle class. Then leaderboard submission and finally novel tomograms.</a:t>
            </a:r>
            <a:br/>
            <a:br/>
            <a:r>
              <a:t>Key open questions: Will Swin eventually learn or is it stuck? How much do 3D models improve over 2D? Which organelles prefer 2D versus 3D? Can a per-class ensemble beat any single model?</a:t>
            </a:r>
            <a:br/>
            <a:br/>
            <a:r>
              <a:t>Projected timeline: 2D results around March 2nd, 3D results around March 10 to 13th, ensemble by March 15th, leaderboard submission March 16th.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any questions.</a:t>
            </a:r>
            <a:br/>
            <a:br/>
            <a:r>
              <a:t>═══ Q&amp;A CHEAT SHEET ═══</a:t>
            </a:r>
            <a:br/>
            <a:br/>
            <a:r>
              <a:t>1. WHY NOT ONE LOSS FOR EVERYTHING?</a:t>
            </a:r>
            <a:br/>
            <a:r>
              <a:t>DiceBCE works for 7 of 8 architectures. SegResNetDS has deep supervision — auxiliary heads output large logits. BCE loss scales linearly with logit magnitude when target=0. BST operates in sigmoid space [0,1], agnostic to logit scale.</a:t>
            </a:r>
            <a:br/>
            <a:br/>
            <a:r>
              <a:t>2. ISN'T IT UNFAIR COMPARING WITH DIFFERENT LOSSES?</a:t>
            </a:r>
            <a:br/>
            <a:r>
              <a:t>SegResNet with DiceBCE literally cannot learn (loss stuck at 7-10). We compare each architecture with its best compatible loss. The final metric is per-class Dice, which is architecture-agnostic. And the per-class ensemble picks the best model per organelle anyway.</a:t>
            </a:r>
            <a:br/>
            <a:br/>
            <a:r>
              <a:t>3. WHY DICEBCE OVER PURE BCE?</a:t>
            </a:r>
            <a:br/>
            <a:r>
              <a:t>BCE mean Dice 0.476 vs DiceBCE 0.459. But BCE over-predicts common classes. DiceBCE has better rare-class performance because the Dice component optimizes overlap directly. The challenge weights all 48 classes equally. With EMA, DiceBCE val_loss=0.112, a 4x improvement.</a:t>
            </a:r>
            <a:br/>
            <a:br/>
            <a:r>
              <a:t>4. WHY IS EMA 4x BETTER?</a:t>
            </a:r>
            <a:br/>
            <a:r>
              <a:t>Partial annotations: each crop labels different class subsets. Without EMA, the model oscillates between conflicting class gradients every batch. EMA at 0.999 averages ~1000 steps, creating a balanced signal. The 4x improvement is expected given extreme partial annotation.</a:t>
            </a:r>
            <a:br/>
            <a:br/>
            <a:r>
              <a:t>5. WHY 96-CUBED NOT 128-CUBED?</a:t>
            </a:r>
            <a:br/>
            <a:r>
              <a:t>768nm vs 1024nm physical box at 8nm resolution. Many crops have minimum physical extent around 680-800nm. 96-cubed fits nearly all crops. Switching doubles usable data: 78 to 152 crops. Lost 25% spatial context but gained 2x data diversity — net positive.</a:t>
            </a:r>
            <a:br/>
            <a:br/>
            <a:r>
              <a:t>6. WHY IS SWIN FLAT AT 0.84?</a:t>
            </a:r>
            <a:br/>
            <a:r>
              <a:t>Swin Transformers are LR-sensitive; may need a different learning rate. The 4x4 patch size on 256x256 with window size 7 may not capture fine membrane structures. Transformers generally need more data than CNNs to converge. We'll watch through epoch 30 before deciding.</a:t>
            </a:r>
            <a:br/>
            <a:br/>
            <a:r>
              <a:t>7. WHY NO PRETRAINED BACKBONE?</a:t>
            </a:r>
            <a:br/>
            <a:r>
              <a:t>EM is fundamentally different from natural images — grayscale, inverted contrast, single-channel input. There are no pretrained 3D encoders for this domain. A good future experiment would be self-supervised pretraining on unlabeled EM data.</a:t>
            </a:r>
            <a:br/>
            <a:br/>
            <a:r>
              <a:t>8. VALIDATION ON ONLY 14 OF 48 CLASSES?</a:t>
            </a:r>
            <a:br/>
            <a:r>
              <a:t>The 14 most commonly annotated classes. Training loss is decreasing, which confirms the model is learning. Foreground mask plus weighted sampler handle rare classes. Final evaluation will be on the full test set with all 48 classes.</a:t>
            </a:r>
            <a:br/>
            <a:br/>
            <a:r>
              <a:t>9. MEMORY LEAK DETAILS?</a:t>
            </a:r>
            <a:br/>
            <a:r>
              <a:t>Three layers: (1) cellmap-data xarray cache, never evicted, 3.5 GB/step. (2) _current_coords dict, 1.6 GB/step. (3) glibc malloc arena fragmentation, 940 MB/step. Total: 5.6 GB/step reduced to 2 MB/step. Found via tracemalloc and sys.getsizeof. Commit 2c4aa84.</a:t>
            </a:r>
            <a:br/>
            <a:br/>
            <a:r>
              <a:t>10. WHY PER-CLASS ENSEMBLE?</a:t>
            </a:r>
            <a:br/>
            <a:r>
              <a:t>Membranes tend to favor 2D models. Volumetric structures like ER and microtubules favor 3D. Rare organelles vary. We pick the best architecture per class. This can only match or beat the best single model — it never hurts.</a:t>
            </a:r>
            <a:br/>
            <a:br/>
            <a:r>
              <a:t>11. EXPECTED LEADERBOARD SCORE?</a:t>
            </a:r>
            <a:br/>
            <a:r>
              <a:t>Public leaderboard leaders are around 0.3-0.4 mean Dice across all 48 classes. Our Phase 1 best was 0.476 on 14 validation classes. Estimate 0.35-0.45 on full 48-class evaluation. Rare classes with near-zero Dice will drag the mean down.</a:t>
            </a:r>
            <a:br/>
            <a:br/>
            <a:r>
              <a:t>12. WHY NOT 3D ONLY?</a:t>
            </a:r>
            <a:br/>
            <a:r>
              <a:t>2D trains 10-50x faster. Ensemble diversity improves the per-class best. Some organelles like planar membranes are genuinely better captured in 2D slices.</a:t>
            </a:r>
            <a:br/>
            <a:br/>
            <a:r>
              <a:t>13. JOB PREEMPTION ON SLURM?</a:t>
            </a:r>
            <a:br/>
            <a:r>
              <a:t>We checkpoint every validation epoch plus save the best model by val_dice. We fixed a bug where best_val_dice was reset to -1 after checkpoint restore. 11-day SLURM time limit. Resubmitting picks up where we left off.</a:t>
            </a:r>
            <a:br/>
            <a:br/>
            <a:r>
              <a:t>14. WHAT ABOUT 1-CROP CLASSES LIKE nhchrom AND nucleo?</a:t>
            </a:r>
            <a:br/>
            <a:r>
              <a:t>The weighted sampler upsamples that single crop by ~1,470x. NaN masking prevents false penalties on unlabeled voxels. But 1 crop means memorization, not generalization. Improvements: rely on group classes (chrom has 325M voxels across many crops), set high confidence thresholds, try pseudo-labeling, or get more annotations.</a:t>
            </a:r>
            <a:br/>
            <a:br/>
            <a:r>
              <a:t>15. WHY DEEP SUPERVISION FOR SEGRESNET?</a:t>
            </a:r>
            <a:br/>
            <a:r>
              <a:t>SegResNet has a deep encoder-decoder architecture prone to vanishing gradients. Deep supervision injects loss gradients at each decoder scale. The tradeoff is that auxiliary heads produce raw logits that need probability-space losses like BST.</a:t>
            </a:r>
            <a:br/>
            <a:br/>
            <a:r>
              <a:t>═══ KEY NUMBERS ═══</a:t>
            </a:r>
            <a:br/>
            <a:r>
              <a:t>48 classes | 22 samples | 289 crops | 42.3B annotated voxels | 35 atomics (no overlap) | 63 ablations, ~600 GPU-hours | Class imbalance: 2.7M to 1 | Memory leak: 5.6 to 0.002 GB/step | EMA: 4x improvement | Phase 2: 8 jobs, 10+ hours stable | 2D completion: ~March 2 | 3D completion: ~March 10-13 | Ensemble: ~March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3D memory leak that was consuming 5.6 GB per training step — it would OOM within 20-30 steps.</a:t>
            </a:r>
            <a:br/>
            <a:br/>
            <a:r>
              <a:t>The critical insight is that it was three independent bugs stacking on top of each other.</a:t>
            </a:r>
            <a:br/>
            <a:br/>
            <a:r>
              <a:t>Layer 1: cellmap-data, the upstream data library, caches xarray DataArrays per crop and never evicts them. Each 3D crop is about 48 MB, and with 152 crops times 48 classes, the cache grows without bound. The fix was PR number 64 to the cellmap-data repo — clear the cache after each access. This alone eliminated about 3.5 GB per step.</a:t>
            </a:r>
            <a:br/>
            <a:br/>
            <a:r>
              <a:t>Layer 2: The CellMapMultiDataset class stores coordinate metadata in a dictionary called _current_coords for every crop ever accessed. About 48 MB per image per step. We monkey-patched this in train.py to clear the dict after each step. Eliminated about 1.6 GB per step.</a:t>
            </a:r>
            <a:br/>
            <a:br/>
            <a:r>
              <a:t>Layer 3: Even after both Python-level fixes, RSS still grew at about 940 MB per step. This turned out to be glibc memory fragmentation — malloc arenas retain freed memory. Setting MALLOC_ARENA_MAX=2 with aggressive trim thresholds brought this down to about 2 MB per step.</a:t>
            </a:r>
            <a:br/>
            <a:br/>
            <a:r>
              <a:t>Combined result: 5.6 GB per step down to 2 MB per step — a 2,800x reduction. Before: OOM within minutes. After: stable for 10+ hours and counting. All in commit 2c4aa84.</a:t>
            </a:r>
            <a:br/>
            <a:br/>
            <a:r>
              <a:t>Two bonus improvements came out of this work: the crop size reduction from 128 to 96 cubed doubled our usable training data, and the memory savings enabled batch size 8 — a 4x throughput gain.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bug we caught this morning looking at TensorBoard.</a:t>
            </a:r>
            <a:br/>
            <a:br/>
            <a:r>
              <a:t>SegResNetDS with DiceBCE had a training loss of 9.1 — ten times higher than every other model. At first it looks like the model is broken, but it's actually a mathematical incompatibility.</a:t>
            </a:r>
            <a:br/>
            <a:br/>
            <a:r>
              <a:t>SegResNetDS uses deep supervision, meaning auxiliary decoder heads at multiple scales output predictions that contribute to the total loss. These auxiliary heads output raw logits — not probabilities — with magnitudes around 10 to 20.</a:t>
            </a:r>
            <a:br/>
            <a:br/>
            <a:r>
              <a:t>The BCE component of DiceBCE operates on raw logits. The formula is max of x comma 0, minus x times t, plus log of 1 plus exp of negative absolute x. When the target is 0, which is 99.9% of voxels since most voxels are background for any given class, the loss simplifies to approximately just x — the raw logit value. So a logit of 15 gives a BCE loss of 15, not because the model is wrong, but because BCE is numerically unsuitable for large logits.</a:t>
            </a:r>
            <a:br/>
            <a:br/>
            <a:r>
              <a:t>We actually had this same issue in Phase 1 — the arch_3d_segresnet experiment had loss stuck between 7 and 10 the entire run — but we didn't diagnose it until now.</a:t>
            </a:r>
            <a:br/>
            <a:br/>
            <a:r>
              <a:t>The fix: Balanced Softmax Tversky loss, which operates in sigmoid probability space. It maps logits through sigma first, so losses are bounded between 0 and 1 regardless of logit magnitude. We relaunched SegResNet at 9 AM with BST, and by 10 AM it was at 0.900 loss — right on track.</a:t>
            </a:r>
            <a:br/>
            <a:br/>
            <a:r>
              <a:t>The broader lesson: not all losses are architecture-agnostic. If your architecture produces multi-scale raw logits, you need losses that operate in probability space.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46727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21395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999890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F88AAE-C86C-1E44-B69A-7594543F44FA}"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107843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F88AAE-C86C-1E44-B69A-7594543F44FA}" type="datetimeFigureOut">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84672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F88AAE-C86C-1E44-B69A-7594543F44FA}" type="datetimeFigureOut">
              <a:rPr lang="en-US" smtClean="0"/>
              <a:t>2/23/26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60268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F88AAE-C86C-1E44-B69A-7594543F44FA}" type="datetimeFigureOut">
              <a:rPr lang="en-US" smtClean="0"/>
              <a:t>2/23/26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36875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F88AAE-C86C-1E44-B69A-7594543F44FA}"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1529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F88AAE-C86C-1E44-B69A-7594543F44FA}"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509753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109344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2973327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F88AAE-C86C-1E44-B69A-7594543F44FA}" type="datetimeFigureOut">
              <a:rPr lang="en-US" smtClean="0"/>
              <a:t>2/23/26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4E8EB3-C288-DB4A-B5B6-ACB5C15BF4C9}" type="slidenum">
              <a:rPr lang="en-US" smtClean="0"/>
              <a:t>‹#›</a:t>
            </a:fld>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1097280" y="1371600"/>
            <a:ext cx="9994392" cy="1828800"/>
          </a:xfrm>
          <a:prstGeom prst="rect">
            <a:avLst/>
          </a:prstGeom>
          <a:noFill/>
        </p:spPr>
        <p:txBody>
          <a:bodyPr wrap="square">
            <a:spAutoFit/>
          </a:bodyPr>
          <a:lstStyle/>
          <a:p>
            <a:pPr algn="l">
              <a:spcBef>
                <a:spcPts val="0"/>
              </a:spcBef>
              <a:spcAft>
                <a:spcPts val="400"/>
              </a:spcAft>
              <a:defRPr sz="4200" b="1">
                <a:solidFill>
                  <a:srgbClr val="CFB87C"/>
                </a:solidFill>
                <a:latin typeface="Calibri Light"/>
              </a:defRPr>
            </a:pPr>
            <a:r>
              <a:t>Multi-Label Organelle Segmentation</a:t>
            </a:r>
          </a:p>
          <a:p>
            <a:pPr algn="l">
              <a:spcBef>
                <a:spcPts val="0"/>
              </a:spcBef>
              <a:spcAft>
                <a:spcPts val="400"/>
              </a:spcAft>
              <a:defRPr sz="4200" b="1">
                <a:solidFill>
                  <a:srgbClr val="CFB87C"/>
                </a:solidFill>
                <a:latin typeface="Calibri Light"/>
              </a:defRPr>
            </a:pPr>
            <a:r>
              <a:t>from FIB-SEM Electron Microscopy</a:t>
            </a:r>
          </a:p>
        </p:txBody>
      </p:sp>
      <p:sp>
        <p:nvSpPr>
          <p:cNvPr id="5" name="TextBox 4"/>
          <p:cNvSpPr txBox="1"/>
          <p:nvPr/>
        </p:nvSpPr>
        <p:spPr>
          <a:xfrm>
            <a:off x="1097280" y="3474720"/>
            <a:ext cx="9994392" cy="548640"/>
          </a:xfrm>
          <a:prstGeom prst="rect">
            <a:avLst/>
          </a:prstGeom>
          <a:noFill/>
        </p:spPr>
        <p:txBody>
          <a:bodyPr wrap="square">
            <a:spAutoFit/>
          </a:bodyPr>
          <a:lstStyle/>
          <a:p>
            <a:pPr algn="l">
              <a:spcBef>
                <a:spcPts val="0"/>
              </a:spcBef>
              <a:spcAft>
                <a:spcPts val="400"/>
              </a:spcAft>
              <a:defRPr sz="2200" b="0">
                <a:solidFill>
                  <a:srgbClr val="333333"/>
                </a:solidFill>
                <a:latin typeface="Calibri"/>
              </a:defRPr>
            </a:pPr>
            <a:r>
              <a:t>Toward Automated Annotation of Novel Electron Tomograms</a:t>
            </a:r>
          </a:p>
        </p:txBody>
      </p:sp>
      <p:sp>
        <p:nvSpPr>
          <p:cNvPr id="6" name="TextBox 5"/>
          <p:cNvSpPr txBox="1"/>
          <p:nvPr/>
        </p:nvSpPr>
        <p:spPr>
          <a:xfrm>
            <a:off x="1097280" y="4572000"/>
            <a:ext cx="9994392" cy="457200"/>
          </a:xfrm>
          <a:prstGeom prst="rect">
            <a:avLst/>
          </a:prstGeom>
          <a:noFill/>
        </p:spPr>
        <p:txBody>
          <a:bodyPr wrap="square">
            <a:spAutoFit/>
          </a:bodyPr>
          <a:lstStyle/>
          <a:p>
            <a:pPr algn="l">
              <a:spcBef>
                <a:spcPts val="0"/>
              </a:spcBef>
              <a:spcAft>
                <a:spcPts val="400"/>
              </a:spcAft>
              <a:defRPr sz="2400" b="0">
                <a:solidFill>
                  <a:srgbClr val="333333"/>
                </a:solidFill>
                <a:latin typeface="Calibri"/>
              </a:defRPr>
            </a:pPr>
            <a:r>
              <a:t>George S. George</a:t>
            </a:r>
          </a:p>
        </p:txBody>
      </p:sp>
      <p:sp>
        <p:nvSpPr>
          <p:cNvPr id="7" name="TextBox 6"/>
          <p:cNvSpPr txBox="1"/>
          <p:nvPr/>
        </p:nvSpPr>
        <p:spPr>
          <a:xfrm>
            <a:off x="1097280" y="5029200"/>
            <a:ext cx="9994392" cy="45720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Department of Computer Science  •  Interdisciplinary Quantitative Biology Program</a:t>
            </a:r>
          </a:p>
        </p:txBody>
      </p:sp>
      <p:sp>
        <p:nvSpPr>
          <p:cNvPr id="8" name="TextBox 7"/>
          <p:cNvSpPr txBox="1"/>
          <p:nvPr/>
        </p:nvSpPr>
        <p:spPr>
          <a:xfrm>
            <a:off x="1097280" y="5349240"/>
            <a:ext cx="9994392" cy="27432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Lab Meeting  •  February 28, 2026  •  v4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Big Picture: Why CellMap?</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5486400" cy="484632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The Long-Term Goal</a:t>
            </a:r>
          </a:p>
          <a:p>
            <a:pPr algn="l">
              <a:spcBef>
                <a:spcPts val="0"/>
              </a:spcBef>
              <a:spcAft>
                <a:spcPts val="600"/>
              </a:spcAft>
              <a:defRPr sz="1400" b="0">
                <a:solidFill>
                  <a:srgbClr val="333333"/>
                </a:solidFill>
                <a:latin typeface="Calibri"/>
              </a:defRPr>
            </a:pPr>
            <a:r>
              <a:t>• Build a model that takes novel electron</a:t>
            </a:r>
            <a:br/>
            <a:r>
              <a:t>tomograms and produces fully labeled</a:t>
            </a:r>
            <a:br/>
            <a:r>
              <a:t>organelle segmentations — automatically</a:t>
            </a:r>
          </a:p>
          <a:p>
            <a:pPr algn="l">
              <a:spcBef>
                <a:spcPts val="0"/>
              </a:spcBef>
              <a:spcAft>
                <a:spcPts val="600"/>
              </a:spcAft>
              <a:defRPr sz="1400" b="0">
                <a:solidFill>
                  <a:srgbClr val="333333"/>
                </a:solidFill>
                <a:latin typeface="Calibri"/>
              </a:defRPr>
            </a:pPr>
            <a:r>
              <a:t>• No manual annotation — the model</a:t>
            </a:r>
            <a:br/>
            <a:r>
              <a:t>generalizes to unseen biology</a:t>
            </a:r>
          </a:p>
          <a:p>
            <a:pPr algn="l">
              <a:spcBef>
                <a:spcPts val="0"/>
              </a:spcBef>
              <a:spcAft>
                <a:spcPts val="600"/>
              </a:spcAft>
              <a:defRPr sz="1400" b="0">
                <a:solidFill>
                  <a:srgbClr val="333333"/>
                </a:solidFill>
                <a:latin typeface="Calibri"/>
              </a:defRPr>
            </a:pPr>
            <a:r>
              <a:t>• Everything we learn here transfers</a:t>
            </a:r>
            <a:br/>
            <a:r>
              <a:t>directly to our own tomograms</a:t>
            </a:r>
          </a:p>
          <a:p>
            <a:pPr algn="l">
              <a:spcBef>
                <a:spcPts val="0"/>
              </a:spcBef>
              <a:spcAft>
                <a:spcPts val="400"/>
              </a:spcAft>
              <a:defRPr sz="1000" b="0">
                <a:solidFill>
                  <a:srgbClr val="333333"/>
                </a:solidFill>
                <a:latin typeface="Calibri"/>
              </a:defRPr>
            </a:pPr>
          </a:p>
          <a:p>
            <a:pPr algn="l">
              <a:spcBef>
                <a:spcPts val="800"/>
              </a:spcBef>
              <a:spcAft>
                <a:spcPts val="400"/>
              </a:spcAft>
              <a:defRPr sz="2000" b="1">
                <a:solidFill>
                  <a:srgbClr val="156082"/>
                </a:solidFill>
                <a:latin typeface="Calibri"/>
              </a:defRPr>
            </a:pPr>
            <a:r>
              <a:t>Why Is This Hard?</a:t>
            </a:r>
          </a:p>
          <a:p>
            <a:pPr algn="l">
              <a:spcBef>
                <a:spcPts val="0"/>
              </a:spcBef>
              <a:spcAft>
                <a:spcPts val="600"/>
              </a:spcAft>
              <a:defRPr sz="1400" b="0">
                <a:solidFill>
                  <a:srgbClr val="333333"/>
                </a:solidFill>
                <a:latin typeface="Calibri"/>
              </a:defRPr>
            </a:pPr>
            <a:r>
              <a:t>• 48 organelle classes, 22 biological samples</a:t>
            </a:r>
          </a:p>
          <a:p>
            <a:pPr algn="l">
              <a:spcBef>
                <a:spcPts val="0"/>
              </a:spcBef>
              <a:spcAft>
                <a:spcPts val="600"/>
              </a:spcAft>
              <a:defRPr sz="1400" b="0">
                <a:solidFill>
                  <a:srgbClr val="333333"/>
                </a:solidFill>
                <a:latin typeface="Calibri"/>
              </a:defRPr>
            </a:pPr>
            <a:r>
              <a:t>• Partial annotations — unlabeled ≠ absent;</a:t>
            </a:r>
            <a:br/>
            <a:r>
              <a:t>standard losses penalize correct predictions</a:t>
            </a:r>
          </a:p>
          <a:p>
            <a:pPr algn="l">
              <a:spcBef>
                <a:spcPts val="0"/>
              </a:spcBef>
              <a:spcAft>
                <a:spcPts val="600"/>
              </a:spcAft>
              <a:defRPr sz="1400" b="0">
                <a:solidFill>
                  <a:srgbClr val="333333"/>
                </a:solidFill>
                <a:latin typeface="Calibri"/>
              </a:defRPr>
            </a:pPr>
            <a:r>
              <a:t>• 6+ orders of magnitude class imbalance</a:t>
            </a:r>
          </a:p>
          <a:p>
            <a:pPr algn="l">
              <a:spcBef>
                <a:spcPts val="0"/>
              </a:spcBef>
              <a:spcAft>
                <a:spcPts val="600"/>
              </a:spcAft>
              <a:defRPr sz="1400" b="0">
                <a:solidFill>
                  <a:srgbClr val="333333"/>
                </a:solidFill>
                <a:latin typeface="Calibri"/>
              </a:defRPr>
            </a:pPr>
            <a:r>
              <a:t>• 3D volumes: up to 512 GB host RAM just</a:t>
            </a:r>
            <a:br/>
            <a:r>
              <a:t>for data loading</a:t>
            </a:r>
          </a:p>
        </p:txBody>
      </p:sp>
      <p:sp>
        <p:nvSpPr>
          <p:cNvPr id="9" name="Rounded Rectangle 8"/>
          <p:cNvSpPr/>
          <p:nvPr/>
        </p:nvSpPr>
        <p:spPr>
          <a:xfrm>
            <a:off x="6400800" y="777240"/>
            <a:ext cx="5303520" cy="22860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868680"/>
            <a:ext cx="4937760" cy="2103120"/>
          </a:xfrm>
          <a:prstGeom prst="rect">
            <a:avLst/>
          </a:prstGeom>
          <a:noFill/>
        </p:spPr>
        <p:txBody>
          <a:bodyPr wrap="square">
            <a:spAutoFit/>
          </a:bodyPr>
          <a:lstStyle/>
          <a:p>
            <a:pPr algn="l">
              <a:spcBef>
                <a:spcPts val="0"/>
              </a:spcBef>
              <a:spcAft>
                <a:spcPts val="400"/>
              </a:spcAft>
              <a:defRPr sz="1600" b="1">
                <a:solidFill>
                  <a:srgbClr val="CFB87C"/>
                </a:solidFill>
                <a:latin typeface="Calibri"/>
              </a:defRPr>
            </a:pPr>
            <a:r>
              <a:t>Why CellMap as the Training Ground?</a:t>
            </a:r>
          </a:p>
          <a:p>
            <a:pPr algn="l">
              <a:spcBef>
                <a:spcPts val="0"/>
              </a:spcBef>
              <a:spcAft>
                <a:spcPts val="600"/>
              </a:spcAft>
              <a:defRPr sz="1300" b="0">
                <a:solidFill>
                  <a:srgbClr val="333333"/>
                </a:solidFill>
                <a:latin typeface="Calibri"/>
              </a:defRPr>
            </a:pPr>
            <a:r>
              <a:t>• Largest public FIB-SEM segmentation benchmark</a:t>
            </a:r>
          </a:p>
          <a:p>
            <a:pPr algn="l">
              <a:spcBef>
                <a:spcPts val="0"/>
              </a:spcBef>
              <a:spcAft>
                <a:spcPts val="600"/>
              </a:spcAft>
              <a:defRPr sz="1300" b="0">
                <a:solidFill>
                  <a:srgbClr val="333333"/>
                </a:solidFill>
                <a:latin typeface="Calibri"/>
              </a:defRPr>
            </a:pPr>
            <a:r>
              <a:t>• Diverse biology: HeLa, mouse kidney/liver/</a:t>
            </a:r>
            <a:br/>
            <a:r>
              <a:t>heart, fly brain, jurkat, macrophage…</a:t>
            </a:r>
          </a:p>
          <a:p>
            <a:pPr algn="l">
              <a:spcBef>
                <a:spcPts val="0"/>
              </a:spcBef>
              <a:spcAft>
                <a:spcPts val="600"/>
              </a:spcAft>
              <a:defRPr sz="1300" b="0">
                <a:solidFill>
                  <a:srgbClr val="333333"/>
                </a:solidFill>
                <a:latin typeface="Calibri"/>
              </a:defRPr>
            </a:pPr>
            <a:r>
              <a:t>• Has a leaderboard → objective evaluation</a:t>
            </a:r>
          </a:p>
          <a:p>
            <a:pPr algn="l">
              <a:spcBef>
                <a:spcPts val="0"/>
              </a:spcBef>
              <a:spcAft>
                <a:spcPts val="600"/>
              </a:spcAft>
              <a:defRPr sz="1300" b="0">
                <a:solidFill>
                  <a:srgbClr val="333333"/>
                </a:solidFill>
                <a:latin typeface="Calibri"/>
              </a:defRPr>
            </a:pPr>
            <a:r>
              <a:t>• Same imaging modality as our own data</a:t>
            </a:r>
          </a:p>
        </p:txBody>
      </p:sp>
      <p:sp>
        <p:nvSpPr>
          <p:cNvPr id="11" name="Rounded Rectangle 10"/>
          <p:cNvSpPr/>
          <p:nvPr/>
        </p:nvSpPr>
        <p:spPr>
          <a:xfrm>
            <a:off x="6583680" y="33832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34290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48</a:t>
            </a:r>
          </a:p>
        </p:txBody>
      </p:sp>
      <p:sp>
        <p:nvSpPr>
          <p:cNvPr id="13" name="TextBox 12"/>
          <p:cNvSpPr txBox="1"/>
          <p:nvPr/>
        </p:nvSpPr>
        <p:spPr>
          <a:xfrm>
            <a:off x="8046720" y="34930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organelle classes</a:t>
            </a:r>
          </a:p>
        </p:txBody>
      </p:sp>
      <p:sp>
        <p:nvSpPr>
          <p:cNvPr id="14" name="Rounded Rectangle 13"/>
          <p:cNvSpPr/>
          <p:nvPr/>
        </p:nvSpPr>
        <p:spPr>
          <a:xfrm>
            <a:off x="6583680" y="40690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1148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22</a:t>
            </a:r>
          </a:p>
        </p:txBody>
      </p:sp>
      <p:sp>
        <p:nvSpPr>
          <p:cNvPr id="16" name="TextBox 15"/>
          <p:cNvSpPr txBox="1"/>
          <p:nvPr/>
        </p:nvSpPr>
        <p:spPr>
          <a:xfrm>
            <a:off x="8046720" y="41788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biological samples</a:t>
            </a:r>
          </a:p>
        </p:txBody>
      </p:sp>
      <p:sp>
        <p:nvSpPr>
          <p:cNvPr id="17" name="Rounded Rectangle 16"/>
          <p:cNvSpPr/>
          <p:nvPr/>
        </p:nvSpPr>
        <p:spPr>
          <a:xfrm>
            <a:off x="6583680" y="47548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48006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289</a:t>
            </a:r>
          </a:p>
        </p:txBody>
      </p:sp>
      <p:sp>
        <p:nvSpPr>
          <p:cNvPr id="19" name="TextBox 18"/>
          <p:cNvSpPr txBox="1"/>
          <p:nvPr/>
        </p:nvSpPr>
        <p:spPr>
          <a:xfrm>
            <a:off x="8046720" y="48646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annotated 3D crops</a:t>
            </a:r>
          </a:p>
        </p:txBody>
      </p:sp>
      <p:sp>
        <p:nvSpPr>
          <p:cNvPr id="20" name="Rounded Rectangle 19"/>
          <p:cNvSpPr/>
          <p:nvPr/>
        </p:nvSpPr>
        <p:spPr>
          <a:xfrm>
            <a:off x="6583680" y="54406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54864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42.3B</a:t>
            </a:r>
          </a:p>
        </p:txBody>
      </p:sp>
      <p:sp>
        <p:nvSpPr>
          <p:cNvPr id="22" name="TextBox 21"/>
          <p:cNvSpPr txBox="1"/>
          <p:nvPr/>
        </p:nvSpPr>
        <p:spPr>
          <a:xfrm>
            <a:off x="8046720" y="55504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total voxels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Challenge: Partial Annotation &amp; Class Imbalance</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5486400" cy="228600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Partial Annotation</a:t>
            </a:r>
          </a:p>
          <a:p>
            <a:pPr algn="l">
              <a:spcBef>
                <a:spcPts val="0"/>
              </a:spcBef>
              <a:spcAft>
                <a:spcPts val="400"/>
              </a:spcAft>
              <a:defRPr sz="600" b="0">
                <a:solidFill>
                  <a:srgbClr val="333333"/>
                </a:solidFill>
                <a:latin typeface="Calibri"/>
              </a:defRPr>
            </a:pPr>
          </a:p>
          <a:p>
            <a:pPr algn="l">
              <a:spcBef>
                <a:spcPts val="0"/>
              </a:spcBef>
              <a:spcAft>
                <a:spcPts val="600"/>
              </a:spcAft>
              <a:defRPr sz="1400" b="0">
                <a:solidFill>
                  <a:srgbClr val="333333"/>
                </a:solidFill>
                <a:latin typeface="Calibri"/>
              </a:defRPr>
            </a:pPr>
            <a:r>
              <a:t>• Each crop only labels a subset of 48 classes</a:t>
            </a:r>
          </a:p>
          <a:p>
            <a:pPr algn="l">
              <a:spcBef>
                <a:spcPts val="0"/>
              </a:spcBef>
              <a:spcAft>
                <a:spcPts val="600"/>
              </a:spcAft>
              <a:defRPr sz="1400" b="0">
                <a:solidFill>
                  <a:srgbClr val="333333"/>
                </a:solidFill>
                <a:latin typeface="Calibri"/>
              </a:defRPr>
            </a:pPr>
            <a:r>
              <a:t>• Unlabeled voxels are NaN — NOT "absent"</a:t>
            </a:r>
          </a:p>
          <a:p>
            <a:pPr algn="l">
              <a:spcBef>
                <a:spcPts val="0"/>
              </a:spcBef>
              <a:spcAft>
                <a:spcPts val="600"/>
              </a:spcAft>
              <a:defRPr sz="1400" b="0">
                <a:solidFill>
                  <a:srgbClr val="333333"/>
                </a:solidFill>
                <a:latin typeface="Calibri"/>
              </a:defRPr>
            </a:pPr>
            <a:r>
              <a:t>• Naïve loss treats NaN as negative →</a:t>
            </a:r>
            <a:br/>
            <a:r>
              <a:t>penalizes correct predictions</a:t>
            </a:r>
          </a:p>
          <a:p>
            <a:pPr algn="l">
              <a:spcBef>
                <a:spcPts val="0"/>
              </a:spcBef>
              <a:spcAft>
                <a:spcPts val="600"/>
              </a:spcAft>
              <a:defRPr sz="1400" b="0">
                <a:solidFill>
                  <a:srgbClr val="333333"/>
                </a:solidFill>
                <a:latin typeface="Calibri"/>
              </a:defRPr>
            </a:pPr>
            <a:r>
              <a:t>• Solution: NaN-masked loss — only compute</a:t>
            </a:r>
            <a:br/>
            <a:r>
              <a:t>gradients where annotations exist</a:t>
            </a:r>
          </a:p>
        </p:txBody>
      </p:sp>
      <p:sp>
        <p:nvSpPr>
          <p:cNvPr id="9" name="TextBox 8"/>
          <p:cNvSpPr txBox="1"/>
          <p:nvPr/>
        </p:nvSpPr>
        <p:spPr>
          <a:xfrm>
            <a:off x="6217920" y="777240"/>
            <a:ext cx="5486400" cy="228600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Extreme Class Imbalance</a:t>
            </a:r>
          </a:p>
          <a:p>
            <a:pPr algn="l">
              <a:spcBef>
                <a:spcPts val="0"/>
              </a:spcBef>
              <a:spcAft>
                <a:spcPts val="400"/>
              </a:spcAft>
              <a:defRPr sz="600" b="0">
                <a:solidFill>
                  <a:srgbClr val="333333"/>
                </a:solidFill>
                <a:latin typeface="Calibri"/>
              </a:defRPr>
            </a:pPr>
          </a:p>
          <a:p>
            <a:pPr algn="l">
              <a:spcBef>
                <a:spcPts val="0"/>
              </a:spcBef>
              <a:spcAft>
                <a:spcPts val="600"/>
              </a:spcAft>
              <a:defRPr sz="1400" b="0">
                <a:solidFill>
                  <a:srgbClr val="333333"/>
                </a:solidFill>
                <a:latin typeface="Calibri"/>
              </a:defRPr>
            </a:pPr>
            <a:r>
              <a:t>• 6+ orders of magnitude between largest</a:t>
            </a:r>
            <a:br/>
            <a:r>
              <a:t>and smallest classes</a:t>
            </a:r>
          </a:p>
          <a:p>
            <a:pPr algn="l">
              <a:spcBef>
                <a:spcPts val="0"/>
              </a:spcBef>
              <a:spcAft>
                <a:spcPts val="600"/>
              </a:spcAft>
              <a:defRPr sz="1400" b="0">
                <a:solidFill>
                  <a:srgbClr val="333333"/>
                </a:solidFill>
                <a:latin typeface="Calibri"/>
              </a:defRPr>
            </a:pPr>
            <a:r>
              <a:t>• "cell" = billions of voxels;</a:t>
            </a:r>
            <a:br/>
            <a:r>
              <a:t>"mito_ribo" = tens of thousands</a:t>
            </a:r>
          </a:p>
          <a:p>
            <a:pPr algn="l">
              <a:spcBef>
                <a:spcPts val="0"/>
              </a:spcBef>
              <a:spcAft>
                <a:spcPts val="600"/>
              </a:spcAft>
              <a:defRPr sz="1400" b="0">
                <a:solidFill>
                  <a:srgbClr val="333333"/>
                </a:solidFill>
                <a:latin typeface="Calibri"/>
              </a:defRPr>
            </a:pPr>
            <a:r>
              <a:t>• Without mitigation, model only learns</a:t>
            </a:r>
            <a:br/>
            <a:r>
              <a:t>the top 5–10 largest classes</a:t>
            </a:r>
          </a:p>
          <a:p>
            <a:pPr algn="l">
              <a:spcBef>
                <a:spcPts val="0"/>
              </a:spcBef>
              <a:spcAft>
                <a:spcPts val="600"/>
              </a:spcAft>
              <a:defRPr sz="1400" b="0">
                <a:solidFill>
                  <a:srgbClr val="333333"/>
                </a:solidFill>
                <a:latin typeface="Calibri"/>
              </a:defRPr>
            </a:pPr>
            <a:r>
              <a:t>• Solution: weighted sampling + foreground</a:t>
            </a:r>
            <a:br/>
            <a:r>
              <a:t>masking to focus on annotated regions</a:t>
            </a:r>
          </a:p>
        </p:txBody>
      </p:sp>
      <p:sp>
        <p:nvSpPr>
          <p:cNvPr id="10" name="Rounded Rectangle 9"/>
          <p:cNvSpPr/>
          <p:nvPr/>
        </p:nvSpPr>
        <p:spPr>
          <a:xfrm>
            <a:off x="457200" y="3383280"/>
            <a:ext cx="11247120" cy="24688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474720"/>
            <a:ext cx="10881360" cy="36576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Class Hierarchy: 48 Classes = 31 Atomic + 17 Group/Composite</a:t>
            </a:r>
          </a:p>
        </p:txBody>
      </p:sp>
      <p:sp>
        <p:nvSpPr>
          <p:cNvPr id="12" name="TextBox 11"/>
          <p:cNvSpPr txBox="1"/>
          <p:nvPr/>
        </p:nvSpPr>
        <p:spPr>
          <a:xfrm>
            <a:off x="822960" y="3886200"/>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Mitochondria</a:t>
            </a:r>
          </a:p>
        </p:txBody>
      </p:sp>
      <p:sp>
        <p:nvSpPr>
          <p:cNvPr id="13" name="TextBox 12"/>
          <p:cNvSpPr txBox="1"/>
          <p:nvPr/>
        </p:nvSpPr>
        <p:spPr>
          <a:xfrm>
            <a:off x="2651760" y="3886200"/>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mito_mem, mito_lum, mito_ribo → mito</a:t>
            </a:r>
          </a:p>
        </p:txBody>
      </p:sp>
      <p:sp>
        <p:nvSpPr>
          <p:cNvPr id="14" name="TextBox 13"/>
          <p:cNvSpPr txBox="1"/>
          <p:nvPr/>
        </p:nvSpPr>
        <p:spPr>
          <a:xfrm>
            <a:off x="822960" y="4270248"/>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ER</a:t>
            </a:r>
          </a:p>
        </p:txBody>
      </p:sp>
      <p:sp>
        <p:nvSpPr>
          <p:cNvPr id="15" name="TextBox 14"/>
          <p:cNvSpPr txBox="1"/>
          <p:nvPr/>
        </p:nvSpPr>
        <p:spPr>
          <a:xfrm>
            <a:off x="2651760" y="4270248"/>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er_mem, er_lum, eres_mem, eres_lum → er, eres, er_mem_all</a:t>
            </a:r>
          </a:p>
        </p:txBody>
      </p:sp>
      <p:sp>
        <p:nvSpPr>
          <p:cNvPr id="16" name="TextBox 15"/>
          <p:cNvSpPr txBox="1"/>
          <p:nvPr/>
        </p:nvSpPr>
        <p:spPr>
          <a:xfrm>
            <a:off x="822960" y="4654296"/>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Nucleus</a:t>
            </a:r>
          </a:p>
        </p:txBody>
      </p:sp>
      <p:sp>
        <p:nvSpPr>
          <p:cNvPr id="17" name="TextBox 16"/>
          <p:cNvSpPr txBox="1"/>
          <p:nvPr/>
        </p:nvSpPr>
        <p:spPr>
          <a:xfrm>
            <a:off x="2651760" y="4654296"/>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ne_mem, ne_lum, np_out, np_in, hchrom, echrom, nucpl → nuc, ne, np, chrom</a:t>
            </a:r>
          </a:p>
        </p:txBody>
      </p:sp>
      <p:sp>
        <p:nvSpPr>
          <p:cNvPr id="18" name="TextBox 17"/>
          <p:cNvSpPr txBox="1"/>
          <p:nvPr/>
        </p:nvSpPr>
        <p:spPr>
          <a:xfrm>
            <a:off x="822960" y="5038344"/>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Vesicles</a:t>
            </a:r>
          </a:p>
        </p:txBody>
      </p:sp>
      <p:sp>
        <p:nvSpPr>
          <p:cNvPr id="19" name="TextBox 18"/>
          <p:cNvSpPr txBox="1"/>
          <p:nvPr/>
        </p:nvSpPr>
        <p:spPr>
          <a:xfrm>
            <a:off x="2651760" y="5038344"/>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ves_mem, ves_lum, endo_mem, endo_lum, lyso_mem, lyso_lum → ves, endo, lyso</a:t>
            </a:r>
          </a:p>
        </p:txBody>
      </p:sp>
      <p:sp>
        <p:nvSpPr>
          <p:cNvPr id="20" name="TextBox 19"/>
          <p:cNvSpPr txBox="1"/>
          <p:nvPr/>
        </p:nvSpPr>
        <p:spPr>
          <a:xfrm>
            <a:off x="822960" y="5422392"/>
            <a:ext cx="1828800" cy="347472"/>
          </a:xfrm>
          <a:prstGeom prst="rect">
            <a:avLst/>
          </a:prstGeom>
          <a:noFill/>
        </p:spPr>
        <p:txBody>
          <a:bodyPr wrap="square">
            <a:spAutoFit/>
          </a:bodyPr>
          <a:lstStyle/>
          <a:p>
            <a:pPr algn="l">
              <a:spcBef>
                <a:spcPts val="0"/>
              </a:spcBef>
              <a:spcAft>
                <a:spcPts val="400"/>
              </a:spcAft>
              <a:defRPr sz="1200" b="1">
                <a:solidFill>
                  <a:srgbClr val="767676"/>
                </a:solidFill>
                <a:latin typeface="Calibri"/>
              </a:defRPr>
            </a:pPr>
            <a:r>
              <a:t>Other</a:t>
            </a:r>
          </a:p>
        </p:txBody>
      </p:sp>
      <p:sp>
        <p:nvSpPr>
          <p:cNvPr id="21" name="TextBox 20"/>
          <p:cNvSpPr txBox="1"/>
          <p:nvPr/>
        </p:nvSpPr>
        <p:spPr>
          <a:xfrm>
            <a:off x="2651760" y="5422392"/>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golgi_mem/lum, ld_mem/lum, perox_mem/lum, mt_out/in, ecs, pm, cyto → cell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Roadmap</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Oval 7"/>
          <p:cNvSpPr/>
          <p:nvPr/>
        </p:nvSpPr>
        <p:spPr>
          <a:xfrm>
            <a:off x="594360" y="877824"/>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905256"/>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1</a:t>
            </a:r>
          </a:p>
        </p:txBody>
      </p:sp>
      <p:sp>
        <p:nvSpPr>
          <p:cNvPr id="10" name="Rounded Rectangle 9"/>
          <p:cNvSpPr/>
          <p:nvPr/>
        </p:nvSpPr>
        <p:spPr>
          <a:xfrm>
            <a:off x="1188720" y="822960"/>
            <a:ext cx="3474720" cy="566928"/>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896112"/>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Infrastructure</a:t>
            </a:r>
          </a:p>
        </p:txBody>
      </p:sp>
      <p:sp>
        <p:nvSpPr>
          <p:cNvPr id="12" name="TextBox 11"/>
          <p:cNvSpPr txBox="1"/>
          <p:nvPr/>
        </p:nvSpPr>
        <p:spPr>
          <a:xfrm>
            <a:off x="4846320" y="896112"/>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Native zarr pipeline, all 48 classes, partial annotation support</a:t>
            </a:r>
          </a:p>
        </p:txBody>
      </p:sp>
      <p:sp>
        <p:nvSpPr>
          <p:cNvPr id="13" name="TextBox 12"/>
          <p:cNvSpPr txBox="1"/>
          <p:nvPr/>
        </p:nvSpPr>
        <p:spPr>
          <a:xfrm>
            <a:off x="9601200" y="896112"/>
            <a:ext cx="2103120" cy="402336"/>
          </a:xfrm>
          <a:prstGeom prst="rect">
            <a:avLst/>
          </a:prstGeom>
          <a:noFill/>
        </p:spPr>
        <p:txBody>
          <a:bodyPr wrap="square">
            <a:spAutoFit/>
          </a:bodyPr>
          <a:lstStyle/>
          <a:p>
            <a:pPr algn="r">
              <a:spcBef>
                <a:spcPts val="0"/>
              </a:spcBef>
              <a:spcAft>
                <a:spcPts val="400"/>
              </a:spcAft>
              <a:defRPr sz="1400" b="1">
                <a:solidFill>
                  <a:srgbClr val="196B24"/>
                </a:solidFill>
                <a:latin typeface="Calibri"/>
              </a:defRPr>
            </a:pPr>
            <a:r>
              <a:t>✅ Done</a:t>
            </a:r>
          </a:p>
        </p:txBody>
      </p:sp>
      <p:sp>
        <p:nvSpPr>
          <p:cNvPr id="14" name="Down Arrow 13"/>
          <p:cNvSpPr/>
          <p:nvPr/>
        </p:nvSpPr>
        <p:spPr>
          <a:xfrm>
            <a:off x="2743200" y="1389888"/>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4360" y="1499616"/>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527048"/>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2</a:t>
            </a:r>
          </a:p>
        </p:txBody>
      </p:sp>
      <p:sp>
        <p:nvSpPr>
          <p:cNvPr id="17" name="Rounded Rectangle 16"/>
          <p:cNvSpPr/>
          <p:nvPr/>
        </p:nvSpPr>
        <p:spPr>
          <a:xfrm>
            <a:off x="1188720" y="1444752"/>
            <a:ext cx="3474720" cy="566928"/>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1517904"/>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Ablation Study</a:t>
            </a:r>
          </a:p>
        </p:txBody>
      </p:sp>
      <p:sp>
        <p:nvSpPr>
          <p:cNvPr id="19" name="TextBox 18"/>
          <p:cNvSpPr txBox="1"/>
          <p:nvPr/>
        </p:nvSpPr>
        <p:spPr>
          <a:xfrm>
            <a:off x="4846320" y="1517904"/>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63 experiments across 5 sweeps (loss, αβ, τ, masking, techniques)</a:t>
            </a:r>
          </a:p>
        </p:txBody>
      </p:sp>
      <p:sp>
        <p:nvSpPr>
          <p:cNvPr id="20" name="TextBox 19"/>
          <p:cNvSpPr txBox="1"/>
          <p:nvPr/>
        </p:nvSpPr>
        <p:spPr>
          <a:xfrm>
            <a:off x="9601200" y="1517904"/>
            <a:ext cx="2103120" cy="402336"/>
          </a:xfrm>
          <a:prstGeom prst="rect">
            <a:avLst/>
          </a:prstGeom>
          <a:noFill/>
        </p:spPr>
        <p:txBody>
          <a:bodyPr wrap="square">
            <a:spAutoFit/>
          </a:bodyPr>
          <a:lstStyle/>
          <a:p>
            <a:pPr algn="r">
              <a:spcBef>
                <a:spcPts val="0"/>
              </a:spcBef>
              <a:spcAft>
                <a:spcPts val="400"/>
              </a:spcAft>
              <a:defRPr sz="1400" b="1">
                <a:solidFill>
                  <a:srgbClr val="196B24"/>
                </a:solidFill>
                <a:latin typeface="Calibri"/>
              </a:defRPr>
            </a:pPr>
            <a:r>
              <a:t>✅ Done</a:t>
            </a:r>
          </a:p>
        </p:txBody>
      </p:sp>
      <p:sp>
        <p:nvSpPr>
          <p:cNvPr id="21" name="Down Arrow 20"/>
          <p:cNvSpPr/>
          <p:nvPr/>
        </p:nvSpPr>
        <p:spPr>
          <a:xfrm>
            <a:off x="2743200" y="2011680"/>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4360" y="2121408"/>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148840"/>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3</a:t>
            </a:r>
          </a:p>
        </p:txBody>
      </p:sp>
      <p:sp>
        <p:nvSpPr>
          <p:cNvPr id="24" name="Rounded Rectangle 23"/>
          <p:cNvSpPr/>
          <p:nvPr/>
        </p:nvSpPr>
        <p:spPr>
          <a:xfrm>
            <a:off x="1188720" y="2066544"/>
            <a:ext cx="3474720" cy="566928"/>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2139696"/>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Compose Optimal Config</a:t>
            </a:r>
          </a:p>
        </p:txBody>
      </p:sp>
      <p:sp>
        <p:nvSpPr>
          <p:cNvPr id="26" name="TextBox 25"/>
          <p:cNvSpPr txBox="1"/>
          <p:nvPr/>
        </p:nvSpPr>
        <p:spPr>
          <a:xfrm>
            <a:off x="4846320" y="2139696"/>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Winner from each sweep → single recipe</a:t>
            </a:r>
          </a:p>
        </p:txBody>
      </p:sp>
      <p:sp>
        <p:nvSpPr>
          <p:cNvPr id="27" name="TextBox 26"/>
          <p:cNvSpPr txBox="1"/>
          <p:nvPr/>
        </p:nvSpPr>
        <p:spPr>
          <a:xfrm>
            <a:off x="9601200" y="2139696"/>
            <a:ext cx="2103120" cy="402336"/>
          </a:xfrm>
          <a:prstGeom prst="rect">
            <a:avLst/>
          </a:prstGeom>
          <a:noFill/>
        </p:spPr>
        <p:txBody>
          <a:bodyPr wrap="square">
            <a:spAutoFit/>
          </a:bodyPr>
          <a:lstStyle/>
          <a:p>
            <a:pPr algn="r">
              <a:spcBef>
                <a:spcPts val="0"/>
              </a:spcBef>
              <a:spcAft>
                <a:spcPts val="400"/>
              </a:spcAft>
              <a:defRPr sz="1400" b="1">
                <a:solidFill>
                  <a:srgbClr val="196B24"/>
                </a:solidFill>
                <a:latin typeface="Calibri"/>
              </a:defRPr>
            </a:pPr>
            <a:r>
              <a:t>✅ Done</a:t>
            </a:r>
          </a:p>
        </p:txBody>
      </p:sp>
      <p:sp>
        <p:nvSpPr>
          <p:cNvPr id="28" name="Down Arrow 27"/>
          <p:cNvSpPr/>
          <p:nvPr/>
        </p:nvSpPr>
        <p:spPr>
          <a:xfrm>
            <a:off x="2743200" y="2633472"/>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4360" y="2743200"/>
            <a:ext cx="438912" cy="438912"/>
          </a:xfrm>
          <a:prstGeom prst="ellipse">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770632"/>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4</a:t>
            </a:r>
          </a:p>
        </p:txBody>
      </p:sp>
      <p:sp>
        <p:nvSpPr>
          <p:cNvPr id="31" name="Rounded Rectangle 30"/>
          <p:cNvSpPr/>
          <p:nvPr/>
        </p:nvSpPr>
        <p:spPr>
          <a:xfrm>
            <a:off x="1188720" y="2688336"/>
            <a:ext cx="3474720" cy="566928"/>
          </a:xfrm>
          <a:prstGeom prst="roundRect">
            <a:avLst/>
          </a:prstGeom>
          <a:solidFill>
            <a:srgbClr val="D0DEE8"/>
          </a:solidFill>
          <a:ln w="2540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1600" y="2761488"/>
            <a:ext cx="3108960" cy="402336"/>
          </a:xfrm>
          <a:prstGeom prst="rect">
            <a:avLst/>
          </a:prstGeom>
          <a:noFill/>
        </p:spPr>
        <p:txBody>
          <a:bodyPr wrap="square">
            <a:spAutoFit/>
          </a:bodyPr>
          <a:lstStyle/>
          <a:p>
            <a:pPr algn="l">
              <a:spcBef>
                <a:spcPts val="0"/>
              </a:spcBef>
              <a:spcAft>
                <a:spcPts val="400"/>
              </a:spcAft>
              <a:defRPr sz="1500" b="1">
                <a:solidFill>
                  <a:srgbClr val="156082"/>
                </a:solidFill>
                <a:latin typeface="Calibri"/>
              </a:defRPr>
            </a:pPr>
            <a:r>
              <a:t>Architecture Comparison</a:t>
            </a:r>
          </a:p>
        </p:txBody>
      </p:sp>
      <p:sp>
        <p:nvSpPr>
          <p:cNvPr id="33" name="TextBox 32"/>
          <p:cNvSpPr txBox="1"/>
          <p:nvPr/>
        </p:nvSpPr>
        <p:spPr>
          <a:xfrm>
            <a:off x="4846320" y="2761488"/>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4×2D + 5×3D models, full training with Dice tracking</a:t>
            </a:r>
          </a:p>
        </p:txBody>
      </p:sp>
      <p:sp>
        <p:nvSpPr>
          <p:cNvPr id="34" name="TextBox 33"/>
          <p:cNvSpPr txBox="1"/>
          <p:nvPr/>
        </p:nvSpPr>
        <p:spPr>
          <a:xfrm>
            <a:off x="9601200" y="2761488"/>
            <a:ext cx="2103120" cy="402336"/>
          </a:xfrm>
          <a:prstGeom prst="rect">
            <a:avLst/>
          </a:prstGeom>
          <a:noFill/>
        </p:spPr>
        <p:txBody>
          <a:bodyPr wrap="square">
            <a:spAutoFit/>
          </a:bodyPr>
          <a:lstStyle/>
          <a:p>
            <a:pPr algn="r">
              <a:spcBef>
                <a:spcPts val="0"/>
              </a:spcBef>
              <a:spcAft>
                <a:spcPts val="400"/>
              </a:spcAft>
              <a:defRPr sz="1400" b="1">
                <a:solidFill>
                  <a:srgbClr val="156082"/>
                </a:solidFill>
                <a:latin typeface="Calibri"/>
              </a:defRPr>
            </a:pPr>
            <a:r>
              <a:rPr sz="1000" b="1">
                <a:solidFill>
                  <a:srgbClr val="E67E22"/>
                </a:solidFill>
              </a:rPr>
              <a:t>← In Progress (10h in)</a:t>
            </a:r>
          </a:p>
        </p:txBody>
      </p:sp>
      <p:sp>
        <p:nvSpPr>
          <p:cNvPr id="35" name="Down Arrow 34"/>
          <p:cNvSpPr/>
          <p:nvPr/>
        </p:nvSpPr>
        <p:spPr>
          <a:xfrm>
            <a:off x="2743200" y="3255264"/>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94360" y="3364992"/>
            <a:ext cx="438912" cy="438912"/>
          </a:xfrm>
          <a:prstGeom prst="ellips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392424"/>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5</a:t>
            </a:r>
          </a:p>
        </p:txBody>
      </p:sp>
      <p:sp>
        <p:nvSpPr>
          <p:cNvPr id="38" name="Rounded Rectangle 37"/>
          <p:cNvSpPr/>
          <p:nvPr/>
        </p:nvSpPr>
        <p:spPr>
          <a:xfrm>
            <a:off x="1188720" y="3310128"/>
            <a:ext cx="3474720" cy="5669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71600" y="3383280"/>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Threshold Tuning</a:t>
            </a:r>
          </a:p>
        </p:txBody>
      </p:sp>
      <p:sp>
        <p:nvSpPr>
          <p:cNvPr id="40" name="TextBox 39"/>
          <p:cNvSpPr txBox="1"/>
          <p:nvPr/>
        </p:nvSpPr>
        <p:spPr>
          <a:xfrm>
            <a:off x="4846320" y="3383280"/>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Per-class sigmoid optimization on validation</a:t>
            </a:r>
          </a:p>
        </p:txBody>
      </p:sp>
      <p:sp>
        <p:nvSpPr>
          <p:cNvPr id="41" name="Down Arrow 40"/>
          <p:cNvSpPr/>
          <p:nvPr/>
        </p:nvSpPr>
        <p:spPr>
          <a:xfrm>
            <a:off x="2743200" y="3877056"/>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4360" y="3986784"/>
            <a:ext cx="438912" cy="438912"/>
          </a:xfrm>
          <a:prstGeom prst="ellips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014216"/>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6</a:t>
            </a:r>
          </a:p>
        </p:txBody>
      </p:sp>
      <p:sp>
        <p:nvSpPr>
          <p:cNvPr id="44" name="Rounded Rectangle 43"/>
          <p:cNvSpPr/>
          <p:nvPr/>
        </p:nvSpPr>
        <p:spPr>
          <a:xfrm>
            <a:off x="1188720" y="3931920"/>
            <a:ext cx="3474720" cy="5669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71600" y="4005072"/>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Per-Class Ensemble</a:t>
            </a:r>
          </a:p>
        </p:txBody>
      </p:sp>
      <p:sp>
        <p:nvSpPr>
          <p:cNvPr id="46" name="TextBox 45"/>
          <p:cNvSpPr txBox="1"/>
          <p:nvPr/>
        </p:nvSpPr>
        <p:spPr>
          <a:xfrm>
            <a:off x="4846320" y="4005072"/>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Best architecture per organelle → composite model</a:t>
            </a:r>
          </a:p>
        </p:txBody>
      </p:sp>
      <p:sp>
        <p:nvSpPr>
          <p:cNvPr id="47" name="Down Arrow 46"/>
          <p:cNvSpPr/>
          <p:nvPr/>
        </p:nvSpPr>
        <p:spPr>
          <a:xfrm>
            <a:off x="2743200" y="4498848"/>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94360" y="4608576"/>
            <a:ext cx="438912" cy="438912"/>
          </a:xfrm>
          <a:prstGeom prst="ellips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636008"/>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7</a:t>
            </a:r>
          </a:p>
        </p:txBody>
      </p:sp>
      <p:sp>
        <p:nvSpPr>
          <p:cNvPr id="50" name="Rounded Rectangle 49"/>
          <p:cNvSpPr/>
          <p:nvPr/>
        </p:nvSpPr>
        <p:spPr>
          <a:xfrm>
            <a:off x="1188720" y="4553712"/>
            <a:ext cx="3474720" cy="5669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71600" y="4626864"/>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Leaderboard Submission</a:t>
            </a:r>
          </a:p>
        </p:txBody>
      </p:sp>
      <p:sp>
        <p:nvSpPr>
          <p:cNvPr id="52" name="TextBox 51"/>
          <p:cNvSpPr txBox="1"/>
          <p:nvPr/>
        </p:nvSpPr>
        <p:spPr>
          <a:xfrm>
            <a:off x="4846320" y="4626864"/>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Submit to CellMap challenge</a:t>
            </a:r>
          </a:p>
        </p:txBody>
      </p:sp>
      <p:sp>
        <p:nvSpPr>
          <p:cNvPr id="53" name="Down Arrow 52"/>
          <p:cNvSpPr/>
          <p:nvPr/>
        </p:nvSpPr>
        <p:spPr>
          <a:xfrm>
            <a:off x="2743200" y="5120640"/>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94360" y="5230368"/>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5257800"/>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8</a:t>
            </a:r>
          </a:p>
        </p:txBody>
      </p:sp>
      <p:sp>
        <p:nvSpPr>
          <p:cNvPr id="56" name="Rounded Rectangle 55"/>
          <p:cNvSpPr/>
          <p:nvPr/>
        </p:nvSpPr>
        <p:spPr>
          <a:xfrm>
            <a:off x="1188720" y="5175504"/>
            <a:ext cx="3474720" cy="566928"/>
          </a:xfrm>
          <a:prstGeom prst="roundRect">
            <a:avLst/>
          </a:prstGeom>
          <a:solidFill>
            <a:srgbClr val="D4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71600" y="5248656"/>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Novel Tomograms</a:t>
            </a:r>
          </a:p>
        </p:txBody>
      </p:sp>
      <p:sp>
        <p:nvSpPr>
          <p:cNvPr id="58" name="TextBox 57"/>
          <p:cNvSpPr txBox="1"/>
          <p:nvPr/>
        </p:nvSpPr>
        <p:spPr>
          <a:xfrm>
            <a:off x="4846320" y="5248656"/>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Apply to our own electron tomography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Phase 1: What 63 Ablation Experiments Taught Us</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11247120" cy="365760"/>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34 in 2D (L40S, ~3h each)  +  29 in 3D (H100, ~15h each)  =  63 experiments, ~600 GPU-hours</a:t>
            </a:r>
          </a:p>
        </p:txBody>
      </p:sp>
      <p:graphicFrame>
        <p:nvGraphicFramePr>
          <p:cNvPr id="9" name="Table 8"/>
          <p:cNvGraphicFramePr>
            <a:graphicFrameLocks noGrp="1"/>
          </p:cNvGraphicFramePr>
          <p:nvPr/>
        </p:nvGraphicFramePr>
        <p:xfrm>
          <a:off x="274320" y="1188720"/>
          <a:ext cx="11612880" cy="347472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579120">
                <a:tc>
                  <a:txBody>
                    <a:bodyPr/>
                    <a:lstStyle/>
                    <a:p>
                      <a:pPr>
                        <a:defRPr sz="1000" b="1">
                          <a:solidFill>
                            <a:srgbClr val="FFFFFF"/>
                          </a:solidFill>
                          <a:latin typeface="Calibri"/>
                        </a:defRPr>
                      </a:pPr>
                      <a:r>
                        <a:t>Sweep</a:t>
                      </a:r>
                    </a:p>
                  </a:txBody>
                  <a:tcPr anchor="ctr">
                    <a:solidFill>
                      <a:srgbClr val="156082"/>
                    </a:solidFill>
                  </a:tcPr>
                </a:tc>
                <a:tc>
                  <a:txBody>
                    <a:bodyPr/>
                    <a:lstStyle/>
                    <a:p>
                      <a:pPr>
                        <a:defRPr sz="1000" b="1">
                          <a:solidFill>
                            <a:srgbClr val="FFFFFF"/>
                          </a:solidFill>
                          <a:latin typeface="Calibri"/>
                        </a:defRPr>
                      </a:pPr>
                      <a:r>
                        <a:t>What We Varied</a:t>
                      </a:r>
                    </a:p>
                  </a:txBody>
                  <a:tcPr anchor="ctr">
                    <a:solidFill>
                      <a:srgbClr val="156082"/>
                    </a:solidFill>
                  </a:tcPr>
                </a:tc>
                <a:tc>
                  <a:txBody>
                    <a:bodyPr/>
                    <a:lstStyle/>
                    <a:p>
                      <a:pPr>
                        <a:defRPr sz="1000" b="1">
                          <a:solidFill>
                            <a:srgbClr val="FFFFFF"/>
                          </a:solidFill>
                          <a:latin typeface="Calibri"/>
                        </a:defRPr>
                      </a:pPr>
                      <a:r>
                        <a:t># Exps</a:t>
                      </a:r>
                    </a:p>
                  </a:txBody>
                  <a:tcPr anchor="ctr">
                    <a:solidFill>
                      <a:srgbClr val="156082"/>
                    </a:solidFill>
                  </a:tcPr>
                </a:tc>
                <a:tc>
                  <a:txBody>
                    <a:bodyPr/>
                    <a:lstStyle/>
                    <a:p>
                      <a:pPr>
                        <a:defRPr sz="1000" b="1">
                          <a:solidFill>
                            <a:srgbClr val="FFFFFF"/>
                          </a:solidFill>
                          <a:latin typeface="Calibri"/>
                        </a:defRPr>
                      </a:pPr>
                      <a:r>
                        <a:t>Key Finding</a:t>
                      </a:r>
                    </a:p>
                  </a:txBody>
                  <a:tcPr anchor="ctr">
                    <a:solidFill>
                      <a:srgbClr val="156082"/>
                    </a:solidFill>
                  </a:tcPr>
                </a:tc>
                <a:tc>
                  <a:txBody>
                    <a:bodyPr/>
                    <a:lstStyle/>
                    <a:p>
                      <a:pPr>
                        <a:defRPr sz="1000" b="1">
                          <a:solidFill>
                            <a:srgbClr val="FFFFFF"/>
                          </a:solidFill>
                          <a:latin typeface="Calibri"/>
                        </a:defRPr>
                      </a:pPr>
                      <a:r>
                        <a:t>Winner</a:t>
                      </a:r>
                    </a:p>
                  </a:txBody>
                  <a:tcPr anchor="ctr">
                    <a:solidFill>
                      <a:srgbClr val="156082"/>
                    </a:solidFill>
                  </a:tcPr>
                </a:tc>
              </a:tr>
              <a:tr h="579120">
                <a:tc>
                  <a:txBody>
                    <a:bodyPr/>
                    <a:lstStyle/>
                    <a:p>
                      <a:pPr>
                        <a:defRPr sz="1000">
                          <a:solidFill>
                            <a:srgbClr val="333333"/>
                          </a:solidFill>
                          <a:latin typeface="Calibri"/>
                        </a:defRPr>
                      </a:pPr>
                      <a:r>
                        <a:t>A: Loss</a:t>
                      </a:r>
                    </a:p>
                  </a:txBody>
                  <a:tcPr anchor="ctr"/>
                </a:tc>
                <a:tc>
                  <a:txBody>
                    <a:bodyPr/>
                    <a:lstStyle/>
                    <a:p>
                      <a:pPr>
                        <a:defRPr sz="1000">
                          <a:solidFill>
                            <a:srgbClr val="333333"/>
                          </a:solidFill>
                          <a:latin typeface="Calibri"/>
                        </a:defRPr>
                      </a:pPr>
                      <a:r>
                        <a:t>8 loss functions</a:t>
                      </a:r>
                    </a:p>
                    <a:p>
                      <a:pPr>
                        <a:defRPr sz="1000">
                          <a:solidFill>
                            <a:srgbClr val="333333"/>
                          </a:solidFill>
                          <a:latin typeface="Calibri"/>
                        </a:defRPr>
                      </a:pPr>
                      <a:r>
                        <a:t>(BCE, Dice, Tversky, Focal…)</a:t>
                      </a:r>
                    </a:p>
                  </a:txBody>
                  <a:tcPr anchor="ctr"/>
                </a:tc>
                <a:tc>
                  <a:txBody>
                    <a:bodyPr/>
                    <a:lstStyle/>
                    <a:p>
                      <a:pPr>
                        <a:defRPr sz="1000">
                          <a:solidFill>
                            <a:srgbClr val="333333"/>
                          </a:solidFill>
                          <a:latin typeface="Calibri"/>
                        </a:defRPr>
                      </a:pPr>
                      <a:r>
                        <a:t>16</a:t>
                      </a:r>
                    </a:p>
                  </a:txBody>
                  <a:tcPr anchor="ctr"/>
                </a:tc>
                <a:tc>
                  <a:txBody>
                    <a:bodyPr/>
                    <a:lstStyle/>
                    <a:p>
                      <a:pPr>
                        <a:defRPr sz="1000">
                          <a:solidFill>
                            <a:srgbClr val="333333"/>
                          </a:solidFill>
                          <a:latin typeface="Calibri"/>
                        </a:defRPr>
                      </a:pPr>
                      <a:r>
                        <a:t>Simple losses crush complex ones.</a:t>
                      </a:r>
                    </a:p>
                    <a:p>
                      <a:pPr>
                        <a:defRPr sz="1000">
                          <a:solidFill>
                            <a:srgbClr val="333333"/>
                          </a:solidFill>
                          <a:latin typeface="Calibri"/>
                        </a:defRPr>
                      </a:pPr>
                      <a:r>
                        <a:t>BCE: 0.476 Dice, DiceBCE: 0.459 Dice</a:t>
                      </a:r>
                    </a:p>
                  </a:txBody>
                  <a:tcPr anchor="ctr"/>
                </a:tc>
                <a:tc>
                  <a:txBody>
                    <a:bodyPr/>
                    <a:lstStyle/>
                    <a:p>
                      <a:pPr>
                        <a:defRPr sz="1000">
                          <a:solidFill>
                            <a:srgbClr val="333333"/>
                          </a:solidFill>
                          <a:latin typeface="Calibri"/>
                        </a:defRPr>
                      </a:pPr>
                      <a:r>
                        <a:t>dice_bce</a:t>
                      </a:r>
                    </a:p>
                  </a:txBody>
                  <a:tcPr anchor="ctr"/>
                </a:tc>
              </a:tr>
              <a:tr h="579120">
                <a:tc>
                  <a:txBody>
                    <a:bodyPr/>
                    <a:lstStyle/>
                    <a:p>
                      <a:pPr>
                        <a:defRPr sz="1000">
                          <a:solidFill>
                            <a:srgbClr val="333333"/>
                          </a:solidFill>
                          <a:latin typeface="Calibri"/>
                        </a:defRPr>
                      </a:pPr>
                      <a:r>
                        <a:t>B: Tversky αβ</a:t>
                      </a:r>
                    </a:p>
                  </a:txBody>
                  <a:tcPr anchor="ctr">
                    <a:solidFill>
                      <a:srgbClr val="F2F2F2"/>
                    </a:solidFill>
                  </a:tcPr>
                </a:tc>
                <a:tc>
                  <a:txBody>
                    <a:bodyPr/>
                    <a:lstStyle/>
                    <a:p>
                      <a:pPr>
                        <a:defRPr sz="1000">
                          <a:solidFill>
                            <a:srgbClr val="333333"/>
                          </a:solidFill>
                          <a:latin typeface="Calibri"/>
                        </a:defRPr>
                      </a:pPr>
                      <a:r>
                        <a:t>6 precision/recall</a:t>
                      </a:r>
                    </a:p>
                    <a:p>
                      <a:pPr>
                        <a:defRPr sz="1000">
                          <a:solidFill>
                            <a:srgbClr val="333333"/>
                          </a:solidFill>
                          <a:latin typeface="Calibri"/>
                        </a:defRPr>
                      </a:pPr>
                      <a:r>
                        <a:t>bias settings</a:t>
                      </a:r>
                    </a:p>
                  </a:txBody>
                  <a:tcPr anchor="ctr">
                    <a:solidFill>
                      <a:srgbClr val="F2F2F2"/>
                    </a:solidFill>
                  </a:tcPr>
                </a:tc>
                <a:tc>
                  <a:txBody>
                    <a:bodyPr/>
                    <a:lstStyle/>
                    <a:p>
                      <a:pPr>
                        <a:defRPr sz="1000">
                          <a:solidFill>
                            <a:srgbClr val="333333"/>
                          </a:solidFill>
                          <a:latin typeface="Calibri"/>
                        </a:defRPr>
                      </a:pPr>
                      <a:r>
                        <a:t>12</a:t>
                      </a:r>
                    </a:p>
                  </a:txBody>
                  <a:tcPr anchor="ctr">
                    <a:solidFill>
                      <a:srgbClr val="F2F2F2"/>
                    </a:solidFill>
                  </a:tcPr>
                </a:tc>
                <a:tc>
                  <a:txBody>
                    <a:bodyPr/>
                    <a:lstStyle/>
                    <a:p>
                      <a:pPr>
                        <a:defRPr sz="1000">
                          <a:solidFill>
                            <a:srgbClr val="333333"/>
                          </a:solidFill>
                          <a:latin typeface="Calibri"/>
                        </a:defRPr>
                      </a:pPr>
                      <a:r>
                        <a:t>All Tversky variants cluster at 0.37–0.41.</a:t>
                      </a:r>
                    </a:p>
                    <a:p>
                      <a:pPr>
                        <a:defRPr sz="1000">
                          <a:solidFill>
                            <a:srgbClr val="333333"/>
                          </a:solidFill>
                          <a:latin typeface="Calibri"/>
                        </a:defRPr>
                      </a:pPr>
                      <a:r>
                        <a:t>No αβ beats dice_bce.</a:t>
                      </a:r>
                    </a:p>
                  </a:txBody>
                  <a:tcPr anchor="ctr">
                    <a:solidFill>
                      <a:srgbClr val="F2F2F2"/>
                    </a:solidFill>
                  </a:tcPr>
                </a:tc>
                <a:tc>
                  <a:txBody>
                    <a:bodyPr/>
                    <a:lstStyle/>
                    <a:p>
                      <a:pPr>
                        <a:defRPr sz="1000">
                          <a:solidFill>
                            <a:srgbClr val="333333"/>
                          </a:solidFill>
                          <a:latin typeface="Calibri"/>
                        </a:defRPr>
                      </a:pPr>
                      <a:r>
                        <a:t>N/A — Tversky</a:t>
                      </a:r>
                    </a:p>
                    <a:p>
                      <a:pPr>
                        <a:defRPr sz="1000">
                          <a:solidFill>
                            <a:srgbClr val="333333"/>
                          </a:solidFill>
                          <a:latin typeface="Calibri"/>
                        </a:defRPr>
                      </a:pPr>
                      <a:r>
                        <a:t>suboptimal</a:t>
                      </a:r>
                    </a:p>
                  </a:txBody>
                  <a:tcPr anchor="ctr">
                    <a:solidFill>
                      <a:srgbClr val="F2F2F2"/>
                    </a:solidFill>
                  </a:tcPr>
                </a:tc>
              </a:tr>
              <a:tr h="579120">
                <a:tc>
                  <a:txBody>
                    <a:bodyPr/>
                    <a:lstStyle/>
                    <a:p>
                      <a:pPr>
                        <a:defRPr sz="1000">
                          <a:solidFill>
                            <a:srgbClr val="333333"/>
                          </a:solidFill>
                          <a:latin typeface="Calibri"/>
                        </a:defRPr>
                      </a:pPr>
                      <a:r>
                        <a:t>C: Class wt τ</a:t>
                      </a:r>
                    </a:p>
                  </a:txBody>
                  <a:tcPr anchor="ctr"/>
                </a:tc>
                <a:tc>
                  <a:txBody>
                    <a:bodyPr/>
                    <a:lstStyle/>
                    <a:p>
                      <a:pPr>
                        <a:defRPr sz="1000">
                          <a:solidFill>
                            <a:srgbClr val="333333"/>
                          </a:solidFill>
                          <a:latin typeface="Calibri"/>
                        </a:defRPr>
                      </a:pPr>
                      <a:r>
                        <a:t>5 logit adjustment</a:t>
                      </a:r>
                    </a:p>
                    <a:p>
                      <a:pPr>
                        <a:defRPr sz="1000">
                          <a:solidFill>
                            <a:srgbClr val="333333"/>
                          </a:solidFill>
                          <a:latin typeface="Calibri"/>
                        </a:defRPr>
                      </a:pPr>
                      <a:r>
                        <a:t>strengths</a:t>
                      </a:r>
                    </a:p>
                  </a:txBody>
                  <a:tcPr anchor="ctr"/>
                </a:tc>
                <a:tc>
                  <a:txBody>
                    <a:bodyPr/>
                    <a:lstStyle/>
                    <a:p>
                      <a:pPr>
                        <a:defRPr sz="1000">
                          <a:solidFill>
                            <a:srgbClr val="333333"/>
                          </a:solidFill>
                          <a:latin typeface="Calibri"/>
                        </a:defRPr>
                      </a:pPr>
                      <a:r>
                        <a:t>10</a:t>
                      </a:r>
                    </a:p>
                  </a:txBody>
                  <a:tcPr anchor="ctr"/>
                </a:tc>
                <a:tc>
                  <a:txBody>
                    <a:bodyPr/>
                    <a:lstStyle/>
                    <a:p>
                      <a:pPr>
                        <a:defRPr sz="1000">
                          <a:solidFill>
                            <a:srgbClr val="333333"/>
                          </a:solidFill>
                          <a:latin typeface="Calibri"/>
                        </a:defRPr>
                      </a:pPr>
                      <a:r>
                        <a:t>High τ destroys predictions (Dice→0).</a:t>
                      </a:r>
                    </a:p>
                    <a:p>
                      <a:pPr>
                        <a:defRPr sz="1000">
                          <a:solidFill>
                            <a:srgbClr val="333333"/>
                          </a:solidFill>
                          <a:latin typeface="Calibri"/>
                        </a:defRPr>
                      </a:pPr>
                      <a:r>
                        <a:t>Logit adjustment + partial annot = bad.</a:t>
                      </a:r>
                    </a:p>
                  </a:txBody>
                  <a:tcPr anchor="ctr"/>
                </a:tc>
                <a:tc>
                  <a:txBody>
                    <a:bodyPr/>
                    <a:lstStyle/>
                    <a:p>
                      <a:pPr>
                        <a:defRPr sz="1000">
                          <a:solidFill>
                            <a:srgbClr val="333333"/>
                          </a:solidFill>
                          <a:latin typeface="Calibri"/>
                        </a:defRPr>
                      </a:pPr>
                      <a:r>
                        <a:t>N/A — no logit</a:t>
                      </a:r>
                    </a:p>
                    <a:p>
                      <a:pPr>
                        <a:defRPr sz="1000">
                          <a:solidFill>
                            <a:srgbClr val="333333"/>
                          </a:solidFill>
                          <a:latin typeface="Calibri"/>
                        </a:defRPr>
                      </a:pPr>
                      <a:r>
                        <a:t>adjustment</a:t>
                      </a:r>
                    </a:p>
                  </a:txBody>
                  <a:tcPr anchor="ctr"/>
                </a:tc>
              </a:tr>
              <a:tr h="579120">
                <a:tc>
                  <a:txBody>
                    <a:bodyPr/>
                    <a:lstStyle/>
                    <a:p>
                      <a:pPr>
                        <a:defRPr sz="1000">
                          <a:solidFill>
                            <a:srgbClr val="333333"/>
                          </a:solidFill>
                          <a:latin typeface="Calibri"/>
                        </a:defRPr>
                      </a:pPr>
                      <a:r>
                        <a:t>D: Masking</a:t>
                      </a:r>
                    </a:p>
                  </a:txBody>
                  <a:tcPr anchor="ctr">
                    <a:solidFill>
                      <a:srgbClr val="F2F2F2"/>
                    </a:solidFill>
                  </a:tcPr>
                </a:tc>
                <a:tc>
                  <a:txBody>
                    <a:bodyPr/>
                    <a:lstStyle/>
                    <a:p>
                      <a:pPr>
                        <a:defRPr sz="1000">
                          <a:solidFill>
                            <a:srgbClr val="333333"/>
                          </a:solidFill>
                          <a:latin typeface="Calibri"/>
                        </a:defRPr>
                      </a:pPr>
                      <a:r>
                        <a:t>7 masking strategies</a:t>
                      </a:r>
                    </a:p>
                    <a:p>
                      <a:pPr>
                        <a:defRPr sz="1000">
                          <a:solidFill>
                            <a:srgbClr val="333333"/>
                          </a:solidFill>
                          <a:latin typeface="Calibri"/>
                        </a:defRPr>
                      </a:pPr>
                      <a:r>
                        <a:t>(FG, bbox, masksup…)</a:t>
                      </a:r>
                    </a:p>
                  </a:txBody>
                  <a:tcPr anchor="ctr">
                    <a:solidFill>
                      <a:srgbClr val="F2F2F2"/>
                    </a:solidFill>
                  </a:tcPr>
                </a:tc>
                <a:tc>
                  <a:txBody>
                    <a:bodyPr/>
                    <a:lstStyle/>
                    <a:p>
                      <a:pPr>
                        <a:defRPr sz="1000">
                          <a:solidFill>
                            <a:srgbClr val="333333"/>
                          </a:solidFill>
                          <a:latin typeface="Calibri"/>
                        </a:defRPr>
                      </a:pPr>
                      <a:r>
                        <a:t>14</a:t>
                      </a:r>
                    </a:p>
                  </a:txBody>
                  <a:tcPr anchor="ctr">
                    <a:solidFill>
                      <a:srgbClr val="F2F2F2"/>
                    </a:solidFill>
                  </a:tcPr>
                </a:tc>
                <a:tc>
                  <a:txBody>
                    <a:bodyPr/>
                    <a:lstStyle/>
                    <a:p>
                      <a:pPr>
                        <a:defRPr sz="1000">
                          <a:solidFill>
                            <a:srgbClr val="333333"/>
                          </a:solidFill>
                          <a:latin typeface="Calibri"/>
                        </a:defRPr>
                      </a:pPr>
                      <a:r>
                        <a:t>FG mask gives free +28% improvement.</a:t>
                      </a:r>
                    </a:p>
                    <a:p>
                      <a:pPr>
                        <a:defRPr sz="1000">
                          <a:solidFill>
                            <a:srgbClr val="333333"/>
                          </a:solidFill>
                          <a:latin typeface="Calibri"/>
                        </a:defRPr>
                      </a:pPr>
                      <a:r>
                        <a:t>Bbox alone HURTS performance.</a:t>
                      </a:r>
                    </a:p>
                  </a:txBody>
                  <a:tcPr anchor="ctr">
                    <a:solidFill>
                      <a:srgbClr val="F2F2F2"/>
                    </a:solidFill>
                  </a:tcPr>
                </a:tc>
                <a:tc>
                  <a:txBody>
                    <a:bodyPr/>
                    <a:lstStyle/>
                    <a:p>
                      <a:pPr>
                        <a:defRPr sz="1000">
                          <a:solidFill>
                            <a:srgbClr val="333333"/>
                          </a:solidFill>
                          <a:latin typeface="Calibri"/>
                        </a:defRPr>
                      </a:pPr>
                      <a:r>
                        <a:t>FG mask ON,</a:t>
                      </a:r>
                    </a:p>
                    <a:p>
                      <a:pPr>
                        <a:defRPr sz="1000">
                          <a:solidFill>
                            <a:srgbClr val="333333"/>
                          </a:solidFill>
                          <a:latin typeface="Calibri"/>
                        </a:defRPr>
                      </a:pPr>
                      <a:r>
                        <a:t>bbox OFF</a:t>
                      </a:r>
                    </a:p>
                  </a:txBody>
                  <a:tcPr anchor="ctr">
                    <a:solidFill>
                      <a:srgbClr val="F2F2F2"/>
                    </a:solidFill>
                  </a:tcPr>
                </a:tc>
              </a:tr>
              <a:tr h="579120">
                <a:tc>
                  <a:txBody>
                    <a:bodyPr/>
                    <a:lstStyle/>
                    <a:p>
                      <a:pPr>
                        <a:defRPr sz="1000">
                          <a:solidFill>
                            <a:srgbClr val="333333"/>
                          </a:solidFill>
                          <a:latin typeface="Calibri"/>
                        </a:defRPr>
                      </a:pPr>
                      <a:r>
                        <a:t>E: Techniques</a:t>
                      </a:r>
                    </a:p>
                  </a:txBody>
                  <a:tcPr anchor="ctr"/>
                </a:tc>
                <a:tc>
                  <a:txBody>
                    <a:bodyPr/>
                    <a:lstStyle/>
                    <a:p>
                      <a:pPr>
                        <a:defRPr sz="1000">
                          <a:solidFill>
                            <a:srgbClr val="333333"/>
                          </a:solidFill>
                          <a:latin typeface="Calibri"/>
                        </a:defRPr>
                      </a:pPr>
                      <a:r>
                        <a:t>EMA, sampler, aug,</a:t>
                      </a:r>
                    </a:p>
                    <a:p>
                      <a:pPr>
                        <a:defRPr sz="1000">
                          <a:solidFill>
                            <a:srgbClr val="333333"/>
                          </a:solidFill>
                          <a:latin typeface="Calibri"/>
                        </a:defRPr>
                      </a:pPr>
                      <a:r>
                        <a:t>crop weights</a:t>
                      </a:r>
                    </a:p>
                  </a:txBody>
                  <a:tcPr anchor="ctr"/>
                </a:tc>
                <a:tc>
                  <a:txBody>
                    <a:bodyPr/>
                    <a:lstStyle/>
                    <a:p>
                      <a:pPr>
                        <a:defRPr sz="1000">
                          <a:solidFill>
                            <a:srgbClr val="333333"/>
                          </a:solidFill>
                          <a:latin typeface="Calibri"/>
                        </a:defRPr>
                      </a:pPr>
                      <a:r>
                        <a:t>11</a:t>
                      </a:r>
                    </a:p>
                  </a:txBody>
                  <a:tcPr anchor="ctr"/>
                </a:tc>
                <a:tc>
                  <a:txBody>
                    <a:bodyPr/>
                    <a:lstStyle/>
                    <a:p>
                      <a:pPr>
                        <a:defRPr sz="1000">
                          <a:solidFill>
                            <a:srgbClr val="333333"/>
                          </a:solidFill>
                          <a:latin typeface="Calibri"/>
                        </a:defRPr>
                      </a:pPr>
                      <a:r>
                        <a:t>EMA: 4× better val_loss. Sampler: essential.</a:t>
                      </a:r>
                    </a:p>
                    <a:p>
                      <a:pPr>
                        <a:defRPr sz="1000">
                          <a:solidFill>
                            <a:srgbClr val="333333"/>
                          </a:solidFill>
                          <a:latin typeface="Calibri"/>
                        </a:defRPr>
                      </a:pPr>
                      <a:r>
                        <a:t>Intensity aug HURTS (−23%). Crop wts HURT (−38%).</a:t>
                      </a:r>
                    </a:p>
                  </a:txBody>
                  <a:tcPr anchor="ctr"/>
                </a:tc>
                <a:tc>
                  <a:txBody>
                    <a:bodyPr/>
                    <a:lstStyle/>
                    <a:p>
                      <a:pPr>
                        <a:defRPr sz="1000">
                          <a:solidFill>
                            <a:srgbClr val="333333"/>
                          </a:solidFill>
                          <a:latin typeface="Calibri"/>
                        </a:defRPr>
                      </a:pPr>
                      <a:r>
                        <a:t>EMA + weighted</a:t>
                      </a:r>
                    </a:p>
                    <a:p>
                      <a:pPr>
                        <a:defRPr sz="1000">
                          <a:solidFill>
                            <a:srgbClr val="333333"/>
                          </a:solidFill>
                          <a:latin typeface="Calibri"/>
                        </a:defRPr>
                      </a:pPr>
                      <a:r>
                        <a:t>sampler</a:t>
                      </a:r>
                    </a:p>
                  </a:txBody>
                  <a:tcPr anchor="ctr"/>
                </a:tc>
              </a:tr>
            </a:tbl>
          </a:graphicData>
        </a:graphic>
      </p:graphicFrame>
      <p:sp>
        <p:nvSpPr>
          <p:cNvPr id="10" name="Rounded Rectangle 9"/>
          <p:cNvSpPr/>
          <p:nvPr/>
        </p:nvSpPr>
        <p:spPr>
          <a:xfrm>
            <a:off x="457200" y="4800600"/>
            <a:ext cx="11247120" cy="100584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846320"/>
            <a:ext cx="10881360" cy="914400"/>
          </a:xfrm>
          <a:prstGeom prst="rect">
            <a:avLst/>
          </a:prstGeom>
          <a:noFill/>
        </p:spPr>
        <p:txBody>
          <a:bodyPr wrap="square">
            <a:spAutoFit/>
          </a:bodyPr>
          <a:lstStyle/>
          <a:p>
            <a:pPr algn="l">
              <a:spcBef>
                <a:spcPts val="0"/>
              </a:spcBef>
              <a:spcAft>
                <a:spcPts val="400"/>
              </a:spcAft>
              <a:defRPr sz="1400" b="1">
                <a:solidFill>
                  <a:srgbClr val="156082"/>
                </a:solidFill>
                <a:latin typeface="Calibri"/>
              </a:defRPr>
            </a:pPr>
            <a:r>
              <a:t>Key Takeaway:</a:t>
            </a:r>
          </a:p>
          <a:p>
            <a:pPr algn="l">
              <a:spcBef>
                <a:spcPts val="0"/>
              </a:spcBef>
              <a:spcAft>
                <a:spcPts val="400"/>
              </a:spcAft>
              <a:defRPr sz="1300" b="0">
                <a:solidFill>
                  <a:srgbClr val="333333"/>
                </a:solidFill>
                <a:latin typeface="Calibri"/>
              </a:defRPr>
            </a:pPr>
            <a:r>
              <a:t>Simple beats complex. DiceBCE + EMA + foreground mask + weighted sampler = best recipe.  Fancy losses (Tversky, focal, logit adjustment) all underperformed. Extra augmentation and sampling tricks actively hurt.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02920"/>
          </a:xfrm>
          <a:prstGeom prst="rect">
            <a:avLst/>
          </a:prstGeom>
          <a:noFill/>
        </p:spPr>
        <p:txBody>
          <a:bodyPr wrap="square">
            <a:spAutoFit/>
          </a:bodyPr>
          <a:lstStyle/>
          <a:p>
            <a:r>
              <a:rPr sz="2800" b="1">
                <a:solidFill>
                  <a:srgbClr val="1A1A2E"/>
                </a:solidFill>
              </a:rPr>
              <a:t>The Optimal Recipe</a:t>
            </a:r>
          </a:p>
        </p:txBody>
      </p:sp>
      <p:sp>
        <p:nvSpPr>
          <p:cNvPr id="4" name="Rectangle 3"/>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70000"/>
            <a:ext cx="11247120" cy="250000"/>
          </a:xfrm>
          <a:prstGeom prst="rect">
            <a:avLst/>
          </a:prstGeom>
          <a:noFill/>
        </p:spPr>
        <p:txBody>
          <a:bodyPr wrap="square">
            <a:spAutoFit/>
          </a:bodyPr>
          <a:lstStyle/>
          <a:p>
            <a:r>
              <a:rPr sz="1200">
                <a:solidFill>
                  <a:srgbClr val="444455"/>
                </a:solidFill>
              </a:rPr>
              <a:t>Phase 2 configuration distilled from 63 ablation experiments (~600 GPU-hours)</a:t>
            </a:r>
          </a:p>
        </p:txBody>
      </p:sp>
      <p:pic>
        <p:nvPicPr>
          <p:cNvPr id="6" name="Picture 5" descr="image.png"/>
          <p:cNvPicPr>
            <a:picLocks noChangeAspect="1"/>
          </p:cNvPicPr>
          <p:nvPr/>
        </p:nvPicPr>
        <p:blipFill>
          <a:blip r:embed="rId2"/>
          <a:stretch>
            <a:fillRect/>
          </a:stretch>
        </p:blipFill>
        <p:spPr>
          <a:xfrm>
            <a:off x="10469880" y="6007608"/>
            <a:ext cx="1719072" cy="786384"/>
          </a:xfrm>
          <a:prstGeom prst="rect">
            <a:avLst/>
          </a:prstGeom>
        </p:spPr>
      </p:pic>
      <p:graphicFrame>
        <p:nvGraphicFramePr>
          <p:cNvPr id="7" name="Table 6"/>
          <p:cNvGraphicFramePr>
            <a:graphicFrameLocks noGrp="1"/>
          </p:cNvGraphicFramePr>
          <p:nvPr/>
        </p:nvGraphicFramePr>
        <p:xfrm>
          <a:off x="274320" y="950000"/>
          <a:ext cx="5700000" cy="2820000"/>
        </p:xfrm>
        <a:graphic>
          <a:graphicData uri="http://schemas.openxmlformats.org/drawingml/2006/table">
            <a:tbl>
              <a:tblPr firstRow="1" bandRow="1">
                <a:tableStyleId>{5C22544A-7EE6-4342-B048-85BDC9FD1C3A}</a:tableStyleId>
              </a:tblPr>
              <a:tblGrid>
                <a:gridCol w="1500000"/>
                <a:gridCol w="1650000"/>
                <a:gridCol w="2550000"/>
              </a:tblGrid>
              <a:tr h="235000">
                <a:tc>
                  <a:txBody>
                    <a:bodyPr/>
                    <a:lstStyle/>
                    <a:p>
                      <a:pPr algn="ctr"/>
                      <a:r>
                        <a:rPr sz="1000" b="1">
                          <a:solidFill>
                            <a:srgbClr val="FFFFFF"/>
                          </a:solidFill>
                        </a:rPr>
                        <a:t>Setting</a:t>
                      </a:r>
                    </a:p>
                  </a:txBody>
                  <a:tcPr marL="60000" marR="60000" marT="25000" marB="25000">
                    <a:solidFill>
                      <a:srgbClr val="2E4A62"/>
                    </a:solidFill>
                  </a:tcPr>
                </a:tc>
                <a:tc>
                  <a:txBody>
                    <a:bodyPr/>
                    <a:lstStyle/>
                    <a:p>
                      <a:pPr algn="ctr"/>
                      <a:r>
                        <a:rPr sz="1000" b="1">
                          <a:solidFill>
                            <a:srgbClr val="FFFFFF"/>
                          </a:solidFill>
                        </a:rPr>
                        <a:t>Value</a:t>
                      </a:r>
                    </a:p>
                  </a:txBody>
                  <a:tcPr marL="60000" marR="60000" marT="25000" marB="25000">
                    <a:solidFill>
                      <a:srgbClr val="2E4A62"/>
                    </a:solidFill>
                  </a:tcPr>
                </a:tc>
                <a:tc>
                  <a:txBody>
                    <a:bodyPr/>
                    <a:lstStyle/>
                    <a:p>
                      <a:pPr algn="ctr"/>
                      <a:r>
                        <a:rPr sz="1000" b="1">
                          <a:solidFill>
                            <a:srgbClr val="FFFFFF"/>
                          </a:solidFill>
                        </a:rPr>
                        <a:t>Why / Impact</a:t>
                      </a:r>
                    </a:p>
                  </a:txBody>
                  <a:tcPr marL="60000" marR="60000" marT="25000" marB="25000">
                    <a:solidFill>
                      <a:srgbClr val="2E4A62"/>
                    </a:solidFill>
                  </a:tcPr>
                </a:tc>
              </a:tr>
              <a:tr h="235000">
                <a:tc>
                  <a:txBody>
                    <a:bodyPr/>
                    <a:lstStyle/>
                    <a:p>
                      <a:pPr algn="l"/>
                      <a:r>
                        <a:rPr sz="900" b="1">
                          <a:solidFill>
                            <a:srgbClr val="1A1A2E"/>
                          </a:solidFill>
                        </a:rPr>
                        <a:t>Loss</a:t>
                      </a:r>
                    </a:p>
                  </a:txBody>
                  <a:tcPr marL="60000" marR="60000" marT="25000" marB="25000">
                    <a:solidFill>
                      <a:srgbClr val="F5F8FA"/>
                    </a:solidFill>
                  </a:tcPr>
                </a:tc>
                <a:tc>
                  <a:txBody>
                    <a:bodyPr/>
                    <a:lstStyle/>
                    <a:p>
                      <a:pPr algn="l"/>
                      <a:r>
                        <a:rPr sz="900" b="1">
                          <a:solidFill>
                            <a:srgbClr val="27AE60"/>
                          </a:solidFill>
                        </a:rPr>
                        <a:t>DiceBCE</a:t>
                      </a:r>
                    </a:p>
                  </a:txBody>
                  <a:tcPr marL="60000" marR="60000" marT="25000" marB="25000">
                    <a:solidFill>
                      <a:srgbClr val="F5F8FA"/>
                    </a:solidFill>
                  </a:tcPr>
                </a:tc>
                <a:tc>
                  <a:txBody>
                    <a:bodyPr/>
                    <a:lstStyle/>
                    <a:p>
                      <a:pPr algn="l"/>
                      <a:r>
                        <a:rPr sz="900">
                          <a:solidFill>
                            <a:srgbClr val="444455"/>
                          </a:solidFill>
                        </a:rPr>
                        <a:t>Dice optimizes overlap for rare classes</a:t>
                      </a:r>
                    </a:p>
                  </a:txBody>
                  <a:tcPr marL="60000" marR="60000" marT="25000" marB="25000">
                    <a:solidFill>
                      <a:srgbClr val="F5F8FA"/>
                    </a:solidFill>
                  </a:tcPr>
                </a:tc>
              </a:tr>
              <a:tr h="235000">
                <a:tc>
                  <a:txBody>
                    <a:bodyPr/>
                    <a:lstStyle/>
                    <a:p>
                      <a:pPr algn="l"/>
                      <a:r>
                        <a:rPr sz="900" b="1">
                          <a:solidFill>
                            <a:srgbClr val="1A1A2E"/>
                          </a:solidFill>
                        </a:rPr>
                        <a:t>  └ Exception</a:t>
                      </a:r>
                    </a:p>
                  </a:txBody>
                  <a:tcPr marL="60000" marR="60000" marT="25000" marB="25000">
                    <a:solidFill>
                      <a:srgbClr val="E8EEF3"/>
                    </a:solidFill>
                  </a:tcPr>
                </a:tc>
                <a:tc>
                  <a:txBody>
                    <a:bodyPr/>
                    <a:lstStyle/>
                    <a:p>
                      <a:pPr algn="l"/>
                      <a:r>
                        <a:rPr sz="900" b="1">
                          <a:solidFill>
                            <a:srgbClr val="E67E22"/>
                          </a:solidFill>
                        </a:rPr>
                        <a:t>BST for SegResNet*</a:t>
                      </a:r>
                    </a:p>
                  </a:txBody>
                  <a:tcPr marL="60000" marR="60000" marT="25000" marB="25000">
                    <a:solidFill>
                      <a:srgbClr val="E8EEF3"/>
                    </a:solidFill>
                  </a:tcPr>
                </a:tc>
                <a:tc>
                  <a:txBody>
                    <a:bodyPr/>
                    <a:lstStyle/>
                    <a:p>
                      <a:pPr algn="l"/>
                      <a:r>
                        <a:rPr sz="900">
                          <a:solidFill>
                            <a:srgbClr val="444455"/>
                          </a:solidFill>
                        </a:rPr>
                        <a:t>DiceBCE incompatible with deep supervision</a:t>
                      </a:r>
                    </a:p>
                  </a:txBody>
                  <a:tcPr marL="60000" marR="60000" marT="25000" marB="25000">
                    <a:solidFill>
                      <a:srgbClr val="E8EEF3"/>
                    </a:solidFill>
                  </a:tcPr>
                </a:tc>
              </a:tr>
              <a:tr h="235000">
                <a:tc>
                  <a:txBody>
                    <a:bodyPr/>
                    <a:lstStyle/>
                    <a:p>
                      <a:pPr algn="l"/>
                      <a:r>
                        <a:rPr sz="900" b="1">
                          <a:solidFill>
                            <a:srgbClr val="1A1A2E"/>
                          </a:solidFill>
                        </a:rPr>
                        <a:t>EMA</a:t>
                      </a:r>
                    </a:p>
                  </a:txBody>
                  <a:tcPr marL="60000" marR="60000" marT="25000" marB="25000">
                    <a:solidFill>
                      <a:srgbClr val="F5F8FA"/>
                    </a:solidFill>
                  </a:tcPr>
                </a:tc>
                <a:tc>
                  <a:txBody>
                    <a:bodyPr/>
                    <a:lstStyle/>
                    <a:p>
                      <a:pPr algn="l"/>
                      <a:r>
                        <a:rPr sz="900" b="1">
                          <a:solidFill>
                            <a:srgbClr val="27AE60"/>
                          </a:solidFill>
                        </a:rPr>
                        <a:t>0.999 decay</a:t>
                      </a:r>
                    </a:p>
                  </a:txBody>
                  <a:tcPr marL="60000" marR="60000" marT="25000" marB="25000">
                    <a:solidFill>
                      <a:srgbClr val="F5F8FA"/>
                    </a:solidFill>
                  </a:tcPr>
                </a:tc>
                <a:tc>
                  <a:txBody>
                    <a:bodyPr/>
                    <a:lstStyle/>
                    <a:p>
                      <a:pPr algn="l"/>
                      <a:r>
                        <a:rPr sz="900">
                          <a:solidFill>
                            <a:srgbClr val="444455"/>
                          </a:solidFill>
                        </a:rPr>
                        <a:t>Smooths noisy partial-annotation gradients; 4× better val</a:t>
                      </a:r>
                    </a:p>
                  </a:txBody>
                  <a:tcPr marL="60000" marR="60000" marT="25000" marB="25000">
                    <a:solidFill>
                      <a:srgbClr val="F5F8FA"/>
                    </a:solidFill>
                  </a:tcPr>
                </a:tc>
              </a:tr>
              <a:tr h="235000">
                <a:tc>
                  <a:txBody>
                    <a:bodyPr/>
                    <a:lstStyle/>
                    <a:p>
                      <a:pPr algn="l"/>
                      <a:r>
                        <a:rPr sz="900" b="1">
                          <a:solidFill>
                            <a:srgbClr val="1A1A2E"/>
                          </a:solidFill>
                        </a:rPr>
                        <a:t>FG Mask</a:t>
                      </a:r>
                    </a:p>
                  </a:txBody>
                  <a:tcPr marL="60000" marR="60000" marT="25000" marB="25000">
                    <a:solidFill>
                      <a:srgbClr val="E8EEF3"/>
                    </a:solidFill>
                  </a:tcPr>
                </a:tc>
                <a:tc>
                  <a:txBody>
                    <a:bodyPr/>
                    <a:lstStyle/>
                    <a:p>
                      <a:pPr algn="l"/>
                      <a:r>
                        <a:rPr sz="900" b="1">
                          <a:solidFill>
                            <a:srgbClr val="27AE60"/>
                          </a:solidFill>
                        </a:rPr>
                        <a:t>Enabled ✓</a:t>
                      </a:r>
                    </a:p>
                  </a:txBody>
                  <a:tcPr marL="60000" marR="60000" marT="25000" marB="25000">
                    <a:solidFill>
                      <a:srgbClr val="E8EEF3"/>
                    </a:solidFill>
                  </a:tcPr>
                </a:tc>
                <a:tc>
                  <a:txBody>
                    <a:bodyPr/>
                    <a:lstStyle/>
                    <a:p>
                      <a:pPr algn="l"/>
                      <a:r>
                        <a:rPr sz="900">
                          <a:solidFill>
                            <a:srgbClr val="444455"/>
                          </a:solidFill>
                        </a:rPr>
                        <a:t>Focus loss on foreground; free +28% improvement</a:t>
                      </a:r>
                    </a:p>
                  </a:txBody>
                  <a:tcPr marL="60000" marR="60000" marT="25000" marB="25000">
                    <a:solidFill>
                      <a:srgbClr val="E8EEF3"/>
                    </a:solidFill>
                  </a:tcPr>
                </a:tc>
              </a:tr>
              <a:tr h="235000">
                <a:tc>
                  <a:txBody>
                    <a:bodyPr/>
                    <a:lstStyle/>
                    <a:p>
                      <a:pPr algn="l"/>
                      <a:r>
                        <a:rPr sz="900" b="1">
                          <a:solidFill>
                            <a:srgbClr val="1A1A2E"/>
                          </a:solidFill>
                        </a:rPr>
                        <a:t>Weighted Sampler</a:t>
                      </a:r>
                    </a:p>
                  </a:txBody>
                  <a:tcPr marL="60000" marR="60000" marT="25000" marB="25000">
                    <a:solidFill>
                      <a:srgbClr val="F5F8FA"/>
                    </a:solidFill>
                  </a:tcPr>
                </a:tc>
                <a:tc>
                  <a:txBody>
                    <a:bodyPr/>
                    <a:lstStyle/>
                    <a:p>
                      <a:pPr algn="l"/>
                      <a:r>
                        <a:rPr sz="900" b="1">
                          <a:solidFill>
                            <a:srgbClr val="27AE60"/>
                          </a:solidFill>
                        </a:rPr>
                        <a:t>Enabled ✓</a:t>
                      </a:r>
                    </a:p>
                  </a:txBody>
                  <a:tcPr marL="60000" marR="60000" marT="25000" marB="25000">
                    <a:solidFill>
                      <a:srgbClr val="F5F8FA"/>
                    </a:solidFill>
                  </a:tcPr>
                </a:tc>
                <a:tc>
                  <a:txBody>
                    <a:bodyPr/>
                    <a:lstStyle/>
                    <a:p>
                      <a:pPr algn="l"/>
                      <a:r>
                        <a:rPr sz="900">
                          <a:solidFill>
                            <a:srgbClr val="444455"/>
                          </a:solidFill>
                        </a:rPr>
                        <a:t>Essential for 2.7M:1 class imbalance</a:t>
                      </a:r>
                    </a:p>
                  </a:txBody>
                  <a:tcPr marL="60000" marR="60000" marT="25000" marB="25000">
                    <a:solidFill>
                      <a:srgbClr val="F5F8FA"/>
                    </a:solidFill>
                  </a:tcPr>
                </a:tc>
              </a:tr>
              <a:tr h="235000">
                <a:tc>
                  <a:txBody>
                    <a:bodyPr/>
                    <a:lstStyle/>
                    <a:p>
                      <a:pPr algn="l"/>
                      <a:r>
                        <a:rPr sz="900" b="1">
                          <a:solidFill>
                            <a:srgbClr val="1A1A2E"/>
                          </a:solidFill>
                        </a:rPr>
                        <a:t>Deep Supervision</a:t>
                      </a:r>
                    </a:p>
                  </a:txBody>
                  <a:tcPr marL="60000" marR="60000" marT="25000" marB="25000">
                    <a:solidFill>
                      <a:srgbClr val="E8EEF3"/>
                    </a:solidFill>
                  </a:tcPr>
                </a:tc>
                <a:tc>
                  <a:txBody>
                    <a:bodyPr/>
                    <a:lstStyle/>
                    <a:p>
                      <a:pPr algn="l"/>
                      <a:r>
                        <a:rPr sz="900" b="1">
                          <a:solidFill>
                            <a:srgbClr val="1A1A2E"/>
                          </a:solidFill>
                        </a:rPr>
                        <a:t>SegResNet only</a:t>
                      </a:r>
                    </a:p>
                  </a:txBody>
                  <a:tcPr marL="60000" marR="60000" marT="25000" marB="25000">
                    <a:solidFill>
                      <a:srgbClr val="E8EEF3"/>
                    </a:solidFill>
                  </a:tcPr>
                </a:tc>
                <a:tc>
                  <a:txBody>
                    <a:bodyPr/>
                    <a:lstStyle/>
                    <a:p>
                      <a:pPr algn="l"/>
                      <a:r>
                        <a:rPr sz="900">
                          <a:solidFill>
                            <a:srgbClr val="444455"/>
                          </a:solidFill>
                        </a:rPr>
                        <a:t>Multi-scale aux losses at decoder layers</a:t>
                      </a:r>
                    </a:p>
                  </a:txBody>
                  <a:tcPr marL="60000" marR="60000" marT="25000" marB="25000">
                    <a:solidFill>
                      <a:srgbClr val="E8EEF3"/>
                    </a:solidFill>
                  </a:tcPr>
                </a:tc>
              </a:tr>
              <a:tr h="235000">
                <a:tc>
                  <a:txBody>
                    <a:bodyPr/>
                    <a:lstStyle/>
                    <a:p>
                      <a:pPr algn="l"/>
                      <a:r>
                        <a:rPr sz="900" b="1">
                          <a:solidFill>
                            <a:srgbClr val="1A1A2E"/>
                          </a:solidFill>
                        </a:rPr>
                        <a:t>AMP</a:t>
                      </a:r>
                    </a:p>
                  </a:txBody>
                  <a:tcPr marL="60000" marR="60000" marT="25000" marB="25000">
                    <a:solidFill>
                      <a:srgbClr val="F5F8FA"/>
                    </a:solidFill>
                  </a:tcPr>
                </a:tc>
                <a:tc>
                  <a:txBody>
                    <a:bodyPr/>
                    <a:lstStyle/>
                    <a:p>
                      <a:pPr algn="l"/>
                      <a:r>
                        <a:rPr sz="900" b="1">
                          <a:solidFill>
                            <a:srgbClr val="27AE60"/>
                          </a:solidFill>
                        </a:rPr>
                        <a:t>Enabled ✓</a:t>
                      </a:r>
                    </a:p>
                  </a:txBody>
                  <a:tcPr marL="60000" marR="60000" marT="25000" marB="25000">
                    <a:solidFill>
                      <a:srgbClr val="F5F8FA"/>
                    </a:solidFill>
                  </a:tcPr>
                </a:tc>
                <a:tc>
                  <a:txBody>
                    <a:bodyPr/>
                    <a:lstStyle/>
                    <a:p>
                      <a:pPr algn="l"/>
                      <a:r>
                        <a:rPr sz="900">
                          <a:solidFill>
                            <a:srgbClr val="444455"/>
                          </a:solidFill>
                        </a:rPr>
                        <a:t>Mixed precision for speed</a:t>
                      </a:r>
                    </a:p>
                  </a:txBody>
                  <a:tcPr marL="60000" marR="60000" marT="25000" marB="25000">
                    <a:solidFill>
                      <a:srgbClr val="F5F8FA"/>
                    </a:solidFill>
                  </a:tcPr>
                </a:tc>
              </a:tr>
              <a:tr h="235000">
                <a:tc>
                  <a:txBody>
                    <a:bodyPr/>
                    <a:lstStyle/>
                    <a:p>
                      <a:pPr algn="l"/>
                      <a:r>
                        <a:rPr sz="900" b="1">
                          <a:solidFill>
                            <a:srgbClr val="1A1A2E"/>
                          </a:solidFill>
                        </a:rPr>
                        <a:t>Scheduler</a:t>
                      </a:r>
                    </a:p>
                  </a:txBody>
                  <a:tcPr marL="60000" marR="60000" marT="25000" marB="25000">
                    <a:solidFill>
                      <a:srgbClr val="E8EEF3"/>
                    </a:solidFill>
                  </a:tcPr>
                </a:tc>
                <a:tc>
                  <a:txBody>
                    <a:bodyPr/>
                    <a:lstStyle/>
                    <a:p>
                      <a:pPr algn="l"/>
                      <a:r>
                        <a:rPr sz="900" b="1">
                          <a:solidFill>
                            <a:srgbClr val="1A1A2E"/>
                          </a:solidFill>
                        </a:rPr>
                        <a:t>Cosine + warmup</a:t>
                      </a:r>
                    </a:p>
                  </a:txBody>
                  <a:tcPr marL="60000" marR="60000" marT="25000" marB="25000">
                    <a:solidFill>
                      <a:srgbClr val="E8EEF3"/>
                    </a:solidFill>
                  </a:tcPr>
                </a:tc>
                <a:tc>
                  <a:txBody>
                    <a:bodyPr/>
                    <a:lstStyle/>
                    <a:p>
                      <a:pPr algn="l"/>
                      <a:r>
                        <a:rPr sz="900">
                          <a:solidFill>
                            <a:srgbClr val="444455"/>
                          </a:solidFill>
                        </a:rPr>
                        <a:t>10-epoch warmup, then cosine decay</a:t>
                      </a:r>
                    </a:p>
                  </a:txBody>
                  <a:tcPr marL="60000" marR="60000" marT="25000" marB="25000">
                    <a:solidFill>
                      <a:srgbClr val="E8EEF3"/>
                    </a:solidFill>
                  </a:tcPr>
                </a:tc>
              </a:tr>
              <a:tr h="235000">
                <a:tc>
                  <a:txBody>
                    <a:bodyPr/>
                    <a:lstStyle/>
                    <a:p>
                      <a:pPr algn="l"/>
                      <a:r>
                        <a:rPr sz="900" b="1">
                          <a:solidFill>
                            <a:srgbClr val="1A1A2E"/>
                          </a:solidFill>
                        </a:rPr>
                        <a:t>Optimizer</a:t>
                      </a:r>
                    </a:p>
                  </a:txBody>
                  <a:tcPr marL="60000" marR="60000" marT="25000" marB="25000">
                    <a:solidFill>
                      <a:srgbClr val="F5F8FA"/>
                    </a:solidFill>
                  </a:tcPr>
                </a:tc>
                <a:tc>
                  <a:txBody>
                    <a:bodyPr/>
                    <a:lstStyle/>
                    <a:p>
                      <a:pPr algn="l"/>
                      <a:r>
                        <a:rPr sz="900" b="1">
                          <a:solidFill>
                            <a:srgbClr val="1A1A2E"/>
                          </a:solidFill>
                        </a:rPr>
                        <a:t>RAdam, lr=1e-4</a:t>
                      </a:r>
                    </a:p>
                  </a:txBody>
                  <a:tcPr marL="60000" marR="60000" marT="25000" marB="25000">
                    <a:solidFill>
                      <a:srgbClr val="F5F8FA"/>
                    </a:solidFill>
                  </a:tcPr>
                </a:tc>
                <a:tc>
                  <a:txBody>
                    <a:bodyPr/>
                    <a:lstStyle/>
                    <a:p>
                      <a:pPr algn="l"/>
                      <a:r>
                        <a:rPr sz="900">
                          <a:solidFill>
                            <a:srgbClr val="444455"/>
                          </a:solidFill>
                        </a:rPr>
                        <a:t>Robust to LR sensitivity</a:t>
                      </a:r>
                    </a:p>
                  </a:txBody>
                  <a:tcPr marL="60000" marR="60000" marT="25000" marB="25000">
                    <a:solidFill>
                      <a:srgbClr val="F5F8FA"/>
                    </a:solidFill>
                  </a:tcPr>
                </a:tc>
              </a:tr>
              <a:tr h="235000">
                <a:tc>
                  <a:txBody>
                    <a:bodyPr/>
                    <a:lstStyle/>
                    <a:p>
                      <a:pPr algn="l"/>
                      <a:r>
                        <a:rPr sz="900" b="1">
                          <a:solidFill>
                            <a:srgbClr val="1A1A2E"/>
                          </a:solidFill>
                        </a:rPr>
                        <a:t>Intensity Aug</a:t>
                      </a:r>
                    </a:p>
                  </a:txBody>
                  <a:tcPr marL="60000" marR="60000" marT="25000" marB="25000">
                    <a:solidFill>
                      <a:srgbClr val="FCF0F0"/>
                    </a:solidFill>
                  </a:tcPr>
                </a:tc>
                <a:tc>
                  <a:txBody>
                    <a:bodyPr/>
                    <a:lstStyle/>
                    <a:p>
                      <a:pPr algn="l"/>
                      <a:r>
                        <a:rPr sz="900" b="1">
                          <a:solidFill>
                            <a:srgbClr val="C0392B"/>
                          </a:solidFill>
                        </a:rPr>
                        <a:t>Disabled ✗</a:t>
                      </a:r>
                    </a:p>
                  </a:txBody>
                  <a:tcPr marL="60000" marR="60000" marT="25000" marB="25000">
                    <a:solidFill>
                      <a:srgbClr val="FCF0F0"/>
                    </a:solidFill>
                  </a:tcPr>
                </a:tc>
                <a:tc>
                  <a:txBody>
                    <a:bodyPr/>
                    <a:lstStyle/>
                    <a:p>
                      <a:pPr algn="l"/>
                      <a:r>
                        <a:rPr sz="900">
                          <a:solidFill>
                            <a:srgbClr val="444455"/>
                          </a:solidFill>
                        </a:rPr>
                        <a:t>Hurt −23%; EM intensity already consistent</a:t>
                      </a:r>
                    </a:p>
                  </a:txBody>
                  <a:tcPr marL="60000" marR="60000" marT="25000" marB="25000">
                    <a:solidFill>
                      <a:srgbClr val="FCF0F0"/>
                    </a:solidFill>
                  </a:tcPr>
                </a:tc>
              </a:tr>
              <a:tr h="235000">
                <a:tc>
                  <a:txBody>
                    <a:bodyPr/>
                    <a:lstStyle/>
                    <a:p>
                      <a:pPr algn="l"/>
                      <a:r>
                        <a:rPr sz="900" b="1">
                          <a:solidFill>
                            <a:srgbClr val="1A1A2E"/>
                          </a:solidFill>
                        </a:rPr>
                        <a:t>Crop Weighting</a:t>
                      </a:r>
                    </a:p>
                  </a:txBody>
                  <a:tcPr marL="60000" marR="60000" marT="25000" marB="25000">
                    <a:solidFill>
                      <a:srgbClr val="FCF0F0"/>
                    </a:solidFill>
                  </a:tcPr>
                </a:tc>
                <a:tc>
                  <a:txBody>
                    <a:bodyPr/>
                    <a:lstStyle/>
                    <a:p>
                      <a:pPr algn="l"/>
                      <a:r>
                        <a:rPr sz="900" b="1">
                          <a:solidFill>
                            <a:srgbClr val="C0392B"/>
                          </a:solidFill>
                        </a:rPr>
                        <a:t>Disabled ✗</a:t>
                      </a:r>
                    </a:p>
                  </a:txBody>
                  <a:tcPr marL="60000" marR="60000" marT="25000" marB="25000">
                    <a:solidFill>
                      <a:srgbClr val="FCF0F0"/>
                    </a:solidFill>
                  </a:tcPr>
                </a:tc>
                <a:tc>
                  <a:txBody>
                    <a:bodyPr/>
                    <a:lstStyle/>
                    <a:p>
                      <a:pPr algn="l"/>
                      <a:r>
                        <a:rPr sz="900">
                          <a:solidFill>
                            <a:srgbClr val="444455"/>
                          </a:solidFill>
                        </a:rPr>
                        <a:t>Hurt −38%; disrupts balanced sampling</a:t>
                      </a:r>
                    </a:p>
                  </a:txBody>
                  <a:tcPr marL="60000" marR="60000" marT="25000" marB="25000">
                    <a:solidFill>
                      <a:srgbClr val="FCF0F0"/>
                    </a:solidFill>
                  </a:tcPr>
                </a:tc>
              </a:tr>
            </a:tbl>
          </a:graphicData>
        </a:graphic>
      </p:graphicFrame>
      <p:sp>
        <p:nvSpPr>
          <p:cNvPr id="8" name="TextBox 7"/>
          <p:cNvSpPr txBox="1"/>
          <p:nvPr/>
        </p:nvSpPr>
        <p:spPr>
          <a:xfrm>
            <a:off x="274320" y="3820000"/>
            <a:ext cx="5700000" cy="200000"/>
          </a:xfrm>
          <a:prstGeom prst="rect">
            <a:avLst/>
          </a:prstGeom>
          <a:noFill/>
        </p:spPr>
        <p:txBody>
          <a:bodyPr wrap="square">
            <a:spAutoFit/>
          </a:bodyPr>
          <a:lstStyle/>
          <a:p>
            <a:r>
              <a:rPr sz="700">
                <a:solidFill>
                  <a:srgbClr val="777788"/>
                </a:solidFill>
              </a:rPr>
              <a:t>*SegResNet uses BST because DiceBCE's BCE component produces unbounded loss on deep supervision logits (see Slide 10)</a:t>
            </a:r>
          </a:p>
        </p:txBody>
      </p:sp>
      <p:sp>
        <p:nvSpPr>
          <p:cNvPr id="9" name="Rounded Rectangle 8"/>
          <p:cNvSpPr/>
          <p:nvPr/>
        </p:nvSpPr>
        <p:spPr>
          <a:xfrm>
            <a:off x="6200000" y="950000"/>
            <a:ext cx="5600000" cy="17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1020000"/>
            <a:ext cx="5300000" cy="1600000"/>
          </a:xfrm>
          <a:prstGeom prst="rect">
            <a:avLst/>
          </a:prstGeom>
          <a:noFill/>
        </p:spPr>
        <p:txBody>
          <a:bodyPr wrap="square">
            <a:spAutoFit/>
          </a:bodyPr>
          <a:lstStyle/>
          <a:p>
            <a:r>
              <a:rPr sz="1300" b="1">
                <a:solidFill>
                  <a:srgbClr val="1A1A2E"/>
                </a:solidFill>
              </a:rPr>
              <a:t>Why DiceBCE Over BCE?</a:t>
            </a:r>
          </a:p>
          <a:p>
            <a:pPr>
              <a:spcBef>
                <a:spcPts val="600"/>
              </a:spcBef>
            </a:pPr>
          </a:p>
          <a:p>
            <a:r>
              <a:rPr sz="1000" b="0">
                <a:solidFill>
                  <a:srgbClr val="1A1A2E"/>
                </a:solidFill>
              </a:rPr>
              <a:t>BCE:  0.476 mean Dice  — highest raw score</a:t>
            </a:r>
          </a:p>
          <a:p>
            <a:r>
              <a:rPr sz="900" b="0">
                <a:solidFill>
                  <a:srgbClr val="444455"/>
                </a:solidFill>
              </a:rPr>
              <a:t>         but over-predicts common classes (ecs, pm, mito)</a:t>
            </a:r>
          </a:p>
          <a:p>
            <a:pPr>
              <a:spcBef>
                <a:spcPts val="400"/>
              </a:spcBef>
            </a:pPr>
          </a:p>
          <a:p>
            <a:r>
              <a:rPr sz="1000" b="1">
                <a:solidFill>
                  <a:srgbClr val="27AE60"/>
                </a:solidFill>
              </a:rPr>
              <a:t>DiceBCE:  0.459 mean Dice  — better rare-class Dice</a:t>
            </a:r>
          </a:p>
          <a:p>
            <a:r>
              <a:rPr sz="900" b="0">
                <a:solidFill>
                  <a:srgbClr val="444455"/>
                </a:solidFill>
              </a:rPr>
              <a:t>         Dice component optimizes per-class overlap</a:t>
            </a:r>
          </a:p>
          <a:p>
            <a:pPr>
              <a:spcBef>
                <a:spcPts val="400"/>
              </a:spcBef>
            </a:pPr>
          </a:p>
          <a:p>
            <a:r>
              <a:rPr sz="1000" b="0">
                <a:solidFill>
                  <a:srgbClr val="1A1A2E"/>
                </a:solidFill>
              </a:rPr>
              <a:t>Challenge weights all 48 classes equally →</a:t>
            </a:r>
          </a:p>
          <a:p>
            <a:r>
              <a:rPr sz="1000" b="1">
                <a:solidFill>
                  <a:srgbClr val="1A1A2E"/>
                </a:solidFill>
              </a:rPr>
              <a:t>rare-class performance is what matters</a:t>
            </a:r>
          </a:p>
        </p:txBody>
      </p:sp>
      <p:sp>
        <p:nvSpPr>
          <p:cNvPr id="11" name="Rounded Rectangle 10"/>
          <p:cNvSpPr/>
          <p:nvPr/>
        </p:nvSpPr>
        <p:spPr>
          <a:xfrm>
            <a:off x="6200000" y="2800000"/>
            <a:ext cx="5600000" cy="110000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2870000"/>
            <a:ext cx="5300000" cy="950000"/>
          </a:xfrm>
          <a:prstGeom prst="rect">
            <a:avLst/>
          </a:prstGeom>
          <a:noFill/>
        </p:spPr>
        <p:txBody>
          <a:bodyPr wrap="square">
            <a:spAutoFit/>
          </a:bodyPr>
          <a:lstStyle/>
          <a:p>
            <a:r>
              <a:rPr sz="1300" b="1">
                <a:solidFill>
                  <a:srgbClr val="27AE60"/>
                </a:solidFill>
              </a:rPr>
              <a:t>EMA: The Single Biggest Improvement</a:t>
            </a:r>
          </a:p>
          <a:p>
            <a:pPr>
              <a:spcBef>
                <a:spcPts val="400"/>
              </a:spcBef>
            </a:pPr>
          </a:p>
          <a:p>
            <a:r>
              <a:rPr sz="1100" b="1">
                <a:solidFill>
                  <a:srgbClr val="27AE60"/>
                </a:solidFill>
              </a:rPr>
              <a:t>val_loss:  0.466 → 0.112  (4× better)</a:t>
            </a:r>
          </a:p>
          <a:p>
            <a:pPr>
              <a:spcBef>
                <a:spcPts val="300"/>
              </a:spcBef>
            </a:pPr>
          </a:p>
          <a:p>
            <a:r>
              <a:rPr sz="900" b="0">
                <a:solidFill>
                  <a:srgbClr val="444455"/>
                </a:solidFill>
              </a:rPr>
              <a:t>Partial annotations create noisy gradients — each batch sees</a:t>
            </a:r>
          </a:p>
          <a:p>
            <a:r>
              <a:rPr sz="900" b="0">
                <a:solidFill>
                  <a:srgbClr val="444455"/>
                </a:solidFill>
              </a:rPr>
              <a:t>different class subsets. EMA(0.999) averages ~1000 steps.</a:t>
            </a:r>
          </a:p>
        </p:txBody>
      </p:sp>
      <p:sp>
        <p:nvSpPr>
          <p:cNvPr id="13" name="Rounded Rectangle 12"/>
          <p:cNvSpPr/>
          <p:nvPr/>
        </p:nvSpPr>
        <p:spPr>
          <a:xfrm>
            <a:off x="6200000" y="4050000"/>
            <a:ext cx="5600000" cy="1500000"/>
          </a:xfrm>
          <a:prstGeom prst="round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000" y="4120000"/>
            <a:ext cx="5300000" cy="1350000"/>
          </a:xfrm>
          <a:prstGeom prst="rect">
            <a:avLst/>
          </a:prstGeom>
          <a:noFill/>
        </p:spPr>
        <p:txBody>
          <a:bodyPr wrap="square">
            <a:spAutoFit/>
          </a:bodyPr>
          <a:lstStyle/>
          <a:p>
            <a:r>
              <a:rPr sz="1300" b="1">
                <a:solidFill>
                  <a:srgbClr val="E67E22"/>
                </a:solidFill>
              </a:rPr>
              <a:t>⚠  3D Ablation Was Non-Functional</a:t>
            </a:r>
          </a:p>
          <a:p>
            <a:pPr>
              <a:spcBef>
                <a:spcPts val="400"/>
              </a:spcBef>
            </a:pPr>
          </a:p>
          <a:p>
            <a:r>
              <a:rPr sz="1000" b="1">
                <a:solidFill>
                  <a:srgbClr val="C0392B"/>
                </a:solidFill>
              </a:rPr>
              <a:t>All 29 3D experiments:  max Dice = 0.017</a:t>
            </a:r>
          </a:p>
          <a:p>
            <a:r>
              <a:rPr sz="900" b="0">
                <a:solidFill>
                  <a:srgbClr val="444455"/>
                </a:solidFill>
              </a:rPr>
              <a:t>12,500 steps was woefully insufficient for 128³ volumes</a:t>
            </a:r>
          </a:p>
          <a:p>
            <a:r>
              <a:rPr sz="900" b="0">
                <a:solidFill>
                  <a:srgbClr val="444455"/>
                </a:solidFill>
              </a:rPr>
              <a:t>Only 'nuc' (largest organelle) got any signal</a:t>
            </a:r>
          </a:p>
          <a:p>
            <a:pPr>
              <a:spcBef>
                <a:spcPts val="400"/>
              </a:spcBef>
            </a:pPr>
          </a:p>
          <a:p>
            <a:r>
              <a:rPr sz="1000" b="1">
                <a:solidFill>
                  <a:srgbClr val="1A1A2E"/>
                </a:solidFill>
              </a:rPr>
              <a:t>Decision: transfer 2D findings → 3D, train 24× longer</a:t>
            </a:r>
          </a:p>
          <a:p>
            <a:r>
              <a:rPr sz="900" b="0">
                <a:solidFill>
                  <a:srgbClr val="444455"/>
                </a:solidFill>
              </a:rPr>
              <a:t>Phase 2: 300K steps  (vs 12.5K in ablation)</a:t>
            </a:r>
          </a:p>
        </p:txBody>
      </p:sp>
      <p:sp>
        <p:nvSpPr>
          <p:cNvPr id="15" name="Rounded Rectangle 14"/>
          <p:cNvSpPr/>
          <p:nvPr/>
        </p:nvSpPr>
        <p:spPr>
          <a:xfrm>
            <a:off x="274320" y="5700000"/>
            <a:ext cx="11520000" cy="200000"/>
          </a:xfrm>
          <a:prstGeom prst="roundRect">
            <a:avLst/>
          </a:prstGeom>
          <a:solidFill>
            <a:srgbClr val="2E4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000" y="5710000"/>
            <a:ext cx="11400000" cy="180000"/>
          </a:xfrm>
          <a:prstGeom prst="rect">
            <a:avLst/>
          </a:prstGeom>
          <a:noFill/>
        </p:spPr>
        <p:txBody>
          <a:bodyPr wrap="square">
            <a:spAutoFit/>
          </a:bodyPr>
          <a:lstStyle/>
          <a:p>
            <a:pPr algn="ctr"/>
            <a:r>
              <a:rPr sz="1100" b="1">
                <a:solidFill>
                  <a:srgbClr val="FFFFFF"/>
                </a:solidFill>
              </a:rPr>
              <a:t>Bottom line:  Simple beats complex.  DiceBCE + EMA + FG Mask + Weighted Sampler.  That's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Phase 2: The Architecture Zoo</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11247120" cy="274320"/>
          </a:xfrm>
          <a:prstGeom prst="rect">
            <a:avLst/>
          </a:prstGeom>
          <a:noFill/>
        </p:spPr>
        <p:txBody>
          <a:bodyPr wrap="square">
            <a:spAutoFit/>
          </a:bodyPr>
          <a:lstStyle/>
          <a:p>
            <a:pPr algn="l">
              <a:spcBef>
                <a:spcPts val="0"/>
              </a:spcBef>
              <a:spcAft>
                <a:spcPts val="400"/>
              </a:spcAft>
              <a:defRPr sz="1600" b="0">
                <a:solidFill>
                  <a:srgbClr val="767676"/>
                </a:solidFill>
                <a:latin typeface="Calibri"/>
              </a:defRPr>
            </a:pPr>
            <a:r>
              <a:t>Same recipe, 9 architectures — which backbone learns organelles best?</a:t>
            </a:r>
          </a:p>
        </p:txBody>
      </p:sp>
      <p:sp>
        <p:nvSpPr>
          <p:cNvPr id="9" name="TextBox 8"/>
          <p:cNvSpPr txBox="1"/>
          <p:nvPr/>
        </p:nvSpPr>
        <p:spPr>
          <a:xfrm>
            <a:off x="457200" y="1143000"/>
            <a:ext cx="5486400" cy="32004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2D Models (slice-by-slice, 256×256)</a:t>
            </a:r>
          </a:p>
        </p:txBody>
      </p:sp>
      <p:graphicFrame>
        <p:nvGraphicFramePr>
          <p:cNvPr id="10" name="Table 9"/>
          <p:cNvGraphicFramePr>
            <a:graphicFrameLocks noGrp="1"/>
          </p:cNvGraphicFramePr>
          <p:nvPr/>
        </p:nvGraphicFramePr>
        <p:xfrm>
          <a:off x="274320" y="1508760"/>
          <a:ext cx="5760720" cy="1828800"/>
        </p:xfrm>
        <a:graphic>
          <a:graphicData uri="http://schemas.openxmlformats.org/drawingml/2006/table">
            <a:tbl>
              <a:tblPr firstRow="1" bandRow="1">
                <a:tableStyleId>{5C22544A-7EE6-4342-B048-85BDC9FD1C3A}</a:tableStyleId>
              </a:tblPr>
              <a:tblGrid>
                <a:gridCol w="1440180"/>
                <a:gridCol w="1440180"/>
                <a:gridCol w="1440180"/>
                <a:gridCol w="1440180"/>
              </a:tblGrid>
              <a:tr h="365760">
                <a:tc>
                  <a:txBody>
                    <a:bodyPr/>
                    <a:lstStyle/>
                    <a:p>
                      <a:pPr>
                        <a:defRPr sz="1100" b="1">
                          <a:solidFill>
                            <a:srgbClr val="FFFFFF"/>
                          </a:solidFill>
                          <a:latin typeface="Calibri"/>
                        </a:defRPr>
                      </a:pPr>
                      <a:r>
                        <a:t>Architecture</a:t>
                      </a:r>
                    </a:p>
                  </a:txBody>
                  <a:tcPr anchor="ctr">
                    <a:solidFill>
                      <a:srgbClr val="156082"/>
                    </a:solidFill>
                  </a:tcPr>
                </a:tc>
                <a:tc>
                  <a:txBody>
                    <a:bodyPr/>
                    <a:lstStyle/>
                    <a:p>
                      <a:pPr>
                        <a:defRPr sz="1100" b="1">
                          <a:solidFill>
                            <a:srgbClr val="FFFFFF"/>
                          </a:solidFill>
                          <a:latin typeface="Calibri"/>
                        </a:defRPr>
                      </a:pPr>
                      <a:r>
                        <a:t>Params</a:t>
                      </a:r>
                    </a:p>
                  </a:txBody>
                  <a:tcPr anchor="ctr">
                    <a:solidFill>
                      <a:srgbClr val="156082"/>
                    </a:solidFill>
                  </a:tcPr>
                </a:tc>
                <a:tc>
                  <a:txBody>
                    <a:bodyPr/>
                    <a:lstStyle/>
                    <a:p>
                      <a:pPr>
                        <a:defRPr sz="1100" b="1">
                          <a:solidFill>
                            <a:srgbClr val="FFFFFF"/>
                          </a:solidFill>
                          <a:latin typeface="Calibri"/>
                        </a:defRPr>
                      </a:pPr>
                      <a:r>
                        <a:t>Type</a:t>
                      </a:r>
                    </a:p>
                  </a:txBody>
                  <a:tcPr anchor="ctr">
                    <a:solidFill>
                      <a:srgbClr val="156082"/>
                    </a:solidFill>
                  </a:tcPr>
                </a:tc>
                <a:tc>
                  <a:txBody>
                    <a:bodyPr/>
                    <a:lstStyle/>
                    <a:p>
                      <a:pPr>
                        <a:defRPr sz="1100" b="1">
                          <a:solidFill>
                            <a:srgbClr val="FFFFFF"/>
                          </a:solidFill>
                          <a:latin typeface="Calibri"/>
                        </a:defRPr>
                      </a:pPr>
                      <a:r>
                        <a:t>Strength</a:t>
                      </a:r>
                    </a:p>
                  </a:txBody>
                  <a:tcPr anchor="ctr">
                    <a:solidFill>
                      <a:srgbClr val="156082"/>
                    </a:solidFill>
                  </a:tcPr>
                </a:tc>
              </a:tr>
              <a:tr h="365760">
                <a:tc>
                  <a:txBody>
                    <a:bodyPr/>
                    <a:lstStyle/>
                    <a:p>
                      <a:pPr>
                        <a:defRPr sz="1100">
                          <a:solidFill>
                            <a:srgbClr val="333333"/>
                          </a:solidFill>
                          <a:latin typeface="Calibri"/>
                        </a:defRPr>
                      </a:pPr>
                      <a:r>
                        <a:t>ResNet Generator</a:t>
                      </a:r>
                    </a:p>
                  </a:txBody>
                  <a:tcPr anchor="ctr"/>
                </a:tc>
                <a:tc>
                  <a:txBody>
                    <a:bodyPr/>
                    <a:lstStyle/>
                    <a:p>
                      <a:pPr>
                        <a:defRPr sz="1100">
                          <a:solidFill>
                            <a:srgbClr val="333333"/>
                          </a:solidFill>
                          <a:latin typeface="Calibri"/>
                        </a:defRPr>
                      </a:pPr>
                      <a:r>
                        <a:t>7.8M</a:t>
                      </a:r>
                    </a:p>
                  </a:txBody>
                  <a:tcPr anchor="ctr"/>
                </a:tc>
                <a:tc>
                  <a:txBody>
                    <a:bodyPr/>
                    <a:lstStyle/>
                    <a:p>
                      <a:pPr>
                        <a:defRPr sz="1100">
                          <a:solidFill>
                            <a:srgbClr val="333333"/>
                          </a:solidFill>
                          <a:latin typeface="Calibri"/>
                        </a:defRPr>
                      </a:pPr>
                      <a:r>
                        <a:t>CNN</a:t>
                      </a:r>
                    </a:p>
                  </a:txBody>
                  <a:tcPr anchor="ctr"/>
                </a:tc>
                <a:tc>
                  <a:txBody>
                    <a:bodyPr/>
                    <a:lstStyle/>
                    <a:p>
                      <a:pPr>
                        <a:defRPr sz="1100">
                          <a:solidFill>
                            <a:srgbClr val="333333"/>
                          </a:solidFill>
                          <a:latin typeface="Calibri"/>
                        </a:defRPr>
                      </a:pPr>
                      <a:r>
                        <a:t>Fast, lightweight encoder-decoder baseline</a:t>
                      </a:r>
                    </a:p>
                  </a:txBody>
                  <a:tcPr anchor="ctr"/>
                </a:tc>
              </a:tr>
              <a:tr h="365760">
                <a:tc>
                  <a:txBody>
                    <a:bodyPr/>
                    <a:lstStyle/>
                    <a:p>
                      <a:pPr>
                        <a:defRPr sz="1100">
                          <a:solidFill>
                            <a:srgbClr val="333333"/>
                          </a:solidFill>
                          <a:latin typeface="Calibri"/>
                        </a:defRPr>
                      </a:pPr>
                      <a:r>
                        <a:t>UNet</a:t>
                      </a:r>
                    </a:p>
                  </a:txBody>
                  <a:tcPr anchor="ctr">
                    <a:solidFill>
                      <a:srgbClr val="F2F2F2"/>
                    </a:solidFill>
                  </a:tcPr>
                </a:tc>
                <a:tc>
                  <a:txBody>
                    <a:bodyPr/>
                    <a:lstStyle/>
                    <a:p>
                      <a:pPr>
                        <a:defRPr sz="1100">
                          <a:solidFill>
                            <a:srgbClr val="333333"/>
                          </a:solidFill>
                          <a:latin typeface="Calibri"/>
                        </a:defRPr>
                      </a:pPr>
                      <a:r>
                        <a:t>31M</a:t>
                      </a:r>
                    </a:p>
                  </a:txBody>
                  <a:tcPr anchor="ctr">
                    <a:solidFill>
                      <a:srgbClr val="F2F2F2"/>
                    </a:solidFill>
                  </a:tcPr>
                </a:tc>
                <a:tc>
                  <a:txBody>
                    <a:bodyPr/>
                    <a:lstStyle/>
                    <a:p>
                      <a:pPr>
                        <a:defRPr sz="1100">
                          <a:solidFill>
                            <a:srgbClr val="333333"/>
                          </a:solidFill>
                          <a:latin typeface="Calibri"/>
                        </a:defRPr>
                      </a:pPr>
                      <a:r>
                        <a:t>CNN</a:t>
                      </a:r>
                    </a:p>
                  </a:txBody>
                  <a:tcPr anchor="ctr">
                    <a:solidFill>
                      <a:srgbClr val="F2F2F2"/>
                    </a:solidFill>
                  </a:tcPr>
                </a:tc>
                <a:tc>
                  <a:txBody>
                    <a:bodyPr/>
                    <a:lstStyle/>
                    <a:p>
                      <a:pPr>
                        <a:defRPr sz="1100">
                          <a:solidFill>
                            <a:srgbClr val="333333"/>
                          </a:solidFill>
                          <a:latin typeface="Calibri"/>
                        </a:defRPr>
                      </a:pPr>
                      <a:r>
                        <a:t>Classic encoder-decoder, large capacity</a:t>
                      </a:r>
                    </a:p>
                  </a:txBody>
                  <a:tcPr anchor="ctr">
                    <a:solidFill>
                      <a:srgbClr val="F2F2F2"/>
                    </a:solidFill>
                  </a:tcPr>
                </a:tc>
              </a:tr>
              <a:tr h="365760">
                <a:tc>
                  <a:txBody>
                    <a:bodyPr/>
                    <a:lstStyle/>
                    <a:p>
                      <a:pPr>
                        <a:defRPr sz="1100">
                          <a:solidFill>
                            <a:srgbClr val="333333"/>
                          </a:solidFill>
                          <a:latin typeface="Calibri"/>
                        </a:defRPr>
                      </a:pPr>
                      <a:r>
                        <a:t>SwinTransformer</a:t>
                      </a:r>
                    </a:p>
                  </a:txBody>
                  <a:tcPr anchor="ctr"/>
                </a:tc>
                <a:tc>
                  <a:txBody>
                    <a:bodyPr/>
                    <a:lstStyle/>
                    <a:p>
                      <a:pPr>
                        <a:defRPr sz="1100">
                          <a:solidFill>
                            <a:srgbClr val="333333"/>
                          </a:solidFill>
                          <a:latin typeface="Calibri"/>
                        </a:defRPr>
                      </a:pPr>
                      <a:r>
                        <a:t>36M</a:t>
                      </a:r>
                    </a:p>
                  </a:txBody>
                  <a:tcPr anchor="ctr"/>
                </a:tc>
                <a:tc>
                  <a:txBody>
                    <a:bodyPr/>
                    <a:lstStyle/>
                    <a:p>
                      <a:pPr>
                        <a:defRPr sz="1100">
                          <a:solidFill>
                            <a:srgbClr val="333333"/>
                          </a:solidFill>
                          <a:latin typeface="Calibri"/>
                        </a:defRPr>
                      </a:pPr>
                      <a:r>
                        <a:t>Transformer</a:t>
                      </a:r>
                    </a:p>
                  </a:txBody>
                  <a:tcPr anchor="ctr"/>
                </a:tc>
                <a:tc>
                  <a:txBody>
                    <a:bodyPr/>
                    <a:lstStyle/>
                    <a:p>
                      <a:pPr>
                        <a:defRPr sz="1100">
                          <a:solidFill>
                            <a:srgbClr val="333333"/>
                          </a:solidFill>
                          <a:latin typeface="Calibri"/>
                        </a:defRPr>
                      </a:pPr>
                      <a:r>
                        <a:t>Shifted windows, multi-scale attention</a:t>
                      </a:r>
                    </a:p>
                  </a:txBody>
                  <a:tcPr anchor="ctr"/>
                </a:tc>
              </a:tr>
              <a:tr h="365760">
                <a:tc>
                  <a:txBody>
                    <a:bodyPr/>
                    <a:lstStyle/>
                    <a:p>
                      <a:pPr>
                        <a:defRPr sz="1100">
                          <a:solidFill>
                            <a:srgbClr val="333333"/>
                          </a:solidFill>
                          <a:latin typeface="Calibri"/>
                        </a:defRPr>
                      </a:pPr>
                      <a:r>
                        <a:t>ViTVNet</a:t>
                      </a:r>
                    </a:p>
                  </a:txBody>
                  <a:tcPr anchor="ctr">
                    <a:solidFill>
                      <a:srgbClr val="F2F2F2"/>
                    </a:solidFill>
                  </a:tcPr>
                </a:tc>
                <a:tc>
                  <a:txBody>
                    <a:bodyPr/>
                    <a:lstStyle/>
                    <a:p>
                      <a:pPr>
                        <a:defRPr sz="1100">
                          <a:solidFill>
                            <a:srgbClr val="333333"/>
                          </a:solidFill>
                          <a:latin typeface="Calibri"/>
                        </a:defRPr>
                      </a:pPr>
                      <a:r>
                        <a:t>105M</a:t>
                      </a:r>
                    </a:p>
                  </a:txBody>
                  <a:tcPr anchor="ctr">
                    <a:solidFill>
                      <a:srgbClr val="F2F2F2"/>
                    </a:solidFill>
                  </a:tcPr>
                </a:tc>
                <a:tc>
                  <a:txBody>
                    <a:bodyPr/>
                    <a:lstStyle/>
                    <a:p>
                      <a:pPr>
                        <a:defRPr sz="1100">
                          <a:solidFill>
                            <a:srgbClr val="333333"/>
                          </a:solidFill>
                          <a:latin typeface="Calibri"/>
                        </a:defRPr>
                      </a:pPr>
                      <a:r>
                        <a:t>Hybrid</a:t>
                      </a:r>
                    </a:p>
                  </a:txBody>
                  <a:tcPr anchor="ctr">
                    <a:solidFill>
                      <a:srgbClr val="F2F2F2"/>
                    </a:solidFill>
                  </a:tcPr>
                </a:tc>
                <a:tc>
                  <a:txBody>
                    <a:bodyPr/>
                    <a:lstStyle/>
                    <a:p>
                      <a:pPr>
                        <a:defRPr sz="1100">
                          <a:solidFill>
                            <a:srgbClr val="333333"/>
                          </a:solidFill>
                          <a:latin typeface="Calibri"/>
                        </a:defRPr>
                      </a:pPr>
                      <a:r>
                        <a:t>ViT encoder + V-Net decoder (largest)</a:t>
                      </a:r>
                    </a:p>
                  </a:txBody>
                  <a:tcPr anchor="ctr">
                    <a:solidFill>
                      <a:srgbClr val="F2F2F2"/>
                    </a:solidFill>
                  </a:tcPr>
                </a:tc>
              </a:tr>
            </a:tbl>
          </a:graphicData>
        </a:graphic>
      </p:graphicFrame>
      <p:sp>
        <p:nvSpPr>
          <p:cNvPr id="11" name="TextBox 10"/>
          <p:cNvSpPr txBox="1"/>
          <p:nvPr/>
        </p:nvSpPr>
        <p:spPr>
          <a:xfrm>
            <a:off x="457200" y="3520440"/>
            <a:ext cx="5486400" cy="32004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3D Models (full volumes, 96³)</a:t>
            </a:r>
          </a:p>
        </p:txBody>
      </p:sp>
      <p:graphicFrame>
        <p:nvGraphicFramePr>
          <p:cNvPr id="12" name="Table 11"/>
          <p:cNvGraphicFramePr>
            <a:graphicFrameLocks noGrp="1"/>
          </p:cNvGraphicFramePr>
          <p:nvPr/>
        </p:nvGraphicFramePr>
        <p:xfrm>
          <a:off x="274320" y="3886200"/>
          <a:ext cx="5760720" cy="2011680"/>
        </p:xfrm>
        <a:graphic>
          <a:graphicData uri="http://schemas.openxmlformats.org/drawingml/2006/table">
            <a:tbl>
              <a:tblPr firstRow="1" bandRow="1">
                <a:tableStyleId>{5C22544A-7EE6-4342-B048-85BDC9FD1C3A}</a:tableStyleId>
              </a:tblPr>
              <a:tblGrid>
                <a:gridCol w="1440180"/>
                <a:gridCol w="1440180"/>
                <a:gridCol w="1440180"/>
                <a:gridCol w="1440180"/>
              </a:tblGrid>
              <a:tr h="335280">
                <a:tc>
                  <a:txBody>
                    <a:bodyPr/>
                    <a:lstStyle/>
                    <a:p>
                      <a:pPr>
                        <a:defRPr sz="1100" b="1">
                          <a:solidFill>
                            <a:srgbClr val="FFFFFF"/>
                          </a:solidFill>
                          <a:latin typeface="Calibri"/>
                        </a:defRPr>
                      </a:pPr>
                      <a:r>
                        <a:t>Architecture</a:t>
                      </a:r>
                    </a:p>
                  </a:txBody>
                  <a:tcPr anchor="ctr">
                    <a:solidFill>
                      <a:srgbClr val="156082"/>
                    </a:solidFill>
                  </a:tcPr>
                </a:tc>
                <a:tc>
                  <a:txBody>
                    <a:bodyPr/>
                    <a:lstStyle/>
                    <a:p>
                      <a:pPr>
                        <a:defRPr sz="1100" b="1">
                          <a:solidFill>
                            <a:srgbClr val="FFFFFF"/>
                          </a:solidFill>
                          <a:latin typeface="Calibri"/>
                        </a:defRPr>
                      </a:pPr>
                      <a:r>
                        <a:t>Params</a:t>
                      </a:r>
                    </a:p>
                  </a:txBody>
                  <a:tcPr anchor="ctr">
                    <a:solidFill>
                      <a:srgbClr val="156082"/>
                    </a:solidFill>
                  </a:tcPr>
                </a:tc>
                <a:tc>
                  <a:txBody>
                    <a:bodyPr/>
                    <a:lstStyle/>
                    <a:p>
                      <a:pPr>
                        <a:defRPr sz="1100" b="1">
                          <a:solidFill>
                            <a:srgbClr val="FFFFFF"/>
                          </a:solidFill>
                          <a:latin typeface="Calibri"/>
                        </a:defRPr>
                      </a:pPr>
                      <a:r>
                        <a:t>Type</a:t>
                      </a:r>
                    </a:p>
                  </a:txBody>
                  <a:tcPr anchor="ctr">
                    <a:solidFill>
                      <a:srgbClr val="156082"/>
                    </a:solidFill>
                  </a:tcPr>
                </a:tc>
                <a:tc>
                  <a:txBody>
                    <a:bodyPr/>
                    <a:lstStyle/>
                    <a:p>
                      <a:pPr>
                        <a:defRPr sz="1100" b="1">
                          <a:solidFill>
                            <a:srgbClr val="FFFFFF"/>
                          </a:solidFill>
                          <a:latin typeface="Calibri"/>
                        </a:defRPr>
                      </a:pPr>
                      <a:r>
                        <a:t>Strength</a:t>
                      </a:r>
                    </a:p>
                  </a:txBody>
                  <a:tcPr anchor="ctr">
                    <a:solidFill>
                      <a:srgbClr val="156082"/>
                    </a:solidFill>
                  </a:tcPr>
                </a:tc>
              </a:tr>
              <a:tr h="335280">
                <a:tc>
                  <a:txBody>
                    <a:bodyPr/>
                    <a:lstStyle/>
                    <a:p>
                      <a:pPr>
                        <a:defRPr sz="1100">
                          <a:solidFill>
                            <a:srgbClr val="333333"/>
                          </a:solidFill>
                          <a:latin typeface="Calibri"/>
                        </a:defRPr>
                      </a:pPr>
                      <a:r>
                        <a:t>SegResNetDS</a:t>
                      </a:r>
                    </a:p>
                  </a:txBody>
                  <a:tcPr anchor="ctr"/>
                </a:tc>
                <a:tc>
                  <a:txBody>
                    <a:bodyPr/>
                    <a:lstStyle/>
                    <a:p>
                      <a:pPr>
                        <a:defRPr sz="1100">
                          <a:solidFill>
                            <a:srgbClr val="333333"/>
                          </a:solidFill>
                          <a:latin typeface="Calibri"/>
                        </a:defRPr>
                      </a:pPr>
                      <a:r>
                        <a:t>19.9M</a:t>
                      </a:r>
                    </a:p>
                  </a:txBody>
                  <a:tcPr anchor="ctr"/>
                </a:tc>
                <a:tc>
                  <a:txBody>
                    <a:bodyPr/>
                    <a:lstStyle/>
                    <a:p>
                      <a:pPr>
                        <a:defRPr sz="1100">
                          <a:solidFill>
                            <a:srgbClr val="333333"/>
                          </a:solidFill>
                          <a:latin typeface="Calibri"/>
                        </a:defRPr>
                      </a:pPr>
                      <a:r>
                        <a:t>CNN</a:t>
                      </a:r>
                    </a:p>
                  </a:txBody>
                  <a:tcPr anchor="ctr"/>
                </a:tc>
                <a:tc>
                  <a:txBody>
                    <a:bodyPr/>
                    <a:lstStyle/>
                    <a:p>
                      <a:pPr>
                        <a:defRPr sz="1100">
                          <a:solidFill>
                            <a:srgbClr val="333333"/>
                          </a:solidFill>
                          <a:latin typeface="Calibri"/>
                        </a:defRPr>
                      </a:pPr>
                      <a:r>
                        <a:t>Deep supervision, multi-scale loss</a:t>
                      </a:r>
                    </a:p>
                  </a:txBody>
                  <a:tcPr anchor="ctr"/>
                </a:tc>
              </a:tr>
              <a:tr h="335280">
                <a:tc>
                  <a:txBody>
                    <a:bodyPr/>
                    <a:lstStyle/>
                    <a:p>
                      <a:pPr>
                        <a:defRPr sz="1100">
                          <a:solidFill>
                            <a:srgbClr val="333333"/>
                          </a:solidFill>
                          <a:latin typeface="Calibri"/>
                        </a:defRPr>
                      </a:pPr>
                      <a:r>
                        <a:t>SwinUNETR</a:t>
                      </a:r>
                    </a:p>
                  </a:txBody>
                  <a:tcPr anchor="ctr">
                    <a:solidFill>
                      <a:srgbClr val="F2F2F2"/>
                    </a:solidFill>
                  </a:tcPr>
                </a:tc>
                <a:tc>
                  <a:txBody>
                    <a:bodyPr/>
                    <a:lstStyle/>
                    <a:p>
                      <a:pPr>
                        <a:defRPr sz="1100">
                          <a:solidFill>
                            <a:srgbClr val="333333"/>
                          </a:solidFill>
                          <a:latin typeface="Calibri"/>
                        </a:defRPr>
                      </a:pPr>
                      <a:r>
                        <a:t>62.2M</a:t>
                      </a:r>
                    </a:p>
                  </a:txBody>
                  <a:tcPr anchor="ctr">
                    <a:solidFill>
                      <a:srgbClr val="F2F2F2"/>
                    </a:solidFill>
                  </a:tcPr>
                </a:tc>
                <a:tc>
                  <a:txBody>
                    <a:bodyPr/>
                    <a:lstStyle/>
                    <a:p>
                      <a:pPr>
                        <a:defRPr sz="1100">
                          <a:solidFill>
                            <a:srgbClr val="333333"/>
                          </a:solidFill>
                          <a:latin typeface="Calibri"/>
                        </a:defRPr>
                      </a:pPr>
                      <a:r>
                        <a:t>Transformer</a:t>
                      </a:r>
                    </a:p>
                  </a:txBody>
                  <a:tcPr anchor="ctr">
                    <a:solidFill>
                      <a:srgbClr val="F2F2F2"/>
                    </a:solidFill>
                  </a:tcPr>
                </a:tc>
                <a:tc>
                  <a:txBody>
                    <a:bodyPr/>
                    <a:lstStyle/>
                    <a:p>
                      <a:pPr>
                        <a:defRPr sz="1100">
                          <a:solidFill>
                            <a:srgbClr val="333333"/>
                          </a:solidFill>
                          <a:latin typeface="Calibri"/>
                        </a:defRPr>
                      </a:pPr>
                      <a:r>
                        <a:t>3D shifted-window self-attention</a:t>
                      </a:r>
                    </a:p>
                  </a:txBody>
                  <a:tcPr anchor="ctr">
                    <a:solidFill>
                      <a:srgbClr val="F2F2F2"/>
                    </a:solidFill>
                  </a:tcPr>
                </a:tc>
              </a:tr>
              <a:tr h="335280">
                <a:tc>
                  <a:txBody>
                    <a:bodyPr/>
                    <a:lstStyle/>
                    <a:p>
                      <a:pPr>
                        <a:defRPr sz="1100">
                          <a:solidFill>
                            <a:srgbClr val="333333"/>
                          </a:solidFill>
                          <a:latin typeface="Calibri"/>
                        </a:defRPr>
                      </a:pPr>
                      <a:r>
                        <a:t>ResNet3D</a:t>
                      </a:r>
                    </a:p>
                  </a:txBody>
                  <a:tcPr anchor="ctr"/>
                </a:tc>
                <a:tc>
                  <a:txBody>
                    <a:bodyPr/>
                    <a:lstStyle/>
                    <a:p>
                      <a:pPr>
                        <a:defRPr sz="1100">
                          <a:solidFill>
                            <a:srgbClr val="333333"/>
                          </a:solidFill>
                          <a:latin typeface="Calibri"/>
                        </a:defRPr>
                      </a:pPr>
                      <a:r>
                        <a:t>24.5M</a:t>
                      </a:r>
                    </a:p>
                  </a:txBody>
                  <a:tcPr anchor="ctr"/>
                </a:tc>
                <a:tc>
                  <a:txBody>
                    <a:bodyPr/>
                    <a:lstStyle/>
                    <a:p>
                      <a:pPr>
                        <a:defRPr sz="1100">
                          <a:solidFill>
                            <a:srgbClr val="333333"/>
                          </a:solidFill>
                          <a:latin typeface="Calibri"/>
                        </a:defRPr>
                      </a:pPr>
                      <a:r>
                        <a:t>CNN</a:t>
                      </a:r>
                    </a:p>
                  </a:txBody>
                  <a:tcPr anchor="ctr"/>
                </a:tc>
                <a:tc>
                  <a:txBody>
                    <a:bodyPr/>
                    <a:lstStyle/>
                    <a:p>
                      <a:pPr>
                        <a:defRPr sz="1100">
                          <a:solidFill>
                            <a:srgbClr val="333333"/>
                          </a:solidFill>
                          <a:latin typeface="Calibri"/>
                        </a:defRPr>
                      </a:pPr>
                      <a:r>
                        <a:t>3D version of CSC ResNet generator</a:t>
                      </a:r>
                    </a:p>
                  </a:txBody>
                  <a:tcPr anchor="ctr"/>
                </a:tc>
              </a:tr>
              <a:tr h="335280">
                <a:tc>
                  <a:txBody>
                    <a:bodyPr/>
                    <a:lstStyle/>
                    <a:p>
                      <a:pPr>
                        <a:defRPr sz="1100">
                          <a:solidFill>
                            <a:srgbClr val="333333"/>
                          </a:solidFill>
                          <a:latin typeface="Calibri"/>
                        </a:defRPr>
                      </a:pPr>
                      <a:r>
                        <a:t>UNet3D</a:t>
                      </a:r>
                    </a:p>
                  </a:txBody>
                  <a:tcPr anchor="ctr">
                    <a:solidFill>
                      <a:srgbClr val="F2F2F2"/>
                    </a:solidFill>
                  </a:tcPr>
                </a:tc>
                <a:tc>
                  <a:txBody>
                    <a:bodyPr/>
                    <a:lstStyle/>
                    <a:p>
                      <a:pPr>
                        <a:defRPr sz="1100">
                          <a:solidFill>
                            <a:srgbClr val="333333"/>
                          </a:solidFill>
                          <a:latin typeface="Calibri"/>
                        </a:defRPr>
                      </a:pPr>
                      <a:r>
                        <a:t>90.3M</a:t>
                      </a:r>
                    </a:p>
                  </a:txBody>
                  <a:tcPr anchor="ctr">
                    <a:solidFill>
                      <a:srgbClr val="F2F2F2"/>
                    </a:solidFill>
                  </a:tcPr>
                </a:tc>
                <a:tc>
                  <a:txBody>
                    <a:bodyPr/>
                    <a:lstStyle/>
                    <a:p>
                      <a:pPr>
                        <a:defRPr sz="1100">
                          <a:solidFill>
                            <a:srgbClr val="333333"/>
                          </a:solidFill>
                          <a:latin typeface="Calibri"/>
                        </a:defRPr>
                      </a:pPr>
                      <a:r>
                        <a:t>CNN</a:t>
                      </a:r>
                    </a:p>
                  </a:txBody>
                  <a:tcPr anchor="ctr">
                    <a:solidFill>
                      <a:srgbClr val="F2F2F2"/>
                    </a:solidFill>
                  </a:tcPr>
                </a:tc>
                <a:tc>
                  <a:txBody>
                    <a:bodyPr/>
                    <a:lstStyle/>
                    <a:p>
                      <a:pPr>
                        <a:defRPr sz="1100">
                          <a:solidFill>
                            <a:srgbClr val="333333"/>
                          </a:solidFill>
                          <a:latin typeface="Calibri"/>
                        </a:defRPr>
                      </a:pPr>
                      <a:r>
                        <a:t>Largest 3D model, pure encoder-decoder</a:t>
                      </a:r>
                    </a:p>
                  </a:txBody>
                  <a:tcPr anchor="ctr">
                    <a:solidFill>
                      <a:srgbClr val="F2F2F2"/>
                    </a:solidFill>
                  </a:tcPr>
                </a:tc>
              </a:tr>
              <a:tr h="335280">
                <a:tc>
                  <a:txBody>
                    <a:bodyPr/>
                    <a:lstStyle/>
                    <a:p>
                      <a:pPr>
                        <a:defRPr sz="1100">
                          <a:solidFill>
                            <a:srgbClr val="333333"/>
                          </a:solidFill>
                          <a:latin typeface="Calibri"/>
                        </a:defRPr>
                      </a:pPr>
                      <a:r>
                        <a:t>ViTVNet3D</a:t>
                      </a:r>
                    </a:p>
                  </a:txBody>
                  <a:tcPr anchor="ctr"/>
                </a:tc>
                <a:tc>
                  <a:txBody>
                    <a:bodyPr/>
                    <a:lstStyle/>
                    <a:p>
                      <a:pPr>
                        <a:defRPr sz="1100">
                          <a:solidFill>
                            <a:srgbClr val="333333"/>
                          </a:solidFill>
                          <a:latin typeface="Calibri"/>
                        </a:defRPr>
                      </a:pPr>
                      <a:r>
                        <a:t>31.5M</a:t>
                      </a:r>
                    </a:p>
                  </a:txBody>
                  <a:tcPr anchor="ctr"/>
                </a:tc>
                <a:tc>
                  <a:txBody>
                    <a:bodyPr/>
                    <a:lstStyle/>
                    <a:p>
                      <a:pPr>
                        <a:defRPr sz="1100">
                          <a:solidFill>
                            <a:srgbClr val="333333"/>
                          </a:solidFill>
                          <a:latin typeface="Calibri"/>
                        </a:defRPr>
                      </a:pPr>
                      <a:r>
                        <a:t>Hybrid</a:t>
                      </a:r>
                    </a:p>
                  </a:txBody>
                  <a:tcPr anchor="ctr"/>
                </a:tc>
                <a:tc>
                  <a:txBody>
                    <a:bodyPr/>
                    <a:lstStyle/>
                    <a:p>
                      <a:pPr>
                        <a:defRPr sz="1100">
                          <a:solidFill>
                            <a:srgbClr val="333333"/>
                          </a:solidFill>
                          <a:latin typeface="Calibri"/>
                        </a:defRPr>
                      </a:pPr>
                      <a:r>
                        <a:t>ViT encoder + V-Net decoder in 3D</a:t>
                      </a:r>
                    </a:p>
                  </a:txBody>
                  <a:tcPr anchor="ctr"/>
                </a:tc>
              </a:tr>
            </a:tbl>
          </a:graphicData>
        </a:graphic>
      </p:graphicFrame>
      <p:sp>
        <p:nvSpPr>
          <p:cNvPr id="13" name="Rounded Rectangle 12"/>
          <p:cNvSpPr/>
          <p:nvPr/>
        </p:nvSpPr>
        <p:spPr>
          <a:xfrm>
            <a:off x="6400800" y="1143000"/>
            <a:ext cx="5303520" cy="219456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234440"/>
            <a:ext cx="4937760" cy="2011680"/>
          </a:xfrm>
          <a:prstGeom prst="rect">
            <a:avLst/>
          </a:prstGeom>
          <a:noFill/>
        </p:spPr>
        <p:txBody>
          <a:bodyPr wrap="square">
            <a:spAutoFit/>
          </a:bodyPr>
          <a:lstStyle/>
          <a:p>
            <a:pPr algn="l">
              <a:spcBef>
                <a:spcPts val="0"/>
              </a:spcBef>
              <a:spcAft>
                <a:spcPts val="400"/>
              </a:spcAft>
              <a:defRPr sz="1400" b="1">
                <a:solidFill>
                  <a:srgbClr val="CFB87C"/>
                </a:solidFill>
                <a:latin typeface="Calibri"/>
              </a:defRPr>
            </a:pPr>
            <a:r>
              <a:t>2D Training</a:t>
            </a:r>
          </a:p>
          <a:p>
            <a:pPr algn="l">
              <a:spcBef>
                <a:spcPts val="0"/>
              </a:spcBef>
              <a:spcAft>
                <a:spcPts val="400"/>
              </a:spcAft>
              <a:defRPr sz="1200" b="0">
                <a:solidFill>
                  <a:srgbClr val="333333"/>
                </a:solidFill>
                <a:latin typeface="Calibri"/>
              </a:defRPr>
            </a:pPr>
            <a:r>
              <a:t>100 epochs × 1,000 iter = 100K steps</a:t>
            </a:r>
          </a:p>
          <a:p>
            <a:pPr algn="l">
              <a:spcBef>
                <a:spcPts val="0"/>
              </a:spcBef>
              <a:spcAft>
                <a:spcPts val="400"/>
              </a:spcAft>
              <a:defRPr sz="1200" b="0">
                <a:solidFill>
                  <a:srgbClr val="333333"/>
                </a:solidFill>
                <a:latin typeface="Calibri"/>
              </a:defRPr>
            </a:pPr>
            <a:r>
              <a:t>Batch size 8, single L40S GPU</a:t>
            </a:r>
          </a:p>
          <a:p>
            <a:pPr algn="l">
              <a:spcBef>
                <a:spcPts val="0"/>
              </a:spcBef>
              <a:spcAft>
                <a:spcPts val="400"/>
              </a:spcAft>
              <a:defRPr sz="1200" b="0">
                <a:solidFill>
                  <a:srgbClr val="767676"/>
                </a:solidFill>
                <a:latin typeface="Calibri"/>
              </a:defRPr>
            </a:pPr>
            <a:r>
              <a:t>~6–10 hours per model</a:t>
            </a:r>
          </a:p>
          <a:p>
            <a:pPr algn="l">
              <a:spcBef>
                <a:spcPts val="0"/>
              </a:spcBef>
              <a:spcAft>
                <a:spcPts val="400"/>
              </a:spcAft>
              <a:defRPr sz="1200" b="0">
                <a:solidFill>
                  <a:srgbClr val="333333"/>
                </a:solidFill>
                <a:latin typeface="Calibri"/>
              </a:defRPr>
            </a:pPr>
            <a:r>
              <a:t>Validate every 10 epochs with Dice</a:t>
            </a:r>
          </a:p>
          <a:p>
            <a:pPr algn="l">
              <a:spcBef>
                <a:spcPts val="0"/>
              </a:spcBef>
              <a:spcAft>
                <a:spcPts val="400"/>
              </a:spcAft>
              <a:defRPr sz="800" b="0">
                <a:solidFill>
                  <a:srgbClr val="333333"/>
                </a:solidFill>
                <a:latin typeface="Calibri"/>
              </a:defRPr>
            </a:pPr>
          </a:p>
          <a:p>
            <a:pPr algn="l">
              <a:spcBef>
                <a:spcPts val="0"/>
              </a:spcBef>
              <a:spcAft>
                <a:spcPts val="400"/>
              </a:spcAft>
              <a:defRPr sz="1400" b="1">
                <a:solidFill>
                  <a:srgbClr val="CFB87C"/>
                </a:solidFill>
                <a:latin typeface="Calibri"/>
              </a:defRPr>
            </a:pPr>
            <a:r>
              <a:t>3D Training</a:t>
            </a:r>
          </a:p>
          <a:p>
            <a:pPr algn="l">
              <a:spcBef>
                <a:spcPts val="0"/>
              </a:spcBef>
              <a:spcAft>
                <a:spcPts val="400"/>
              </a:spcAft>
              <a:defRPr sz="1200" b="0">
                <a:solidFill>
                  <a:srgbClr val="333333"/>
                </a:solidFill>
                <a:latin typeface="Calibri"/>
              </a:defRPr>
            </a:pPr>
            <a:r>
              <a:t>1,000 epochs × 300 iter = 300K steps</a:t>
            </a:r>
          </a:p>
          <a:p>
            <a:pPr algn="l">
              <a:spcBef>
                <a:spcPts val="0"/>
              </a:spcBef>
              <a:spcAft>
                <a:spcPts val="400"/>
              </a:spcAft>
              <a:defRPr sz="1200" b="0">
                <a:solidFill>
                  <a:srgbClr val="333333"/>
                </a:solidFill>
                <a:latin typeface="Calibri"/>
              </a:defRPr>
            </a:pPr>
            <a:r>
              <a:t>Batch size 8, single L40S (48GB VRAM)</a:t>
            </a:r>
          </a:p>
          <a:p>
            <a:pPr algn="l">
              <a:spcBef>
                <a:spcPts val="0"/>
              </a:spcBef>
              <a:spcAft>
                <a:spcPts val="400"/>
              </a:spcAft>
              <a:defRPr sz="1200" b="0">
                <a:solidFill>
                  <a:srgbClr val="767676"/>
                </a:solidFill>
                <a:latin typeface="Calibri"/>
              </a:defRPr>
            </a:pPr>
            <a:r>
              <a:t>~10–13 days per model</a:t>
            </a:r>
          </a:p>
          <a:p>
            <a:pPr algn="l">
              <a:spcBef>
                <a:spcPts val="0"/>
              </a:spcBef>
              <a:spcAft>
                <a:spcPts val="400"/>
              </a:spcAft>
              <a:defRPr sz="1200" b="0">
                <a:solidFill>
                  <a:srgbClr val="333333"/>
                </a:solidFill>
                <a:latin typeface="Calibri"/>
              </a:defRPr>
            </a:pPr>
            <a:r>
              <a:t>Validate every 30 epochs with Dice</a:t>
            </a:r>
          </a:p>
          <a:p>
            <a:pPr algn="l">
              <a:spcBef>
                <a:spcPts val="0"/>
              </a:spcBef>
              <a:spcAft>
                <a:spcPts val="400"/>
              </a:spcAft>
              <a:defRPr sz="1200" b="0">
                <a:solidFill>
                  <a:srgbClr val="333333"/>
                </a:solidFill>
                <a:latin typeface="Calibri"/>
              </a:defRPr>
            </a:pPr>
            <a:r>
              <a:t>Memory leak fix (commit 2c4aa84)</a:t>
            </a:r>
          </a:p>
        </p:txBody>
      </p:sp>
      <p:sp>
        <p:nvSpPr>
          <p:cNvPr id="15" name="Rounded Rectangle 14"/>
          <p:cNvSpPr/>
          <p:nvPr/>
        </p:nvSpPr>
        <p:spPr>
          <a:xfrm>
            <a:off x="6400800" y="3520440"/>
            <a:ext cx="5303520" cy="237744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611880"/>
            <a:ext cx="4937760" cy="2194560"/>
          </a:xfrm>
          <a:prstGeom prst="rect">
            <a:avLst/>
          </a:prstGeom>
          <a:noFill/>
        </p:spPr>
        <p:txBody>
          <a:bodyPr wrap="square">
            <a:spAutoFit/>
          </a:bodyPr>
          <a:lstStyle/>
          <a:p>
            <a:pPr algn="l">
              <a:spcBef>
                <a:spcPts val="0"/>
              </a:spcBef>
              <a:spcAft>
                <a:spcPts val="400"/>
              </a:spcAft>
              <a:defRPr sz="1400" b="1">
                <a:solidFill>
                  <a:srgbClr val="156082"/>
                </a:solidFill>
                <a:latin typeface="Calibri"/>
              </a:defRPr>
            </a:pPr>
            <a:r>
              <a:t>Why Both 2D and 3D?</a:t>
            </a:r>
          </a:p>
          <a:p>
            <a:pPr algn="l">
              <a:spcBef>
                <a:spcPts val="0"/>
              </a:spcBef>
              <a:spcAft>
                <a:spcPts val="400"/>
              </a:spcAft>
              <a:defRPr sz="600" b="0">
                <a:solidFill>
                  <a:srgbClr val="333333"/>
                </a:solidFill>
                <a:latin typeface="Calibri"/>
              </a:defRPr>
            </a:pPr>
          </a:p>
          <a:p>
            <a:pPr algn="l">
              <a:spcBef>
                <a:spcPts val="0"/>
              </a:spcBef>
              <a:spcAft>
                <a:spcPts val="600"/>
              </a:spcAft>
              <a:defRPr sz="1200" b="0">
                <a:solidFill>
                  <a:srgbClr val="333333"/>
                </a:solidFill>
                <a:latin typeface="Calibri"/>
              </a:defRPr>
            </a:pPr>
            <a:r>
              <a:t>• 2D: fast iteration, strong on in-plane</a:t>
            </a:r>
            <a:br/>
            <a:r>
              <a:t>features (membranes, texture)</a:t>
            </a:r>
          </a:p>
          <a:p>
            <a:pPr algn="l">
              <a:spcBef>
                <a:spcPts val="0"/>
              </a:spcBef>
              <a:spcAft>
                <a:spcPts val="600"/>
              </a:spcAft>
              <a:defRPr sz="1200" b="0">
                <a:solidFill>
                  <a:srgbClr val="333333"/>
                </a:solidFill>
                <a:latin typeface="Calibri"/>
              </a:defRPr>
            </a:pPr>
            <a:r>
              <a:t>• 3D: captures volumetric context</a:t>
            </a:r>
            <a:br/>
            <a:r>
              <a:t>(tubules, 3D connectivity, shape)</a:t>
            </a:r>
          </a:p>
          <a:p>
            <a:pPr algn="l">
              <a:spcBef>
                <a:spcPts val="0"/>
              </a:spcBef>
              <a:spcAft>
                <a:spcPts val="600"/>
              </a:spcAft>
              <a:defRPr sz="1200" b="0">
                <a:solidFill>
                  <a:srgbClr val="333333"/>
                </a:solidFill>
                <a:latin typeface="Calibri"/>
              </a:defRPr>
            </a:pPr>
            <a:r>
              <a:t>• Per-class ensemble: some organelles</a:t>
            </a:r>
            <a:br/>
            <a:r>
              <a:t>may be better served by 2D, others</a:t>
            </a:r>
            <a:br/>
            <a:r>
              <a:t>by 3D → composite model</a:t>
            </a:r>
          </a:p>
          <a:p>
            <a:pPr algn="l">
              <a:spcBef>
                <a:spcPts val="0"/>
              </a:spcBef>
              <a:spcAft>
                <a:spcPts val="600"/>
              </a:spcAft>
              <a:defRPr sz="1200" b="0">
                <a:solidFill>
                  <a:srgbClr val="333333"/>
                </a:solidFill>
                <a:latin typeface="Calibri"/>
              </a:defRPr>
            </a:pPr>
            <a:r>
              <a:t>• Final ensemble selects best architecture</a:t>
            </a:r>
            <a:br/>
            <a:r>
              <a:t>per organelle class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02920"/>
          </a:xfrm>
          <a:prstGeom prst="rect">
            <a:avLst/>
          </a:prstGeom>
          <a:noFill/>
        </p:spPr>
        <p:txBody>
          <a:bodyPr wrap="square">
            <a:spAutoFit/>
          </a:bodyPr>
          <a:lstStyle/>
          <a:p>
            <a:r>
              <a:rPr sz="2800" b="1">
                <a:solidFill>
                  <a:srgbClr val="1A1A2E"/>
                </a:solidFill>
              </a:rPr>
              <a:t>Phase 2: Live Training Status (10 Hours In)</a:t>
            </a:r>
          </a:p>
        </p:txBody>
      </p:sp>
      <p:sp>
        <p:nvSpPr>
          <p:cNvPr id="4" name="Rectangle 3"/>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77240"/>
            <a:ext cx="11247120" cy="365760"/>
          </a:xfrm>
          <a:prstGeom prst="rect">
            <a:avLst/>
          </a:prstGeom>
          <a:noFill/>
        </p:spPr>
        <p:txBody>
          <a:bodyPr wrap="square">
            <a:spAutoFit/>
          </a:bodyPr>
          <a:lstStyle/>
          <a:p>
            <a:r>
              <a:rPr sz="1400">
                <a:solidFill>
                  <a:srgbClr val="444455"/>
                </a:solidFill>
              </a:rPr>
              <a:t>8 of 9 models running  •  vit_2d failed (CUDA error, skipped)  •  All jobs stable on L40S  •  Memory flat ✓</a:t>
            </a:r>
          </a:p>
        </p:txBody>
      </p:sp>
      <p:pic>
        <p:nvPicPr>
          <p:cNvPr id="6" name="Picture 5" descr="image.png"/>
          <p:cNvPicPr>
            <a:picLocks noChangeAspect="1"/>
          </p:cNvPicPr>
          <p:nvPr/>
        </p:nvPicPr>
        <p:blipFill>
          <a:blip r:embed="rId2"/>
          <a:stretch>
            <a:fillRect/>
          </a:stretch>
        </p:blipFill>
        <p:spPr>
          <a:xfrm>
            <a:off x="10469880" y="6007608"/>
            <a:ext cx="1719072" cy="786384"/>
          </a:xfrm>
          <a:prstGeom prst="rect">
            <a:avLst/>
          </a:prstGeom>
        </p:spPr>
      </p:pic>
      <p:sp>
        <p:nvSpPr>
          <p:cNvPr id="7" name="TextBox 6"/>
          <p:cNvSpPr txBox="1"/>
          <p:nvPr/>
        </p:nvSpPr>
        <p:spPr>
          <a:xfrm>
            <a:off x="274320" y="1100000"/>
            <a:ext cx="5400000" cy="250000"/>
          </a:xfrm>
          <a:prstGeom prst="rect">
            <a:avLst/>
          </a:prstGeom>
          <a:noFill/>
        </p:spPr>
        <p:txBody>
          <a:bodyPr wrap="square">
            <a:spAutoFit/>
          </a:bodyPr>
          <a:lstStyle/>
          <a:p>
            <a:r>
              <a:rPr sz="1400" b="1">
                <a:solidFill>
                  <a:srgbClr val="2E86C1"/>
                </a:solidFill>
              </a:rPr>
              <a:t>2D Models (256×256, 100K steps target)</a:t>
            </a:r>
          </a:p>
        </p:txBody>
      </p:sp>
      <p:graphicFrame>
        <p:nvGraphicFramePr>
          <p:cNvPr id="8" name="Table 7"/>
          <p:cNvGraphicFramePr>
            <a:graphicFrameLocks noGrp="1"/>
          </p:cNvGraphicFramePr>
          <p:nvPr/>
        </p:nvGraphicFramePr>
        <p:xfrm>
          <a:off x="274320" y="1370000"/>
          <a:ext cx="5400000" cy="1400000"/>
        </p:xfrm>
        <a:graphic>
          <a:graphicData uri="http://schemas.openxmlformats.org/drawingml/2006/table">
            <a:tbl>
              <a:tblPr firstRow="1" bandRow="1">
                <a:tableStyleId>{5C22544A-7EE6-4342-B048-85BDC9FD1C3A}</a:tableStyleId>
              </a:tblPr>
              <a:tblGrid>
                <a:gridCol w="1200000"/>
                <a:gridCol w="750000"/>
                <a:gridCol w="750000"/>
                <a:gridCol w="750000"/>
                <a:gridCol w="750000"/>
                <a:gridCol w="1200000"/>
              </a:tblGrid>
              <a:tr h="280000">
                <a:tc>
                  <a:txBody>
                    <a:bodyPr/>
                    <a:lstStyle/>
                    <a:p>
                      <a:pPr algn="ctr"/>
                      <a:r>
                        <a:rPr sz="1000" b="1">
                          <a:solidFill>
                            <a:srgbClr val="FFFFFF"/>
                          </a:solidFill>
                        </a:rPr>
                        <a:t>Model</a:t>
                      </a:r>
                    </a:p>
                  </a:txBody>
                  <a:tcPr>
                    <a:solidFill>
                      <a:srgbClr val="2E4A62"/>
                    </a:solidFill>
                  </a:tcPr>
                </a:tc>
                <a:tc>
                  <a:txBody>
                    <a:bodyPr/>
                    <a:lstStyle/>
                    <a:p>
                      <a:pPr algn="ctr"/>
                      <a:r>
                        <a:rPr sz="1000" b="1">
                          <a:solidFill>
                            <a:srgbClr val="FFFFFF"/>
                          </a:solidFill>
                        </a:rPr>
                        <a:t>Steps</a:t>
                      </a:r>
                    </a:p>
                  </a:txBody>
                  <a:tcPr>
                    <a:solidFill>
                      <a:srgbClr val="2E4A62"/>
                    </a:solidFill>
                  </a:tcPr>
                </a:tc>
                <a:tc>
                  <a:txBody>
                    <a:bodyPr/>
                    <a:lstStyle/>
                    <a:p>
                      <a:pPr algn="ctr"/>
                      <a:r>
                        <a:rPr sz="1000" b="1">
                          <a:solidFill>
                            <a:srgbClr val="FFFFFF"/>
                          </a:solidFill>
                        </a:rPr>
                        <a:t>Epochs</a:t>
                      </a:r>
                    </a:p>
                  </a:txBody>
                  <a:tcPr>
                    <a:solidFill>
                      <a:srgbClr val="2E4A62"/>
                    </a:solidFill>
                  </a:tcPr>
                </a:tc>
                <a:tc>
                  <a:txBody>
                    <a:bodyPr/>
                    <a:lstStyle/>
                    <a:p>
                      <a:pPr algn="ctr"/>
                      <a:r>
                        <a:rPr sz="1000" b="1">
                          <a:solidFill>
                            <a:srgbClr val="FFFFFF"/>
                          </a:solidFill>
                        </a:rPr>
                        <a:t>Loss</a:t>
                      </a:r>
                    </a:p>
                  </a:txBody>
                  <a:tcPr>
                    <a:solidFill>
                      <a:srgbClr val="2E4A62"/>
                    </a:solidFill>
                  </a:tcPr>
                </a:tc>
                <a:tc>
                  <a:txBody>
                    <a:bodyPr/>
                    <a:lstStyle/>
                    <a:p>
                      <a:pPr algn="ctr"/>
                      <a:r>
                        <a:rPr sz="1000" b="1">
                          <a:solidFill>
                            <a:srgbClr val="FFFFFF"/>
                          </a:solidFill>
                        </a:rPr>
                        <a:t>Val Dice</a:t>
                      </a:r>
                    </a:p>
                  </a:txBody>
                  <a:tcPr>
                    <a:solidFill>
                      <a:srgbClr val="2E4A62"/>
                    </a:solidFill>
                  </a:tcPr>
                </a:tc>
                <a:tc>
                  <a:txBody>
                    <a:bodyPr/>
                    <a:lstStyle/>
                    <a:p>
                      <a:pPr algn="ctr"/>
                      <a:r>
                        <a:rPr sz="1000" b="1">
                          <a:solidFill>
                            <a:srgbClr val="FFFFFF"/>
                          </a:solidFill>
                        </a:rPr>
                        <a:t>Status</a:t>
                      </a:r>
                    </a:p>
                  </a:txBody>
                  <a:tcPr>
                    <a:solidFill>
                      <a:srgbClr val="2E4A62"/>
                    </a:solidFill>
                  </a:tcPr>
                </a:tc>
              </a:tr>
              <a:tr h="280000">
                <a:tc>
                  <a:txBody>
                    <a:bodyPr/>
                    <a:lstStyle/>
                    <a:p>
                      <a:pPr algn="ctr"/>
                      <a:r>
                        <a:rPr sz="1000" b="1">
                          <a:solidFill>
                            <a:srgbClr val="27AE60"/>
                          </a:solidFill>
                        </a:rPr>
                        <a:t>ResNet-34</a:t>
                      </a:r>
                    </a:p>
                  </a:txBody>
                  <a:tcPr>
                    <a:solidFill>
                      <a:srgbClr val="F5F8FA"/>
                    </a:solidFill>
                  </a:tcPr>
                </a:tc>
                <a:tc>
                  <a:txBody>
                    <a:bodyPr/>
                    <a:lstStyle/>
                    <a:p>
                      <a:pPr algn="ctr"/>
                      <a:r>
                        <a:rPr sz="1000" b="0">
                          <a:solidFill>
                            <a:srgbClr val="1A1A2E"/>
                          </a:solidFill>
                        </a:rPr>
                        <a:t>17,508</a:t>
                      </a:r>
                    </a:p>
                  </a:txBody>
                  <a:tcPr>
                    <a:solidFill>
                      <a:srgbClr val="F5F8FA"/>
                    </a:solidFill>
                  </a:tcPr>
                </a:tc>
                <a:tc>
                  <a:txBody>
                    <a:bodyPr/>
                    <a:lstStyle/>
                    <a:p>
                      <a:pPr algn="ctr"/>
                      <a:r>
                        <a:rPr sz="1000" b="0">
                          <a:solidFill>
                            <a:srgbClr val="1A1A2E"/>
                          </a:solidFill>
                        </a:rPr>
                        <a:t>17/100</a:t>
                      </a:r>
                    </a:p>
                  </a:txBody>
                  <a:tcPr>
                    <a:solidFill>
                      <a:srgbClr val="F5F8FA"/>
                    </a:solidFill>
                  </a:tcPr>
                </a:tc>
                <a:tc>
                  <a:txBody>
                    <a:bodyPr/>
                    <a:lstStyle/>
                    <a:p>
                      <a:pPr algn="ctr"/>
                      <a:r>
                        <a:rPr sz="1000" b="1">
                          <a:solidFill>
                            <a:srgbClr val="27AE60"/>
                          </a:solidFill>
                        </a:rPr>
                        <a:t>0.387</a:t>
                      </a:r>
                    </a:p>
                  </a:txBody>
                  <a:tcPr>
                    <a:solidFill>
                      <a:srgbClr val="F5F8FA"/>
                    </a:solidFill>
                  </a:tcPr>
                </a:tc>
                <a:tc>
                  <a:txBody>
                    <a:bodyPr/>
                    <a:lstStyle/>
                    <a:p>
                      <a:pPr algn="ctr"/>
                      <a:r>
                        <a:rPr sz="1000" b="0">
                          <a:solidFill>
                            <a:srgbClr val="1A1A2E"/>
                          </a:solidFill>
                        </a:rPr>
                        <a:t>0.243</a:t>
                      </a:r>
                    </a:p>
                  </a:txBody>
                  <a:tcPr>
                    <a:solidFill>
                      <a:srgbClr val="F5F8FA"/>
                    </a:solidFill>
                  </a:tcPr>
                </a:tc>
                <a:tc>
                  <a:txBody>
                    <a:bodyPr/>
                    <a:lstStyle/>
                    <a:p>
                      <a:pPr algn="ctr"/>
                      <a:r>
                        <a:rPr sz="1000" b="0">
                          <a:solidFill>
                            <a:srgbClr val="27AE60"/>
                          </a:solidFill>
                        </a:rPr>
                        <a:t>🏆 Best</a:t>
                      </a:r>
                    </a:p>
                  </a:txBody>
                  <a:tcPr>
                    <a:solidFill>
                      <a:srgbClr val="F5F8FA"/>
                    </a:solidFill>
                  </a:tcPr>
                </a:tc>
              </a:tr>
              <a:tr h="280000">
                <a:tc>
                  <a:txBody>
                    <a:bodyPr/>
                    <a:lstStyle/>
                    <a:p>
                      <a:pPr algn="ctr"/>
                      <a:r>
                        <a:rPr sz="1000" b="0">
                          <a:solidFill>
                            <a:srgbClr val="1A1A2E"/>
                          </a:solidFill>
                        </a:rPr>
                        <a:t>UNet</a:t>
                      </a:r>
                    </a:p>
                  </a:txBody>
                  <a:tcPr>
                    <a:solidFill>
                      <a:srgbClr val="E8EEF3"/>
                    </a:solidFill>
                  </a:tcPr>
                </a:tc>
                <a:tc>
                  <a:txBody>
                    <a:bodyPr/>
                    <a:lstStyle/>
                    <a:p>
                      <a:pPr algn="ctr"/>
                      <a:r>
                        <a:rPr sz="1000" b="0">
                          <a:solidFill>
                            <a:srgbClr val="1A1A2E"/>
                          </a:solidFill>
                        </a:rPr>
                        <a:t>13,786</a:t>
                      </a:r>
                    </a:p>
                  </a:txBody>
                  <a:tcPr>
                    <a:solidFill>
                      <a:srgbClr val="E8EEF3"/>
                    </a:solidFill>
                  </a:tcPr>
                </a:tc>
                <a:tc>
                  <a:txBody>
                    <a:bodyPr/>
                    <a:lstStyle/>
                    <a:p>
                      <a:pPr algn="ctr"/>
                      <a:r>
                        <a:rPr sz="1000" b="0">
                          <a:solidFill>
                            <a:srgbClr val="1A1A2E"/>
                          </a:solidFill>
                        </a:rPr>
                        <a:t>13/100</a:t>
                      </a:r>
                    </a:p>
                  </a:txBody>
                  <a:tcPr>
                    <a:solidFill>
                      <a:srgbClr val="E8EEF3"/>
                    </a:solidFill>
                  </a:tcPr>
                </a:tc>
                <a:tc>
                  <a:txBody>
                    <a:bodyPr/>
                    <a:lstStyle/>
                    <a:p>
                      <a:pPr algn="ctr"/>
                      <a:r>
                        <a:rPr sz="1000" b="0">
                          <a:solidFill>
                            <a:srgbClr val="1A1A2E"/>
                          </a:solidFill>
                        </a:rPr>
                        <a:t>0.445</a:t>
                      </a:r>
                    </a:p>
                  </a:txBody>
                  <a:tcPr>
                    <a:solidFill>
                      <a:srgbClr val="E8EEF3"/>
                    </a:solidFill>
                  </a:tcPr>
                </a:tc>
                <a:tc>
                  <a:txBody>
                    <a:bodyPr/>
                    <a:lstStyle/>
                    <a:p>
                      <a:pPr algn="ctr"/>
                      <a:r>
                        <a:rPr sz="1000" b="0">
                          <a:solidFill>
                            <a:srgbClr val="1A1A2E"/>
                          </a:solidFill>
                        </a:rPr>
                        <a:t>0.000*</a:t>
                      </a:r>
                    </a:p>
                  </a:txBody>
                  <a:tcPr>
                    <a:solidFill>
                      <a:srgbClr val="E8EEF3"/>
                    </a:solidFill>
                  </a:tcPr>
                </a:tc>
                <a:tc>
                  <a:txBody>
                    <a:bodyPr/>
                    <a:lstStyle/>
                    <a:p>
                      <a:pPr algn="ctr"/>
                      <a:r>
                        <a:rPr sz="1000" b="0">
                          <a:solidFill>
                            <a:srgbClr val="1A1A2E"/>
                          </a:solidFill>
                        </a:rPr>
                        <a:t>Running</a:t>
                      </a:r>
                    </a:p>
                  </a:txBody>
                  <a:tcPr>
                    <a:solidFill>
                      <a:srgbClr val="E8EEF3"/>
                    </a:solidFill>
                  </a:tcPr>
                </a:tc>
              </a:tr>
              <a:tr h="280000">
                <a:tc>
                  <a:txBody>
                    <a:bodyPr/>
                    <a:lstStyle/>
                    <a:p>
                      <a:pPr algn="ctr"/>
                      <a:r>
                        <a:rPr sz="1000" b="0">
                          <a:solidFill>
                            <a:srgbClr val="E67E22"/>
                          </a:solidFill>
                        </a:rPr>
                        <a:t>Swin</a:t>
                      </a:r>
                    </a:p>
                  </a:txBody>
                  <a:tcPr>
                    <a:solidFill>
                      <a:srgbClr val="F5F8FA"/>
                    </a:solidFill>
                  </a:tcPr>
                </a:tc>
                <a:tc>
                  <a:txBody>
                    <a:bodyPr/>
                    <a:lstStyle/>
                    <a:p>
                      <a:pPr algn="ctr"/>
                      <a:r>
                        <a:rPr sz="1000" b="0">
                          <a:solidFill>
                            <a:srgbClr val="1A1A2E"/>
                          </a:solidFill>
                        </a:rPr>
                        <a:t>17,261</a:t>
                      </a:r>
                    </a:p>
                  </a:txBody>
                  <a:tcPr>
                    <a:solidFill>
                      <a:srgbClr val="F5F8FA"/>
                    </a:solidFill>
                  </a:tcPr>
                </a:tc>
                <a:tc>
                  <a:txBody>
                    <a:bodyPr/>
                    <a:lstStyle/>
                    <a:p>
                      <a:pPr algn="ctr"/>
                      <a:r>
                        <a:rPr sz="1000" b="0">
                          <a:solidFill>
                            <a:srgbClr val="1A1A2E"/>
                          </a:solidFill>
                        </a:rPr>
                        <a:t>17/100</a:t>
                      </a:r>
                    </a:p>
                  </a:txBody>
                  <a:tcPr>
                    <a:solidFill>
                      <a:srgbClr val="F5F8FA"/>
                    </a:solidFill>
                  </a:tcPr>
                </a:tc>
                <a:tc>
                  <a:txBody>
                    <a:bodyPr/>
                    <a:lstStyle/>
                    <a:p>
                      <a:pPr algn="ctr"/>
                      <a:r>
                        <a:rPr sz="1000" b="0">
                          <a:solidFill>
                            <a:srgbClr val="E67E22"/>
                          </a:solidFill>
                        </a:rPr>
                        <a:t>0.842</a:t>
                      </a:r>
                    </a:p>
                  </a:txBody>
                  <a:tcPr>
                    <a:solidFill>
                      <a:srgbClr val="F5F8FA"/>
                    </a:solidFill>
                  </a:tcPr>
                </a:tc>
                <a:tc>
                  <a:txBody>
                    <a:bodyPr/>
                    <a:lstStyle/>
                    <a:p>
                      <a:pPr algn="ctr"/>
                      <a:r>
                        <a:rPr sz="1000" b="0">
                          <a:solidFill>
                            <a:srgbClr val="1A1A2E"/>
                          </a:solidFill>
                        </a:rPr>
                        <a:t>0.036</a:t>
                      </a:r>
                    </a:p>
                  </a:txBody>
                  <a:tcPr>
                    <a:solidFill>
                      <a:srgbClr val="F5F8FA"/>
                    </a:solidFill>
                  </a:tcPr>
                </a:tc>
                <a:tc>
                  <a:txBody>
                    <a:bodyPr/>
                    <a:lstStyle/>
                    <a:p>
                      <a:pPr algn="ctr"/>
                      <a:r>
                        <a:rPr sz="1000" b="0">
                          <a:solidFill>
                            <a:srgbClr val="E67E22"/>
                          </a:solidFill>
                        </a:rPr>
                        <a:t>⚠ Flat</a:t>
                      </a:r>
                    </a:p>
                  </a:txBody>
                  <a:tcPr>
                    <a:solidFill>
                      <a:srgbClr val="F5F8FA"/>
                    </a:solidFill>
                  </a:tcPr>
                </a:tc>
              </a:tr>
              <a:tr h="280000">
                <a:tc>
                  <a:txBody>
                    <a:bodyPr/>
                    <a:lstStyle/>
                    <a:p>
                      <a:pPr algn="ctr"/>
                      <a:r>
                        <a:rPr sz="1000" b="0">
                          <a:solidFill>
                            <a:srgbClr val="C0392B"/>
                          </a:solidFill>
                        </a:rPr>
                        <a:t>ViT</a:t>
                      </a:r>
                    </a:p>
                  </a:txBody>
                  <a:tcPr>
                    <a:solidFill>
                      <a:srgbClr val="E8EEF3"/>
                    </a:solidFill>
                  </a:tcPr>
                </a:tc>
                <a:tc>
                  <a:txBody>
                    <a:bodyPr/>
                    <a:lstStyle/>
                    <a:p>
                      <a:pPr algn="ctr"/>
                      <a:r>
                        <a:rPr sz="1000" b="0">
                          <a:solidFill>
                            <a:srgbClr val="1A1A2E"/>
                          </a:solidFill>
                        </a:rPr>
                        <a:t>0</a:t>
                      </a:r>
                    </a:p>
                  </a:txBody>
                  <a:tcPr>
                    <a:solidFill>
                      <a:srgbClr val="E8EEF3"/>
                    </a:solidFill>
                  </a:tcPr>
                </a:tc>
                <a:tc>
                  <a:txBody>
                    <a:bodyPr/>
                    <a:lstStyle/>
                    <a:p>
                      <a:pPr algn="ctr"/>
                      <a:r>
                        <a:rPr sz="1000" b="0">
                          <a:solidFill>
                            <a:srgbClr val="1A1A2E"/>
                          </a:solidFill>
                        </a:rPr>
                        <a:t>0</a:t>
                      </a:r>
                    </a:p>
                  </a:txBody>
                  <a:tcPr>
                    <a:solidFill>
                      <a:srgbClr val="E8EEF3"/>
                    </a:solidFill>
                  </a:tcPr>
                </a:tc>
                <a:tc>
                  <a:txBody>
                    <a:bodyPr/>
                    <a:lstStyle/>
                    <a:p>
                      <a:pPr algn="ctr"/>
                      <a:r>
                        <a:rPr sz="1000" b="0">
                          <a:solidFill>
                            <a:srgbClr val="1A1A2E"/>
                          </a:solidFill>
                        </a:rPr>
                        <a:t>—</a:t>
                      </a:r>
                    </a:p>
                  </a:txBody>
                  <a:tcPr>
                    <a:solidFill>
                      <a:srgbClr val="E8EEF3"/>
                    </a:solidFill>
                  </a:tcPr>
                </a:tc>
                <a:tc>
                  <a:txBody>
                    <a:bodyPr/>
                    <a:lstStyle/>
                    <a:p>
                      <a:pPr algn="ctr"/>
                      <a:r>
                        <a:rPr sz="1000" b="0">
                          <a:solidFill>
                            <a:srgbClr val="1A1A2E"/>
                          </a:solidFill>
                        </a:rPr>
                        <a:t>—</a:t>
                      </a:r>
                    </a:p>
                  </a:txBody>
                  <a:tcPr>
                    <a:solidFill>
                      <a:srgbClr val="E8EEF3"/>
                    </a:solidFill>
                  </a:tcPr>
                </a:tc>
                <a:tc>
                  <a:txBody>
                    <a:bodyPr/>
                    <a:lstStyle/>
                    <a:p>
                      <a:pPr algn="ctr"/>
                      <a:r>
                        <a:rPr sz="1000" b="0">
                          <a:solidFill>
                            <a:srgbClr val="C0392B"/>
                          </a:solidFill>
                        </a:rPr>
                        <a:t>✗ Failed</a:t>
                      </a:r>
                    </a:p>
                  </a:txBody>
                  <a:tcPr>
                    <a:solidFill>
                      <a:srgbClr val="E8EEF3"/>
                    </a:solidFill>
                  </a:tcPr>
                </a:tc>
              </a:tr>
            </a:tbl>
          </a:graphicData>
        </a:graphic>
      </p:graphicFrame>
      <p:sp>
        <p:nvSpPr>
          <p:cNvPr id="9" name="TextBox 8"/>
          <p:cNvSpPr txBox="1"/>
          <p:nvPr/>
        </p:nvSpPr>
        <p:spPr>
          <a:xfrm>
            <a:off x="274320" y="2850000"/>
            <a:ext cx="5400000" cy="180000"/>
          </a:xfrm>
          <a:prstGeom prst="rect">
            <a:avLst/>
          </a:prstGeom>
          <a:noFill/>
        </p:spPr>
        <p:txBody>
          <a:bodyPr wrap="square">
            <a:spAutoFit/>
          </a:bodyPr>
          <a:lstStyle/>
          <a:p>
            <a:r>
              <a:rPr sz="800" b="0">
                <a:solidFill>
                  <a:srgbClr val="777788"/>
                </a:solidFill>
              </a:rPr>
              <a:t>*UNet val_dice=0 at epoch 10 — needs more training to converge</a:t>
            </a:r>
          </a:p>
        </p:txBody>
      </p:sp>
      <p:sp>
        <p:nvSpPr>
          <p:cNvPr id="10" name="TextBox 9"/>
          <p:cNvSpPr txBox="1"/>
          <p:nvPr/>
        </p:nvSpPr>
        <p:spPr>
          <a:xfrm>
            <a:off x="6100000" y="1100000"/>
            <a:ext cx="5800000" cy="250000"/>
          </a:xfrm>
          <a:prstGeom prst="rect">
            <a:avLst/>
          </a:prstGeom>
          <a:noFill/>
        </p:spPr>
        <p:txBody>
          <a:bodyPr wrap="square">
            <a:spAutoFit/>
          </a:bodyPr>
          <a:lstStyle/>
          <a:p>
            <a:r>
              <a:rPr sz="1400" b="1">
                <a:solidFill>
                  <a:srgbClr val="2E86C1"/>
                </a:solidFill>
              </a:rPr>
              <a:t>3D Models (96³, 300K steps target)</a:t>
            </a:r>
          </a:p>
        </p:txBody>
      </p:sp>
      <p:graphicFrame>
        <p:nvGraphicFramePr>
          <p:cNvPr id="11" name="Table 10"/>
          <p:cNvGraphicFramePr>
            <a:graphicFrameLocks noGrp="1"/>
          </p:cNvGraphicFramePr>
          <p:nvPr/>
        </p:nvGraphicFramePr>
        <p:xfrm>
          <a:off x="6100000" y="1370000"/>
          <a:ext cx="5800000" cy="1680000"/>
        </p:xfrm>
        <a:graphic>
          <a:graphicData uri="http://schemas.openxmlformats.org/drawingml/2006/table">
            <a:tbl>
              <a:tblPr firstRow="1" bandRow="1">
                <a:tableStyleId>{5C22544A-7EE6-4342-B048-85BDC9FD1C3A}</a:tableStyleId>
              </a:tblPr>
              <a:tblGrid>
                <a:gridCol w="1300000"/>
                <a:gridCol w="750000"/>
                <a:gridCol w="750000"/>
                <a:gridCol w="750000"/>
                <a:gridCol w="600000"/>
                <a:gridCol w="1650000"/>
              </a:tblGrid>
              <a:tr h="280000">
                <a:tc>
                  <a:txBody>
                    <a:bodyPr/>
                    <a:lstStyle/>
                    <a:p>
                      <a:pPr algn="ctr"/>
                      <a:r>
                        <a:rPr sz="1000" b="1">
                          <a:solidFill>
                            <a:srgbClr val="FFFFFF"/>
                          </a:solidFill>
                        </a:rPr>
                        <a:t>Model</a:t>
                      </a:r>
                    </a:p>
                  </a:txBody>
                  <a:tcPr>
                    <a:solidFill>
                      <a:srgbClr val="2E4A62"/>
                    </a:solidFill>
                  </a:tcPr>
                </a:tc>
                <a:tc>
                  <a:txBody>
                    <a:bodyPr/>
                    <a:lstStyle/>
                    <a:p>
                      <a:pPr algn="ctr"/>
                      <a:r>
                        <a:rPr sz="1000" b="1">
                          <a:solidFill>
                            <a:srgbClr val="FFFFFF"/>
                          </a:solidFill>
                        </a:rPr>
                        <a:t>Steps</a:t>
                      </a:r>
                    </a:p>
                  </a:txBody>
                  <a:tcPr>
                    <a:solidFill>
                      <a:srgbClr val="2E4A62"/>
                    </a:solidFill>
                  </a:tcPr>
                </a:tc>
                <a:tc>
                  <a:txBody>
                    <a:bodyPr/>
                    <a:lstStyle/>
                    <a:p>
                      <a:pPr algn="ctr"/>
                      <a:r>
                        <a:rPr sz="1000" b="1">
                          <a:solidFill>
                            <a:srgbClr val="FFFFFF"/>
                          </a:solidFill>
                        </a:rPr>
                        <a:t>Epochs</a:t>
                      </a:r>
                    </a:p>
                  </a:txBody>
                  <a:tcPr>
                    <a:solidFill>
                      <a:srgbClr val="2E4A62"/>
                    </a:solidFill>
                  </a:tcPr>
                </a:tc>
                <a:tc>
                  <a:txBody>
                    <a:bodyPr/>
                    <a:lstStyle/>
                    <a:p>
                      <a:pPr algn="ctr"/>
                      <a:r>
                        <a:rPr sz="1000" b="1">
                          <a:solidFill>
                            <a:srgbClr val="FFFFFF"/>
                          </a:solidFill>
                        </a:rPr>
                        <a:t>Loss</a:t>
                      </a:r>
                    </a:p>
                  </a:txBody>
                  <a:tcPr>
                    <a:solidFill>
                      <a:srgbClr val="2E4A62"/>
                    </a:solidFill>
                  </a:tcPr>
                </a:tc>
                <a:tc>
                  <a:txBody>
                    <a:bodyPr/>
                    <a:lstStyle/>
                    <a:p>
                      <a:pPr algn="ctr"/>
                      <a:r>
                        <a:rPr sz="1000" b="1">
                          <a:solidFill>
                            <a:srgbClr val="FFFFFF"/>
                          </a:solidFill>
                        </a:rPr>
                        <a:t>Batch</a:t>
                      </a:r>
                    </a:p>
                  </a:txBody>
                  <a:tcPr>
                    <a:solidFill>
                      <a:srgbClr val="2E4A62"/>
                    </a:solidFill>
                  </a:tcPr>
                </a:tc>
                <a:tc>
                  <a:txBody>
                    <a:bodyPr/>
                    <a:lstStyle/>
                    <a:p>
                      <a:pPr algn="ctr"/>
                      <a:r>
                        <a:rPr sz="1000" b="1">
                          <a:solidFill>
                            <a:srgbClr val="FFFFFF"/>
                          </a:solidFill>
                        </a:rPr>
                        <a:t>Status</a:t>
                      </a:r>
                    </a:p>
                  </a:txBody>
                  <a:tcPr>
                    <a:solidFill>
                      <a:srgbClr val="2E4A62"/>
                    </a:solidFill>
                  </a:tcPr>
                </a:tc>
              </a:tr>
              <a:tr h="280000">
                <a:tc>
                  <a:txBody>
                    <a:bodyPr/>
                    <a:lstStyle/>
                    <a:p>
                      <a:pPr algn="ctr"/>
                      <a:r>
                        <a:rPr sz="1000" b="1">
                          <a:solidFill>
                            <a:srgbClr val="27AE60"/>
                          </a:solidFill>
                        </a:rPr>
                        <a:t>ResNet-34</a:t>
                      </a:r>
                    </a:p>
                  </a:txBody>
                  <a:tcPr>
                    <a:solidFill>
                      <a:srgbClr val="F5F8FA"/>
                    </a:solidFill>
                  </a:tcPr>
                </a:tc>
                <a:tc>
                  <a:txBody>
                    <a:bodyPr/>
                    <a:lstStyle/>
                    <a:p>
                      <a:pPr algn="ctr"/>
                      <a:r>
                        <a:rPr sz="1000" b="0">
                          <a:solidFill>
                            <a:srgbClr val="1A1A2E"/>
                          </a:solidFill>
                        </a:rPr>
                        <a:t>1,460</a:t>
                      </a:r>
                    </a:p>
                  </a:txBody>
                  <a:tcPr>
                    <a:solidFill>
                      <a:srgbClr val="F5F8FA"/>
                    </a:solidFill>
                  </a:tcPr>
                </a:tc>
                <a:tc>
                  <a:txBody>
                    <a:bodyPr/>
                    <a:lstStyle/>
                    <a:p>
                      <a:pPr algn="ctr"/>
                      <a:r>
                        <a:rPr sz="1000" b="0">
                          <a:solidFill>
                            <a:srgbClr val="1A1A2E"/>
                          </a:solidFill>
                        </a:rPr>
                        <a:t>4/1000</a:t>
                      </a:r>
                    </a:p>
                  </a:txBody>
                  <a:tcPr>
                    <a:solidFill>
                      <a:srgbClr val="F5F8FA"/>
                    </a:solidFill>
                  </a:tcPr>
                </a:tc>
                <a:tc>
                  <a:txBody>
                    <a:bodyPr/>
                    <a:lstStyle/>
                    <a:p>
                      <a:pPr algn="ctr"/>
                      <a:r>
                        <a:rPr sz="1000" b="1">
                          <a:solidFill>
                            <a:srgbClr val="27AE60"/>
                          </a:solidFill>
                        </a:rPr>
                        <a:t>0.501</a:t>
                      </a:r>
                    </a:p>
                  </a:txBody>
                  <a:tcPr>
                    <a:solidFill>
                      <a:srgbClr val="F5F8FA"/>
                    </a:solidFill>
                  </a:tcPr>
                </a:tc>
                <a:tc>
                  <a:txBody>
                    <a:bodyPr/>
                    <a:lstStyle/>
                    <a:p>
                      <a:pPr algn="ctr"/>
                      <a:r>
                        <a:rPr sz="1000" b="0">
                          <a:solidFill>
                            <a:srgbClr val="1A1A2E"/>
                          </a:solidFill>
                        </a:rPr>
                        <a:t>8</a:t>
                      </a:r>
                    </a:p>
                  </a:txBody>
                  <a:tcPr>
                    <a:solidFill>
                      <a:srgbClr val="F5F8FA"/>
                    </a:solidFill>
                  </a:tcPr>
                </a:tc>
                <a:tc>
                  <a:txBody>
                    <a:bodyPr/>
                    <a:lstStyle/>
                    <a:p>
                      <a:pPr algn="ctr"/>
                      <a:r>
                        <a:rPr sz="1000" b="0">
                          <a:solidFill>
                            <a:srgbClr val="27AE60"/>
                          </a:solidFill>
                        </a:rPr>
                        <a:t>🏆 Best</a:t>
                      </a:r>
                    </a:p>
                  </a:txBody>
                  <a:tcPr>
                    <a:solidFill>
                      <a:srgbClr val="F5F8FA"/>
                    </a:solidFill>
                  </a:tcPr>
                </a:tc>
              </a:tr>
              <a:tr h="280000">
                <a:tc>
                  <a:txBody>
                    <a:bodyPr/>
                    <a:lstStyle/>
                    <a:p>
                      <a:pPr algn="ctr"/>
                      <a:r>
                        <a:rPr sz="1000" b="0">
                          <a:solidFill>
                            <a:srgbClr val="1A1A2E"/>
                          </a:solidFill>
                        </a:rPr>
                        <a:t>ViTAutoEnc</a:t>
                      </a:r>
                    </a:p>
                  </a:txBody>
                  <a:tcPr>
                    <a:solidFill>
                      <a:srgbClr val="E8EEF3"/>
                    </a:solidFill>
                  </a:tcPr>
                </a:tc>
                <a:tc>
                  <a:txBody>
                    <a:bodyPr/>
                    <a:lstStyle/>
                    <a:p>
                      <a:pPr algn="ctr"/>
                      <a:r>
                        <a:rPr sz="1000" b="0">
                          <a:solidFill>
                            <a:srgbClr val="1A1A2E"/>
                          </a:solidFill>
                        </a:rPr>
                        <a:t>1,464</a:t>
                      </a:r>
                    </a:p>
                  </a:txBody>
                  <a:tcPr>
                    <a:solidFill>
                      <a:srgbClr val="E8EEF3"/>
                    </a:solidFill>
                  </a:tcPr>
                </a:tc>
                <a:tc>
                  <a:txBody>
                    <a:bodyPr/>
                    <a:lstStyle/>
                    <a:p>
                      <a:pPr algn="ctr"/>
                      <a:r>
                        <a:rPr sz="1000" b="0">
                          <a:solidFill>
                            <a:srgbClr val="1A1A2E"/>
                          </a:solidFill>
                        </a:rPr>
                        <a:t>4/1000</a:t>
                      </a:r>
                    </a:p>
                  </a:txBody>
                  <a:tcPr>
                    <a:solidFill>
                      <a:srgbClr val="E8EEF3"/>
                    </a:solidFill>
                  </a:tcPr>
                </a:tc>
                <a:tc>
                  <a:txBody>
                    <a:bodyPr/>
                    <a:lstStyle/>
                    <a:p>
                      <a:pPr algn="ctr"/>
                      <a:r>
                        <a:rPr sz="1000" b="0">
                          <a:solidFill>
                            <a:srgbClr val="1A1A2E"/>
                          </a:solidFill>
                        </a:rPr>
                        <a:t>0.544</a:t>
                      </a:r>
                    </a:p>
                  </a:txBody>
                  <a:tcPr>
                    <a:solidFill>
                      <a:srgbClr val="E8EEF3"/>
                    </a:solidFill>
                  </a:tcPr>
                </a:tc>
                <a:tc>
                  <a:txBody>
                    <a:bodyPr/>
                    <a:lstStyle/>
                    <a:p>
                      <a:pPr algn="ctr"/>
                      <a:r>
                        <a:rPr sz="1000" b="0">
                          <a:solidFill>
                            <a:srgbClr val="1A1A2E"/>
                          </a:solidFill>
                        </a:rPr>
                        <a:t>8</a:t>
                      </a:r>
                    </a:p>
                  </a:txBody>
                  <a:tcPr>
                    <a:solidFill>
                      <a:srgbClr val="E8EEF3"/>
                    </a:solidFill>
                  </a:tcPr>
                </a:tc>
                <a:tc>
                  <a:txBody>
                    <a:bodyPr/>
                    <a:lstStyle/>
                    <a:p>
                      <a:pPr algn="ctr"/>
                      <a:r>
                        <a:rPr sz="1000" b="0">
                          <a:solidFill>
                            <a:srgbClr val="1A1A2E"/>
                          </a:solidFill>
                        </a:rPr>
                        <a:t>Running</a:t>
                      </a:r>
                    </a:p>
                  </a:txBody>
                  <a:tcPr>
                    <a:solidFill>
                      <a:srgbClr val="E8EEF3"/>
                    </a:solidFill>
                  </a:tcPr>
                </a:tc>
              </a:tr>
              <a:tr h="280000">
                <a:tc>
                  <a:txBody>
                    <a:bodyPr/>
                    <a:lstStyle/>
                    <a:p>
                      <a:pPr algn="ctr"/>
                      <a:r>
                        <a:rPr sz="1000" b="0">
                          <a:solidFill>
                            <a:srgbClr val="1A1A2E"/>
                          </a:solidFill>
                        </a:rPr>
                        <a:t>SwinUNETR</a:t>
                      </a:r>
                    </a:p>
                  </a:txBody>
                  <a:tcPr>
                    <a:solidFill>
                      <a:srgbClr val="F5F8FA"/>
                    </a:solidFill>
                  </a:tcPr>
                </a:tc>
                <a:tc>
                  <a:txBody>
                    <a:bodyPr/>
                    <a:lstStyle/>
                    <a:p>
                      <a:pPr algn="ctr"/>
                      <a:r>
                        <a:rPr sz="1000" b="0">
                          <a:solidFill>
                            <a:srgbClr val="1A1A2E"/>
                          </a:solidFill>
                        </a:rPr>
                        <a:t>1,448</a:t>
                      </a:r>
                    </a:p>
                  </a:txBody>
                  <a:tcPr>
                    <a:solidFill>
                      <a:srgbClr val="F5F8FA"/>
                    </a:solidFill>
                  </a:tcPr>
                </a:tc>
                <a:tc>
                  <a:txBody>
                    <a:bodyPr/>
                    <a:lstStyle/>
                    <a:p>
                      <a:pPr algn="ctr"/>
                      <a:r>
                        <a:rPr sz="1000" b="0">
                          <a:solidFill>
                            <a:srgbClr val="1A1A2E"/>
                          </a:solidFill>
                        </a:rPr>
                        <a:t>4/1000</a:t>
                      </a:r>
                    </a:p>
                  </a:txBody>
                  <a:tcPr>
                    <a:solidFill>
                      <a:srgbClr val="F5F8FA"/>
                    </a:solidFill>
                  </a:tcPr>
                </a:tc>
                <a:tc>
                  <a:txBody>
                    <a:bodyPr/>
                    <a:lstStyle/>
                    <a:p>
                      <a:pPr algn="ctr"/>
                      <a:r>
                        <a:rPr sz="1000" b="0">
                          <a:solidFill>
                            <a:srgbClr val="1A1A2E"/>
                          </a:solidFill>
                        </a:rPr>
                        <a:t>0.650</a:t>
                      </a:r>
                    </a:p>
                  </a:txBody>
                  <a:tcPr>
                    <a:solidFill>
                      <a:srgbClr val="F5F8FA"/>
                    </a:solidFill>
                  </a:tcPr>
                </a:tc>
                <a:tc>
                  <a:txBody>
                    <a:bodyPr/>
                    <a:lstStyle/>
                    <a:p>
                      <a:pPr algn="ctr"/>
                      <a:r>
                        <a:rPr sz="1000" b="0">
                          <a:solidFill>
                            <a:srgbClr val="1A1A2E"/>
                          </a:solidFill>
                        </a:rPr>
                        <a:t>8</a:t>
                      </a:r>
                    </a:p>
                  </a:txBody>
                  <a:tcPr>
                    <a:solidFill>
                      <a:srgbClr val="F5F8FA"/>
                    </a:solidFill>
                  </a:tcPr>
                </a:tc>
                <a:tc>
                  <a:txBody>
                    <a:bodyPr/>
                    <a:lstStyle/>
                    <a:p>
                      <a:pPr algn="ctr"/>
                      <a:r>
                        <a:rPr sz="1000" b="0">
                          <a:solidFill>
                            <a:srgbClr val="1A1A2E"/>
                          </a:solidFill>
                        </a:rPr>
                        <a:t>Running</a:t>
                      </a:r>
                    </a:p>
                  </a:txBody>
                  <a:tcPr>
                    <a:solidFill>
                      <a:srgbClr val="F5F8FA"/>
                    </a:solidFill>
                  </a:tcPr>
                </a:tc>
              </a:tr>
              <a:tr h="280000">
                <a:tc>
                  <a:txBody>
                    <a:bodyPr/>
                    <a:lstStyle/>
                    <a:p>
                      <a:pPr algn="ctr"/>
                      <a:r>
                        <a:rPr sz="1000" b="0">
                          <a:solidFill>
                            <a:srgbClr val="1A1A2E"/>
                          </a:solidFill>
                        </a:rPr>
                        <a:t>UNet</a:t>
                      </a:r>
                    </a:p>
                  </a:txBody>
                  <a:tcPr>
                    <a:solidFill>
                      <a:srgbClr val="E8EEF3"/>
                    </a:solidFill>
                  </a:tcPr>
                </a:tc>
                <a:tc>
                  <a:txBody>
                    <a:bodyPr/>
                    <a:lstStyle/>
                    <a:p>
                      <a:pPr algn="ctr"/>
                      <a:r>
                        <a:rPr sz="1000" b="0">
                          <a:solidFill>
                            <a:srgbClr val="1A1A2E"/>
                          </a:solidFill>
                        </a:rPr>
                        <a:t>1,472</a:t>
                      </a:r>
                    </a:p>
                  </a:txBody>
                  <a:tcPr>
                    <a:solidFill>
                      <a:srgbClr val="E8EEF3"/>
                    </a:solidFill>
                  </a:tcPr>
                </a:tc>
                <a:tc>
                  <a:txBody>
                    <a:bodyPr/>
                    <a:lstStyle/>
                    <a:p>
                      <a:pPr algn="ctr"/>
                      <a:r>
                        <a:rPr sz="1000" b="0">
                          <a:solidFill>
                            <a:srgbClr val="1A1A2E"/>
                          </a:solidFill>
                        </a:rPr>
                        <a:t>4/1000</a:t>
                      </a:r>
                    </a:p>
                  </a:txBody>
                  <a:tcPr>
                    <a:solidFill>
                      <a:srgbClr val="E8EEF3"/>
                    </a:solidFill>
                  </a:tcPr>
                </a:tc>
                <a:tc>
                  <a:txBody>
                    <a:bodyPr/>
                    <a:lstStyle/>
                    <a:p>
                      <a:pPr algn="ctr"/>
                      <a:r>
                        <a:rPr sz="1000" b="0">
                          <a:solidFill>
                            <a:srgbClr val="1A1A2E"/>
                          </a:solidFill>
                        </a:rPr>
                        <a:t>0.686</a:t>
                      </a:r>
                    </a:p>
                  </a:txBody>
                  <a:tcPr>
                    <a:solidFill>
                      <a:srgbClr val="E8EEF3"/>
                    </a:solidFill>
                  </a:tcPr>
                </a:tc>
                <a:tc>
                  <a:txBody>
                    <a:bodyPr/>
                    <a:lstStyle/>
                    <a:p>
                      <a:pPr algn="ctr"/>
                      <a:r>
                        <a:rPr sz="1000" b="0">
                          <a:solidFill>
                            <a:srgbClr val="1A1A2E"/>
                          </a:solidFill>
                        </a:rPr>
                        <a:t>8</a:t>
                      </a:r>
                    </a:p>
                  </a:txBody>
                  <a:tcPr>
                    <a:solidFill>
                      <a:srgbClr val="E8EEF3"/>
                    </a:solidFill>
                  </a:tcPr>
                </a:tc>
                <a:tc>
                  <a:txBody>
                    <a:bodyPr/>
                    <a:lstStyle/>
                    <a:p>
                      <a:pPr algn="ctr"/>
                      <a:r>
                        <a:rPr sz="1000" b="0">
                          <a:solidFill>
                            <a:srgbClr val="1A1A2E"/>
                          </a:solidFill>
                        </a:rPr>
                        <a:t>Running</a:t>
                      </a:r>
                    </a:p>
                  </a:txBody>
                  <a:tcPr>
                    <a:solidFill>
                      <a:srgbClr val="E8EEF3"/>
                    </a:solidFill>
                  </a:tcPr>
                </a:tc>
              </a:tr>
              <a:tr h="280000">
                <a:tc>
                  <a:txBody>
                    <a:bodyPr/>
                    <a:lstStyle/>
                    <a:p>
                      <a:pPr algn="ctr"/>
                      <a:r>
                        <a:rPr sz="1000" b="0">
                          <a:solidFill>
                            <a:srgbClr val="E67E22"/>
                          </a:solidFill>
                        </a:rPr>
                        <a:t>SegResNetDS†</a:t>
                      </a:r>
                    </a:p>
                  </a:txBody>
                  <a:tcPr>
                    <a:solidFill>
                      <a:srgbClr val="F5F8FA"/>
                    </a:solidFill>
                  </a:tcPr>
                </a:tc>
                <a:tc>
                  <a:txBody>
                    <a:bodyPr/>
                    <a:lstStyle/>
                    <a:p>
                      <a:pPr algn="ctr"/>
                      <a:r>
                        <a:rPr sz="1000" b="0">
                          <a:solidFill>
                            <a:srgbClr val="1A1A2E"/>
                          </a:solidFill>
                        </a:rPr>
                        <a:t>1,256</a:t>
                      </a:r>
                    </a:p>
                  </a:txBody>
                  <a:tcPr>
                    <a:solidFill>
                      <a:srgbClr val="F5F8FA"/>
                    </a:solidFill>
                  </a:tcPr>
                </a:tc>
                <a:tc>
                  <a:txBody>
                    <a:bodyPr/>
                    <a:lstStyle/>
                    <a:p>
                      <a:pPr algn="ctr"/>
                      <a:r>
                        <a:rPr sz="1000" b="0">
                          <a:solidFill>
                            <a:srgbClr val="1A1A2E"/>
                          </a:solidFill>
                        </a:rPr>
                        <a:t>4/1000</a:t>
                      </a:r>
                    </a:p>
                  </a:txBody>
                  <a:tcPr>
                    <a:solidFill>
                      <a:srgbClr val="F5F8FA"/>
                    </a:solidFill>
                  </a:tcPr>
                </a:tc>
                <a:tc>
                  <a:txBody>
                    <a:bodyPr/>
                    <a:lstStyle/>
                    <a:p>
                      <a:pPr algn="ctr"/>
                      <a:r>
                        <a:rPr sz="1000" b="0">
                          <a:solidFill>
                            <a:srgbClr val="E67E22"/>
                          </a:solidFill>
                        </a:rPr>
                        <a:t>0.900</a:t>
                      </a:r>
                    </a:p>
                  </a:txBody>
                  <a:tcPr>
                    <a:solidFill>
                      <a:srgbClr val="F5F8FA"/>
                    </a:solidFill>
                  </a:tcPr>
                </a:tc>
                <a:tc>
                  <a:txBody>
                    <a:bodyPr/>
                    <a:lstStyle/>
                    <a:p>
                      <a:pPr algn="ctr"/>
                      <a:r>
                        <a:rPr sz="1000" b="0">
                          <a:solidFill>
                            <a:srgbClr val="1A1A2E"/>
                          </a:solidFill>
                        </a:rPr>
                        <a:t>8</a:t>
                      </a:r>
                    </a:p>
                  </a:txBody>
                  <a:tcPr>
                    <a:solidFill>
                      <a:srgbClr val="F5F8FA"/>
                    </a:solidFill>
                  </a:tcPr>
                </a:tc>
                <a:tc>
                  <a:txBody>
                    <a:bodyPr/>
                    <a:lstStyle/>
                    <a:p>
                      <a:pPr algn="ctr"/>
                      <a:r>
                        <a:rPr sz="1000" b="0">
                          <a:solidFill>
                            <a:srgbClr val="E67E22"/>
                          </a:solidFill>
                        </a:rPr>
                        <a:t>Late start</a:t>
                      </a:r>
                    </a:p>
                  </a:txBody>
                  <a:tcPr>
                    <a:solidFill>
                      <a:srgbClr val="F5F8FA"/>
                    </a:solidFill>
                  </a:tcPr>
                </a:tc>
              </a:tr>
            </a:tbl>
          </a:graphicData>
        </a:graphic>
      </p:graphicFrame>
      <p:sp>
        <p:nvSpPr>
          <p:cNvPr id="12" name="TextBox 11"/>
          <p:cNvSpPr txBox="1"/>
          <p:nvPr/>
        </p:nvSpPr>
        <p:spPr>
          <a:xfrm>
            <a:off x="6100000" y="3100000"/>
            <a:ext cx="5800000" cy="300000"/>
          </a:xfrm>
          <a:prstGeom prst="rect">
            <a:avLst/>
          </a:prstGeom>
          <a:noFill/>
        </p:spPr>
        <p:txBody>
          <a:bodyPr wrap="square">
            <a:spAutoFit/>
          </a:bodyPr>
          <a:lstStyle/>
          <a:p>
            <a:r>
              <a:rPr sz="800" b="0">
                <a:solidFill>
                  <a:srgbClr val="777788"/>
                </a:solidFill>
              </a:rPr>
              <a:t>†Relaunched with BST loss after DiceBCE incompatibility (see Slide 10)</a:t>
            </a:r>
          </a:p>
        </p:txBody>
      </p:sp>
      <p:sp>
        <p:nvSpPr>
          <p:cNvPr id="13" name="Rounded Rectangle 12"/>
          <p:cNvSpPr/>
          <p:nvPr/>
        </p:nvSpPr>
        <p:spPr>
          <a:xfrm>
            <a:off x="274320" y="3200000"/>
            <a:ext cx="5400000" cy="27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0000" y="3300000"/>
            <a:ext cx="5100000" cy="2500000"/>
          </a:xfrm>
          <a:prstGeom prst="rect">
            <a:avLst/>
          </a:prstGeom>
          <a:noFill/>
        </p:spPr>
        <p:txBody>
          <a:bodyPr wrap="square">
            <a:spAutoFit/>
          </a:bodyPr>
          <a:lstStyle/>
          <a:p>
            <a:r>
              <a:rPr sz="1400" b="1">
                <a:solidFill>
                  <a:srgbClr val="1A1A2E"/>
                </a:solidFill>
              </a:rPr>
              <a:t>Early Observations</a:t>
            </a:r>
          </a:p>
          <a:p>
            <a:pPr>
              <a:spcBef>
                <a:spcPts val="200"/>
              </a:spcBef>
              <a:spcAft>
                <a:spcPts val="200"/>
              </a:spcAft>
            </a:pPr>
          </a:p>
          <a:p>
            <a:r>
              <a:rPr sz="1100" b="1">
                <a:solidFill>
                  <a:srgbClr val="27AE60"/>
                </a:solidFill>
              </a:rPr>
              <a:t>🏆  ResNet-34 leads in both 2D and 3D</a:t>
            </a:r>
          </a:p>
          <a:p>
            <a:r>
              <a:rPr sz="1000" b="0">
                <a:solidFill>
                  <a:srgbClr val="444455"/>
                </a:solidFill>
              </a:rPr>
              <a:t>     Consistent with Phase 1 findings</a:t>
            </a:r>
          </a:p>
          <a:p>
            <a:pPr>
              <a:spcBef>
                <a:spcPts val="200"/>
              </a:spcBef>
              <a:spcAft>
                <a:spcPts val="200"/>
              </a:spcAft>
            </a:pPr>
          </a:p>
          <a:p>
            <a:r>
              <a:rPr sz="1100" b="1">
                <a:solidFill>
                  <a:srgbClr val="E67E22"/>
                </a:solidFill>
              </a:rPr>
              <a:t>⚠  Swin Transformer barely learning (loss 0.84, flat)</a:t>
            </a:r>
          </a:p>
          <a:p>
            <a:r>
              <a:rPr sz="1000" b="0">
                <a:solidFill>
                  <a:srgbClr val="444455"/>
                </a:solidFill>
              </a:rPr>
              <a:t>     17K steps in — not just slow warmup</a:t>
            </a:r>
          </a:p>
          <a:p>
            <a:pPr>
              <a:spcBef>
                <a:spcPts val="200"/>
              </a:spcBef>
              <a:spcAft>
                <a:spcPts val="200"/>
              </a:spcAft>
            </a:pPr>
          </a:p>
          <a:p>
            <a:r>
              <a:rPr sz="1100" b="1">
                <a:solidFill>
                  <a:srgbClr val="C0392B"/>
                </a:solidFill>
              </a:rPr>
              <a:t>✗  ViT 2D crashed at step 0 (CUDA error, 105M params)</a:t>
            </a:r>
          </a:p>
          <a:p>
            <a:r>
              <a:rPr sz="1000" b="0">
                <a:solidFill>
                  <a:srgbClr val="444455"/>
                </a:solidFill>
              </a:rPr>
              <a:t>     Skipped — not critical for ensemble</a:t>
            </a:r>
          </a:p>
          <a:p>
            <a:pPr>
              <a:spcBef>
                <a:spcPts val="200"/>
              </a:spcBef>
              <a:spcAft>
                <a:spcPts val="200"/>
              </a:spcAft>
            </a:pPr>
          </a:p>
          <a:p>
            <a:r>
              <a:rPr sz="1100" b="1">
                <a:solidFill>
                  <a:srgbClr val="2E86C1"/>
                </a:solidFill>
              </a:rPr>
              <a:t>ℹ  3D models at 0.5% of training (4/1000 epochs)</a:t>
            </a:r>
          </a:p>
          <a:p>
            <a:r>
              <a:rPr sz="1000" b="0">
                <a:solidFill>
                  <a:srgbClr val="444455"/>
                </a:solidFill>
              </a:rPr>
              <a:t>     First 3D validation at epoch 30 (~2 more days)</a:t>
            </a:r>
          </a:p>
        </p:txBody>
      </p:sp>
      <p:sp>
        <p:nvSpPr>
          <p:cNvPr id="15" name="Rounded Rectangle 14"/>
          <p:cNvSpPr/>
          <p:nvPr/>
        </p:nvSpPr>
        <p:spPr>
          <a:xfrm>
            <a:off x="6100000" y="3500000"/>
            <a:ext cx="5800000" cy="24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0000" y="3600000"/>
            <a:ext cx="5500000" cy="2200000"/>
          </a:xfrm>
          <a:prstGeom prst="rect">
            <a:avLst/>
          </a:prstGeom>
          <a:noFill/>
        </p:spPr>
        <p:txBody>
          <a:bodyPr wrap="square">
            <a:spAutoFit/>
          </a:bodyPr>
          <a:lstStyle/>
          <a:p>
            <a:r>
              <a:rPr sz="1400" b="1">
                <a:solidFill>
                  <a:srgbClr val="1A1A2E"/>
                </a:solidFill>
              </a:rPr>
              <a:t>Infrastructure Status</a:t>
            </a:r>
          </a:p>
          <a:p>
            <a:pPr>
              <a:spcBef>
                <a:spcPts val="200"/>
              </a:spcBef>
              <a:spcAft>
                <a:spcPts val="200"/>
              </a:spcAft>
            </a:pPr>
          </a:p>
          <a:p>
            <a:r>
              <a:rPr sz="1100" b="1">
                <a:solidFill>
                  <a:srgbClr val="27AE60"/>
                </a:solidFill>
              </a:rPr>
              <a:t>✅  Memory leak resolved (5.6 GB/step → 2 MB/step)</a:t>
            </a:r>
          </a:p>
          <a:p>
            <a:r>
              <a:rPr sz="1100" b="1">
                <a:solidFill>
                  <a:srgbClr val="27AE60"/>
                </a:solidFill>
              </a:rPr>
              <a:t>✅  Batch size 8 (was 2) → 4× throughput</a:t>
            </a:r>
          </a:p>
          <a:p>
            <a:r>
              <a:rPr sz="1100" b="1">
                <a:solidFill>
                  <a:srgbClr val="27AE60"/>
                </a:solidFill>
              </a:rPr>
              <a:t>✅  96³ crop (was 128³) → 2× training data</a:t>
            </a:r>
          </a:p>
          <a:p>
            <a:r>
              <a:rPr sz="1100" b="1">
                <a:solidFill>
                  <a:srgbClr val="27AE60"/>
                </a:solidFill>
              </a:rPr>
              <a:t>✅  All 8 SLURM jobs stable 10+ hours</a:t>
            </a:r>
          </a:p>
          <a:p>
            <a:pPr>
              <a:spcBef>
                <a:spcPts val="200"/>
              </a:spcBef>
              <a:spcAft>
                <a:spcPts val="200"/>
              </a:spcAft>
            </a:pPr>
          </a:p>
          <a:p>
            <a:r>
              <a:rPr sz="1000" b="0">
                <a:solidFill>
                  <a:srgbClr val="444455"/>
                </a:solidFill>
              </a:rPr>
              <a:t>RSS flat at ~9.5 GB / 128 GB allocation</a:t>
            </a:r>
          </a:p>
          <a:p>
            <a:r>
              <a:rPr sz="1000" b="0">
                <a:solidFill>
                  <a:srgbClr val="444455"/>
                </a:solidFill>
              </a:rPr>
              <a:t>L40S VRAM: 10.6 GB used / 48 GB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02920"/>
          </a:xfrm>
          <a:prstGeom prst="rect">
            <a:avLst/>
          </a:prstGeom>
          <a:noFill/>
        </p:spPr>
        <p:txBody>
          <a:bodyPr wrap="square">
            <a:spAutoFit/>
          </a:bodyPr>
          <a:lstStyle/>
          <a:p>
            <a:r>
              <a:rPr sz="2800" b="1">
                <a:solidFill>
                  <a:srgbClr val="1A1A2E"/>
                </a:solidFill>
              </a:rPr>
              <a:t>The 3D Memory Leak: A Three-Layer Bug</a:t>
            </a:r>
          </a:p>
        </p:txBody>
      </p:sp>
      <p:sp>
        <p:nvSpPr>
          <p:cNvPr id="4" name="Rectangle 3"/>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77240"/>
            <a:ext cx="11247120" cy="365760"/>
          </a:xfrm>
          <a:prstGeom prst="rect">
            <a:avLst/>
          </a:prstGeom>
          <a:noFill/>
        </p:spPr>
        <p:txBody>
          <a:bodyPr wrap="square">
            <a:spAutoFit/>
          </a:bodyPr>
          <a:lstStyle/>
          <a:p>
            <a:r>
              <a:rPr sz="1400">
                <a:solidFill>
                  <a:srgbClr val="444455"/>
                </a:solidFill>
              </a:rPr>
              <a:t>3D training consumed 5.6 GB/step — would OOM in minutes. Root cause: three independent leaks stacking.</a:t>
            </a:r>
          </a:p>
        </p:txBody>
      </p:sp>
      <p:pic>
        <p:nvPicPr>
          <p:cNvPr id="6" name="Picture 5" descr="image.png"/>
          <p:cNvPicPr>
            <a:picLocks noChangeAspect="1"/>
          </p:cNvPicPr>
          <p:nvPr/>
        </p:nvPicPr>
        <p:blipFill>
          <a:blip r:embed="rId2"/>
          <a:stretch>
            <a:fillRect/>
          </a:stretch>
        </p:blipFill>
        <p:spPr>
          <a:xfrm>
            <a:off x="10469880" y="6007608"/>
            <a:ext cx="1719072" cy="786384"/>
          </a:xfrm>
          <a:prstGeom prst="rect">
            <a:avLst/>
          </a:prstGeom>
        </p:spPr>
      </p:pic>
      <p:sp>
        <p:nvSpPr>
          <p:cNvPr id="7" name="Rounded Rectangle 6"/>
          <p:cNvSpPr/>
          <p:nvPr/>
        </p:nvSpPr>
        <p:spPr>
          <a:xfrm>
            <a:off x="274320" y="1200000"/>
            <a:ext cx="3700000" cy="22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0000" y="1300000"/>
            <a:ext cx="3400000" cy="2000000"/>
          </a:xfrm>
          <a:prstGeom prst="rect">
            <a:avLst/>
          </a:prstGeom>
          <a:noFill/>
        </p:spPr>
        <p:txBody>
          <a:bodyPr wrap="square">
            <a:spAutoFit/>
          </a:bodyPr>
          <a:lstStyle/>
          <a:p>
            <a:r>
              <a:rPr sz="1200" b="1">
                <a:solidFill>
                  <a:srgbClr val="C0392B"/>
                </a:solidFill>
              </a:rPr>
              <a:t>Layer 1: cellmap-data Cache</a:t>
            </a:r>
          </a:p>
          <a:p>
            <a:pPr>
              <a:spcBef>
                <a:spcPts val="200"/>
              </a:spcBef>
              <a:spcAft>
                <a:spcPts val="200"/>
              </a:spcAft>
            </a:pPr>
          </a:p>
          <a:p>
            <a:r>
              <a:rPr sz="1000" b="0">
                <a:solidFill>
                  <a:srgbClr val="444455"/>
                </a:solidFill>
              </a:rPr>
              <a:t>xarray DataArrays cached per-crop,</a:t>
            </a:r>
          </a:p>
          <a:p>
            <a:r>
              <a:rPr sz="1000" b="0">
                <a:solidFill>
                  <a:srgbClr val="444455"/>
                </a:solidFill>
              </a:rPr>
              <a:t>never evicted. Each 3D crop ≈ 48 MB.</a:t>
            </a:r>
          </a:p>
          <a:p>
            <a:r>
              <a:rPr sz="1000" b="0">
                <a:solidFill>
                  <a:srgbClr val="444455"/>
                </a:solidFill>
              </a:rPr>
              <a:t>152 crops × 48 classes → unbounded.</a:t>
            </a:r>
          </a:p>
          <a:p>
            <a:pPr>
              <a:spcBef>
                <a:spcPts val="200"/>
              </a:spcBef>
              <a:spcAft>
                <a:spcPts val="200"/>
              </a:spcAft>
            </a:pPr>
          </a:p>
          <a:p>
            <a:r>
              <a:rPr sz="1000" b="1">
                <a:solidFill>
                  <a:srgbClr val="27AE60"/>
                </a:solidFill>
              </a:rPr>
              <a:t>Fix: PR #64 to cellmap-data</a:t>
            </a:r>
          </a:p>
          <a:p>
            <a:r>
              <a:rPr sz="1000" b="0">
                <a:solidFill>
                  <a:srgbClr val="444455"/>
                </a:solidFill>
              </a:rPr>
              <a:t>Clears cache after each access.</a:t>
            </a:r>
          </a:p>
          <a:p>
            <a:r>
              <a:rPr sz="1000" b="1">
                <a:solidFill>
                  <a:srgbClr val="27AE60"/>
                </a:solidFill>
              </a:rPr>
              <a:t>Impact: ~3.5 GB/step → 0</a:t>
            </a:r>
          </a:p>
        </p:txBody>
      </p:sp>
      <p:sp>
        <p:nvSpPr>
          <p:cNvPr id="9" name="Rounded Rectangle 8"/>
          <p:cNvSpPr/>
          <p:nvPr/>
        </p:nvSpPr>
        <p:spPr>
          <a:xfrm>
            <a:off x="4200000" y="1200000"/>
            <a:ext cx="3700000" cy="22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0000" y="1300000"/>
            <a:ext cx="3400000" cy="2000000"/>
          </a:xfrm>
          <a:prstGeom prst="rect">
            <a:avLst/>
          </a:prstGeom>
          <a:noFill/>
        </p:spPr>
        <p:txBody>
          <a:bodyPr wrap="square">
            <a:spAutoFit/>
          </a:bodyPr>
          <a:lstStyle/>
          <a:p>
            <a:r>
              <a:rPr sz="1200" b="1">
                <a:solidFill>
                  <a:srgbClr val="C0392B"/>
                </a:solidFill>
              </a:rPr>
              <a:t>Layer 2: _current_coords</a:t>
            </a:r>
          </a:p>
          <a:p>
            <a:pPr>
              <a:spcBef>
                <a:spcPts val="200"/>
              </a:spcBef>
              <a:spcAft>
                <a:spcPts val="200"/>
              </a:spcAft>
            </a:pPr>
          </a:p>
          <a:p>
            <a:r>
              <a:rPr sz="1000" b="0">
                <a:solidFill>
                  <a:srgbClr val="444455"/>
                </a:solidFill>
              </a:rPr>
              <a:t>CellMapMultiDataset stores coords</a:t>
            </a:r>
          </a:p>
          <a:p>
            <a:r>
              <a:rPr sz="1000" b="0">
                <a:solidFill>
                  <a:srgbClr val="444455"/>
                </a:solidFill>
              </a:rPr>
              <a:t>for every crop ever accessed.</a:t>
            </a:r>
          </a:p>
          <a:p>
            <a:r>
              <a:rPr sz="1000" b="0">
                <a:solidFill>
                  <a:srgbClr val="444455"/>
                </a:solidFill>
              </a:rPr>
              <a:t>~48 MB per image per step.</a:t>
            </a:r>
          </a:p>
          <a:p>
            <a:pPr>
              <a:spcBef>
                <a:spcPts val="200"/>
              </a:spcBef>
              <a:spcAft>
                <a:spcPts val="200"/>
              </a:spcAft>
            </a:pPr>
          </a:p>
          <a:p>
            <a:r>
              <a:rPr sz="1000" b="1">
                <a:solidFill>
                  <a:srgbClr val="27AE60"/>
                </a:solidFill>
              </a:rPr>
              <a:t>Fix: Monkey-patch in train.py</a:t>
            </a:r>
          </a:p>
          <a:p>
            <a:r>
              <a:rPr sz="1000" b="0">
                <a:solidFill>
                  <a:srgbClr val="444455"/>
                </a:solidFill>
              </a:rPr>
              <a:t>Clear dict after each step.</a:t>
            </a:r>
          </a:p>
          <a:p>
            <a:r>
              <a:rPr sz="1000" b="1">
                <a:solidFill>
                  <a:srgbClr val="27AE60"/>
                </a:solidFill>
              </a:rPr>
              <a:t>Impact: ~1.6 GB/step → 0</a:t>
            </a:r>
          </a:p>
        </p:txBody>
      </p:sp>
      <p:sp>
        <p:nvSpPr>
          <p:cNvPr id="11" name="Rounded Rectangle 10"/>
          <p:cNvSpPr/>
          <p:nvPr/>
        </p:nvSpPr>
        <p:spPr>
          <a:xfrm>
            <a:off x="8100000" y="1200000"/>
            <a:ext cx="3700000" cy="22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0000" y="1300000"/>
            <a:ext cx="3400000" cy="2000000"/>
          </a:xfrm>
          <a:prstGeom prst="rect">
            <a:avLst/>
          </a:prstGeom>
          <a:noFill/>
        </p:spPr>
        <p:txBody>
          <a:bodyPr wrap="square">
            <a:spAutoFit/>
          </a:bodyPr>
          <a:lstStyle/>
          <a:p>
            <a:r>
              <a:rPr sz="1200" b="1">
                <a:solidFill>
                  <a:srgbClr val="C0392B"/>
                </a:solidFill>
              </a:rPr>
              <a:t>Layer 3: glibc Fragmentation</a:t>
            </a:r>
          </a:p>
          <a:p>
            <a:pPr>
              <a:spcBef>
                <a:spcPts val="200"/>
              </a:spcBef>
              <a:spcAft>
                <a:spcPts val="200"/>
              </a:spcAft>
            </a:pPr>
          </a:p>
          <a:p>
            <a:r>
              <a:rPr sz="1000" b="0">
                <a:solidFill>
                  <a:srgbClr val="444455"/>
                </a:solidFill>
              </a:rPr>
              <a:t>glibc malloc arenas retain freed</a:t>
            </a:r>
          </a:p>
          <a:p>
            <a:r>
              <a:rPr sz="1000" b="0">
                <a:solidFill>
                  <a:srgbClr val="444455"/>
                </a:solidFill>
              </a:rPr>
              <a:t>memory — RSS grew ~940 MB/step</a:t>
            </a:r>
          </a:p>
          <a:p>
            <a:r>
              <a:rPr sz="1000" b="0">
                <a:solidFill>
                  <a:srgbClr val="444455"/>
                </a:solidFill>
              </a:rPr>
              <a:t>even after Python-level fixes.</a:t>
            </a:r>
          </a:p>
          <a:p>
            <a:pPr>
              <a:spcBef>
                <a:spcPts val="200"/>
              </a:spcBef>
              <a:spcAft>
                <a:spcPts val="200"/>
              </a:spcAft>
            </a:pPr>
          </a:p>
          <a:p>
            <a:r>
              <a:rPr sz="1000" b="1">
                <a:solidFill>
                  <a:srgbClr val="27AE60"/>
                </a:solidFill>
              </a:rPr>
              <a:t>Fix: MALLOC_ARENA_MAX=2</a:t>
            </a:r>
          </a:p>
          <a:p>
            <a:r>
              <a:rPr sz="1000" b="0">
                <a:solidFill>
                  <a:srgbClr val="444455"/>
                </a:solidFill>
              </a:rPr>
              <a:t>+ aggressive trim thresholds.</a:t>
            </a:r>
          </a:p>
          <a:p>
            <a:r>
              <a:rPr sz="1000" b="1">
                <a:solidFill>
                  <a:srgbClr val="27AE60"/>
                </a:solidFill>
              </a:rPr>
              <a:t>Impact: 940 MB/step → ~2 MB/step</a:t>
            </a:r>
          </a:p>
        </p:txBody>
      </p:sp>
      <p:sp>
        <p:nvSpPr>
          <p:cNvPr id="13" name="Rounded Rectangle 12"/>
          <p:cNvSpPr/>
          <p:nvPr/>
        </p:nvSpPr>
        <p:spPr>
          <a:xfrm>
            <a:off x="274320" y="3600000"/>
            <a:ext cx="11520000" cy="80000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0000" y="3680000"/>
            <a:ext cx="11200000" cy="650000"/>
          </a:xfrm>
          <a:prstGeom prst="rect">
            <a:avLst/>
          </a:prstGeom>
          <a:noFill/>
        </p:spPr>
        <p:txBody>
          <a:bodyPr wrap="square">
            <a:spAutoFit/>
          </a:bodyPr>
          <a:lstStyle/>
          <a:p>
            <a:r>
              <a:rPr sz="1400" b="1">
                <a:solidFill>
                  <a:srgbClr val="27AE60"/>
                </a:solidFill>
              </a:rPr>
              <a:t>Result: 5.6 GB/step → ~2 MB/step  (2,800× reduction)</a:t>
            </a:r>
          </a:p>
          <a:p>
            <a:r>
              <a:rPr sz="1000" b="0">
                <a:solidFill>
                  <a:srgbClr val="444455"/>
                </a:solidFill>
              </a:rPr>
              <a:t>Before: OOM within 20-30 steps. After: stable 10+ hours (1,400+ steps). Commit 2c4aa84.</a:t>
            </a:r>
          </a:p>
        </p:txBody>
      </p:sp>
      <p:sp>
        <p:nvSpPr>
          <p:cNvPr id="15" name="Rounded Rectangle 14"/>
          <p:cNvSpPr/>
          <p:nvPr/>
        </p:nvSpPr>
        <p:spPr>
          <a:xfrm>
            <a:off x="274320" y="4600000"/>
            <a:ext cx="5600000" cy="13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0000" y="4700000"/>
            <a:ext cx="5300000" cy="1100000"/>
          </a:xfrm>
          <a:prstGeom prst="rect">
            <a:avLst/>
          </a:prstGeom>
          <a:noFill/>
        </p:spPr>
        <p:txBody>
          <a:bodyPr wrap="square">
            <a:spAutoFit/>
          </a:bodyPr>
          <a:lstStyle/>
          <a:p>
            <a:r>
              <a:rPr sz="1200" b="1">
                <a:solidFill>
                  <a:srgbClr val="2E86C1"/>
                </a:solidFill>
              </a:rPr>
              <a:t>Bonus: Crop 128³ → 96³</a:t>
            </a:r>
          </a:p>
          <a:p>
            <a:pPr>
              <a:spcBef>
                <a:spcPts val="200"/>
              </a:spcBef>
              <a:spcAft>
                <a:spcPts val="200"/>
              </a:spcAft>
            </a:pPr>
          </a:p>
          <a:p>
            <a:r>
              <a:rPr sz="1000" b="0">
                <a:solidFill>
                  <a:srgbClr val="444455"/>
                </a:solidFill>
              </a:rPr>
              <a:t>• Many crops have min extent ~680-800nm</a:t>
            </a:r>
          </a:p>
          <a:p>
            <a:r>
              <a:rPr sz="1000" b="0">
                <a:solidFill>
                  <a:srgbClr val="444455"/>
                </a:solidFill>
              </a:rPr>
              <a:t>• 96³ @ 8nm = 768nm: fits nearly all crops</a:t>
            </a:r>
          </a:p>
          <a:p>
            <a:r>
              <a:rPr sz="1000" b="0">
                <a:solidFill>
                  <a:srgbClr val="444455"/>
                </a:solidFill>
              </a:rPr>
              <a:t>• Doubles usable data: 78 → 152 crops</a:t>
            </a:r>
          </a:p>
        </p:txBody>
      </p:sp>
      <p:sp>
        <p:nvSpPr>
          <p:cNvPr id="17" name="Rounded Rectangle 16"/>
          <p:cNvSpPr/>
          <p:nvPr/>
        </p:nvSpPr>
        <p:spPr>
          <a:xfrm>
            <a:off x="6200000" y="4600000"/>
            <a:ext cx="5600000" cy="13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0" y="4700000"/>
            <a:ext cx="5300000" cy="1100000"/>
          </a:xfrm>
          <a:prstGeom prst="rect">
            <a:avLst/>
          </a:prstGeom>
          <a:noFill/>
        </p:spPr>
        <p:txBody>
          <a:bodyPr wrap="square">
            <a:spAutoFit/>
          </a:bodyPr>
          <a:lstStyle/>
          <a:p>
            <a:r>
              <a:rPr sz="1200" b="1">
                <a:solidFill>
                  <a:srgbClr val="2E86C1"/>
                </a:solidFill>
              </a:rPr>
              <a:t>Bonus: Batch 2 → 8 (4× throughput)</a:t>
            </a:r>
          </a:p>
          <a:p>
            <a:pPr>
              <a:spcBef>
                <a:spcPts val="200"/>
              </a:spcBef>
              <a:spcAft>
                <a:spcPts val="200"/>
              </a:spcAft>
            </a:pPr>
          </a:p>
          <a:p>
            <a:r>
              <a:rPr sz="1000" b="0">
                <a:solidFill>
                  <a:srgbClr val="444455"/>
                </a:solidFill>
              </a:rPr>
              <a:t>• L40S: 10.6 GB / 48 GB VRAM (22%)</a:t>
            </a:r>
          </a:p>
          <a:p>
            <a:r>
              <a:rPr sz="1000" b="0">
                <a:solidFill>
                  <a:srgbClr val="444455"/>
                </a:solidFill>
              </a:rPr>
              <a:t>• LR scaled linearly: 1e-4 → 4e-4</a:t>
            </a:r>
          </a:p>
          <a:p>
            <a:r>
              <a:rPr sz="1000" b="0">
                <a:solidFill>
                  <a:srgbClr val="444455"/>
                </a:solidFill>
              </a:rPr>
              <a:t>• num_workers=4 safe (was leak source)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02920"/>
          </a:xfrm>
          <a:prstGeom prst="rect">
            <a:avLst/>
          </a:prstGeom>
          <a:noFill/>
        </p:spPr>
        <p:txBody>
          <a:bodyPr wrap="square">
            <a:spAutoFit/>
          </a:bodyPr>
          <a:lstStyle/>
          <a:p>
            <a:r>
              <a:rPr sz="2800" b="1">
                <a:solidFill>
                  <a:srgbClr val="1A1A2E"/>
                </a:solidFill>
              </a:rPr>
              <a:t>Discovery: SegResNetDS + DiceBCE Incompatibility</a:t>
            </a:r>
          </a:p>
        </p:txBody>
      </p:sp>
      <p:sp>
        <p:nvSpPr>
          <p:cNvPr id="4" name="Rectangle 3"/>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70000"/>
            <a:ext cx="11247120" cy="250000"/>
          </a:xfrm>
          <a:prstGeom prst="rect">
            <a:avLst/>
          </a:prstGeom>
          <a:noFill/>
        </p:spPr>
        <p:txBody>
          <a:bodyPr wrap="square">
            <a:spAutoFit/>
          </a:bodyPr>
          <a:lstStyle/>
          <a:p>
            <a:r>
              <a:rPr sz="1200">
                <a:solidFill>
                  <a:srgbClr val="444455"/>
                </a:solidFill>
              </a:rPr>
              <a:t>SegResNet loss 18× higher than other models — a mathematical incompatibility, not a training failure</a:t>
            </a:r>
          </a:p>
        </p:txBody>
      </p:sp>
      <p:pic>
        <p:nvPicPr>
          <p:cNvPr id="6" name="Picture 5" descr="image.png"/>
          <p:cNvPicPr>
            <a:picLocks noChangeAspect="1"/>
          </p:cNvPicPr>
          <p:nvPr/>
        </p:nvPicPr>
        <p:blipFill>
          <a:blip r:embed="rId2"/>
          <a:stretch>
            <a:fillRect/>
          </a:stretch>
        </p:blipFill>
        <p:spPr>
          <a:xfrm>
            <a:off x="10469880" y="6007608"/>
            <a:ext cx="1719072" cy="786384"/>
          </a:xfrm>
          <a:prstGeom prst="rect">
            <a:avLst/>
          </a:prstGeom>
        </p:spPr>
      </p:pic>
      <p:sp>
        <p:nvSpPr>
          <p:cNvPr id="7" name="Rounded Rectangle 6"/>
          <p:cNvSpPr/>
          <p:nvPr/>
        </p:nvSpPr>
        <p:spPr>
          <a:xfrm>
            <a:off x="274320" y="930000"/>
            <a:ext cx="5700000" cy="350000"/>
          </a:xfrm>
          <a:prstGeom prst="roundRect">
            <a:avLst/>
          </a:prstGeom>
          <a:solidFill>
            <a:srgbClr val="FA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0000" y="950000"/>
            <a:ext cx="5400000" cy="300000"/>
          </a:xfrm>
          <a:prstGeom prst="rect">
            <a:avLst/>
          </a:prstGeom>
          <a:noFill/>
        </p:spPr>
        <p:txBody>
          <a:bodyPr wrap="square">
            <a:spAutoFit/>
          </a:bodyPr>
          <a:lstStyle/>
          <a:p>
            <a:r>
              <a:rPr sz="1400" b="1">
                <a:solidFill>
                  <a:srgbClr val="C0392B"/>
                </a:solidFill>
              </a:rPr>
              <a:t>✗  The Problem: BCE + Deep Supervision</a:t>
            </a:r>
          </a:p>
        </p:txBody>
      </p:sp>
      <p:sp>
        <p:nvSpPr>
          <p:cNvPr id="9" name="TextBox 8"/>
          <p:cNvSpPr txBox="1"/>
          <p:nvPr/>
        </p:nvSpPr>
        <p:spPr>
          <a:xfrm>
            <a:off x="430000" y="1330000"/>
            <a:ext cx="5400000" cy="350000"/>
          </a:xfrm>
          <a:prstGeom prst="rect">
            <a:avLst/>
          </a:prstGeom>
          <a:noFill/>
        </p:spPr>
        <p:txBody>
          <a:bodyPr wrap="square">
            <a:spAutoFit/>
          </a:bodyPr>
          <a:lstStyle/>
          <a:p>
            <a:r>
              <a:rPr sz="1000" b="0">
                <a:solidFill>
                  <a:srgbClr val="1A1A2E"/>
                </a:solidFill>
              </a:rPr>
              <a:t>Deep supervision → auxiliary heads output raw logits (magnitude 10–20)</a:t>
            </a:r>
          </a:p>
          <a:p>
            <a:r>
              <a:rPr sz="1000" b="1">
                <a:solidFill>
                  <a:srgbClr val="1A1A2E"/>
                </a:solidFill>
              </a:rPr>
              <a:t>BCE loss on raw logits:</a:t>
            </a:r>
          </a:p>
        </p:txBody>
      </p:sp>
      <p:pic>
        <p:nvPicPr>
          <p:cNvPr id="10" name="Picture 9" descr="eq1_bce.png"/>
          <p:cNvPicPr>
            <a:picLocks noChangeAspect="1"/>
          </p:cNvPicPr>
          <p:nvPr/>
        </p:nvPicPr>
        <p:blipFill>
          <a:blip r:embed="rId4"/>
          <a:stretch>
            <a:fillRect/>
          </a:stretch>
        </p:blipFill>
        <p:spPr>
          <a:xfrm>
            <a:off x="380000" y="1720000"/>
            <a:ext cx="5300000" cy="350000"/>
          </a:xfrm>
          <a:prstGeom prst="rect">
            <a:avLst/>
          </a:prstGeom>
        </p:spPr>
      </p:pic>
      <p:sp>
        <p:nvSpPr>
          <p:cNvPr id="11" name="TextBox 10"/>
          <p:cNvSpPr txBox="1"/>
          <p:nvPr/>
        </p:nvSpPr>
        <p:spPr>
          <a:xfrm>
            <a:off x="430000" y="2100000"/>
            <a:ext cx="5400000" cy="220000"/>
          </a:xfrm>
          <a:prstGeom prst="rect">
            <a:avLst/>
          </a:prstGeom>
          <a:noFill/>
        </p:spPr>
        <p:txBody>
          <a:bodyPr wrap="square">
            <a:spAutoFit/>
          </a:bodyPr>
          <a:lstStyle/>
          <a:p>
            <a:r>
              <a:rPr sz="1000" b="1">
                <a:solidFill>
                  <a:srgbClr val="1A1A2E"/>
                </a:solidFill>
              </a:rPr>
              <a:t>When target = 0  (background, 99.9% of voxels):</a:t>
            </a:r>
          </a:p>
        </p:txBody>
      </p:sp>
      <p:pic>
        <p:nvPicPr>
          <p:cNvPr id="12" name="Picture 11" descr="eq2_t0.png"/>
          <p:cNvPicPr>
            <a:picLocks noChangeAspect="1"/>
          </p:cNvPicPr>
          <p:nvPr/>
        </p:nvPicPr>
        <p:blipFill>
          <a:blip r:embed="rId5"/>
          <a:stretch>
            <a:fillRect/>
          </a:stretch>
        </p:blipFill>
        <p:spPr>
          <a:xfrm>
            <a:off x="380000" y="2320000"/>
            <a:ext cx="5200000" cy="300000"/>
          </a:xfrm>
          <a:prstGeom prst="rect">
            <a:avLst/>
          </a:prstGeom>
        </p:spPr>
      </p:pic>
      <p:pic>
        <p:nvPicPr>
          <p:cNvPr id="13" name="Picture 12" descr="eq3_consequence.png"/>
          <p:cNvPicPr>
            <a:picLocks noChangeAspect="1"/>
          </p:cNvPicPr>
          <p:nvPr/>
        </p:nvPicPr>
        <p:blipFill>
          <a:blip r:embed="rId6"/>
          <a:stretch>
            <a:fillRect/>
          </a:stretch>
        </p:blipFill>
        <p:spPr>
          <a:xfrm>
            <a:off x="380000" y="2650000"/>
            <a:ext cx="4800000" cy="350000"/>
          </a:xfrm>
          <a:prstGeom prst="rect">
            <a:avLst/>
          </a:prstGeom>
        </p:spPr>
      </p:pic>
      <p:sp>
        <p:nvSpPr>
          <p:cNvPr id="14" name="Rounded Rectangle 13"/>
          <p:cNvSpPr/>
          <p:nvPr/>
        </p:nvSpPr>
        <p:spPr>
          <a:xfrm>
            <a:off x="274320" y="3080000"/>
            <a:ext cx="5700000" cy="45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000" y="3100000"/>
            <a:ext cx="5400000" cy="400000"/>
          </a:xfrm>
          <a:prstGeom prst="rect">
            <a:avLst/>
          </a:prstGeom>
          <a:noFill/>
        </p:spPr>
        <p:txBody>
          <a:bodyPr wrap="square">
            <a:spAutoFit/>
          </a:bodyPr>
          <a:lstStyle/>
          <a:p>
            <a:r>
              <a:rPr sz="1000" b="1">
                <a:solidFill>
                  <a:srgbClr val="E67E22"/>
                </a:solidFill>
              </a:rPr>
              <a:t>⚠  Phase 1 had the same issue — undiagnosed:</a:t>
            </a:r>
          </a:p>
          <a:p>
            <a:r>
              <a:rPr sz="900" b="0">
                <a:solidFill>
                  <a:srgbClr val="E67E22"/>
                </a:solidFill>
              </a:rPr>
              <a:t>   arch_3d_segresnet: loss stuck at 7–10 for the entire run</a:t>
            </a:r>
          </a:p>
        </p:txBody>
      </p:sp>
      <p:pic>
        <p:nvPicPr>
          <p:cNvPr id="16" name="Picture 15" descr="eq4_compare.png"/>
          <p:cNvPicPr>
            <a:picLocks noChangeAspect="1"/>
          </p:cNvPicPr>
          <p:nvPr/>
        </p:nvPicPr>
        <p:blipFill>
          <a:blip r:embed="rId7"/>
          <a:stretch>
            <a:fillRect/>
          </a:stretch>
        </p:blipFill>
        <p:spPr>
          <a:xfrm>
            <a:off x="380000" y="3600000"/>
            <a:ext cx="5300000" cy="300000"/>
          </a:xfrm>
          <a:prstGeom prst="rect">
            <a:avLst/>
          </a:prstGeom>
        </p:spPr>
      </p:pic>
      <p:sp>
        <p:nvSpPr>
          <p:cNvPr id="17" name="Rounded Rectangle 16"/>
          <p:cNvSpPr/>
          <p:nvPr/>
        </p:nvSpPr>
        <p:spPr>
          <a:xfrm>
            <a:off x="6200000" y="930000"/>
            <a:ext cx="5600000" cy="35000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0" y="950000"/>
            <a:ext cx="5300000" cy="300000"/>
          </a:xfrm>
          <a:prstGeom prst="rect">
            <a:avLst/>
          </a:prstGeom>
          <a:noFill/>
        </p:spPr>
        <p:txBody>
          <a:bodyPr wrap="square">
            <a:spAutoFit/>
          </a:bodyPr>
          <a:lstStyle/>
          <a:p>
            <a:r>
              <a:rPr sz="1400" b="1">
                <a:solidFill>
                  <a:srgbClr val="27AE60"/>
                </a:solidFill>
              </a:rPr>
              <a:t>✓  The Fix: Balanced Softmax Tversky (BST)</a:t>
            </a:r>
          </a:p>
        </p:txBody>
      </p:sp>
      <p:sp>
        <p:nvSpPr>
          <p:cNvPr id="19" name="TextBox 18"/>
          <p:cNvSpPr txBox="1"/>
          <p:nvPr/>
        </p:nvSpPr>
        <p:spPr>
          <a:xfrm>
            <a:off x="6350000" y="1330000"/>
            <a:ext cx="5300000" cy="250000"/>
          </a:xfrm>
          <a:prstGeom prst="rect">
            <a:avLst/>
          </a:prstGeom>
          <a:noFill/>
        </p:spPr>
        <p:txBody>
          <a:bodyPr wrap="square">
            <a:spAutoFit/>
          </a:bodyPr>
          <a:lstStyle/>
          <a:p>
            <a:r>
              <a:rPr sz="1000" b="0">
                <a:solidFill>
                  <a:srgbClr val="1A1A2E"/>
                </a:solidFill>
              </a:rPr>
              <a:t>BST operates in probability space — bounded by design:</a:t>
            </a:r>
          </a:p>
        </p:txBody>
      </p:sp>
      <p:pic>
        <p:nvPicPr>
          <p:cNvPr id="20" name="Picture 19" descr="eq5_bst.png"/>
          <p:cNvPicPr>
            <a:picLocks noChangeAspect="1"/>
          </p:cNvPicPr>
          <p:nvPr/>
        </p:nvPicPr>
        <p:blipFill>
          <a:blip r:embed="rId8"/>
          <a:stretch>
            <a:fillRect/>
          </a:stretch>
        </p:blipFill>
        <p:spPr>
          <a:xfrm>
            <a:off x="6250000" y="1600000"/>
            <a:ext cx="5200000" cy="500000"/>
          </a:xfrm>
          <a:prstGeom prst="rect">
            <a:avLst/>
          </a:prstGeom>
        </p:spPr>
      </p:pic>
      <p:sp>
        <p:nvSpPr>
          <p:cNvPr id="21" name="TextBox 20"/>
          <p:cNvSpPr txBox="1"/>
          <p:nvPr/>
        </p:nvSpPr>
        <p:spPr>
          <a:xfrm>
            <a:off x="6350000" y="2150000"/>
            <a:ext cx="5300000" cy="200000"/>
          </a:xfrm>
          <a:prstGeom prst="rect">
            <a:avLst/>
          </a:prstGeom>
          <a:noFill/>
        </p:spPr>
        <p:txBody>
          <a:bodyPr wrap="square">
            <a:spAutoFit/>
          </a:bodyPr>
          <a:lstStyle/>
          <a:p>
            <a:r>
              <a:rPr sz="1000" b="1">
                <a:solidFill>
                  <a:srgbClr val="1A1A2E"/>
                </a:solidFill>
              </a:rPr>
              <a:t>Key: inputs are mapped through sigmoid first:</a:t>
            </a:r>
          </a:p>
        </p:txBody>
      </p:sp>
      <p:pic>
        <p:nvPicPr>
          <p:cNvPr id="22" name="Picture 21" descr="eq6_sigmoid.png"/>
          <p:cNvPicPr>
            <a:picLocks noChangeAspect="1"/>
          </p:cNvPicPr>
          <p:nvPr/>
        </p:nvPicPr>
        <p:blipFill>
          <a:blip r:embed="rId9"/>
          <a:stretch>
            <a:fillRect/>
          </a:stretch>
        </p:blipFill>
        <p:spPr>
          <a:xfrm>
            <a:off x="6250000" y="2380000"/>
            <a:ext cx="5200000" cy="420000"/>
          </a:xfrm>
          <a:prstGeom prst="rect">
            <a:avLst/>
          </a:prstGeom>
        </p:spPr>
      </p:pic>
      <p:sp>
        <p:nvSpPr>
          <p:cNvPr id="23" name="Rounded Rectangle 22"/>
          <p:cNvSpPr/>
          <p:nvPr/>
        </p:nvSpPr>
        <p:spPr>
          <a:xfrm>
            <a:off x="6200000" y="2880000"/>
            <a:ext cx="5600000" cy="6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0" y="2920000"/>
            <a:ext cx="5300000" cy="520000"/>
          </a:xfrm>
          <a:prstGeom prst="rect">
            <a:avLst/>
          </a:prstGeom>
          <a:noFill/>
        </p:spPr>
        <p:txBody>
          <a:bodyPr wrap="square">
            <a:spAutoFit/>
          </a:bodyPr>
          <a:lstStyle/>
          <a:p>
            <a:r>
              <a:rPr sz="1000" b="1">
                <a:solidFill>
                  <a:srgbClr val="1A1A2E"/>
                </a:solidFill>
              </a:rPr>
              <a:t>BST properties:</a:t>
            </a:r>
          </a:p>
          <a:p>
            <a:r>
              <a:rPr sz="900" b="0">
                <a:solidFill>
                  <a:srgbClr val="444455"/>
                </a:solidFill>
              </a:rPr>
              <a:t>• Bounded [0,1] regardless of logit magnitude  • α/β weighting for FP/FN tradeoff</a:t>
            </a:r>
          </a:p>
          <a:p>
            <a:r>
              <a:rPr sz="900" b="0">
                <a:solidFill>
                  <a:srgbClr val="444455"/>
                </a:solidFill>
              </a:rPr>
              <a:t>• Per-class softmax rebalancing  • Compatible with deep supervision ✓</a:t>
            </a:r>
          </a:p>
        </p:txBody>
      </p:sp>
      <p:sp>
        <p:nvSpPr>
          <p:cNvPr id="25" name="Rounded Rectangle 24"/>
          <p:cNvSpPr/>
          <p:nvPr/>
        </p:nvSpPr>
        <p:spPr>
          <a:xfrm>
            <a:off x="6200000" y="3560000"/>
            <a:ext cx="5600000" cy="40000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0" y="3580000"/>
            <a:ext cx="5300000" cy="350000"/>
          </a:xfrm>
          <a:prstGeom prst="rect">
            <a:avLst/>
          </a:prstGeom>
          <a:noFill/>
        </p:spPr>
        <p:txBody>
          <a:bodyPr wrap="square">
            <a:spAutoFit/>
          </a:bodyPr>
          <a:lstStyle/>
          <a:p>
            <a:r>
              <a:rPr sz="1100" b="1">
                <a:solidFill>
                  <a:srgbClr val="27AE60"/>
                </a:solidFill>
              </a:rPr>
              <a:t>Proof it works:</a:t>
            </a:r>
          </a:p>
        </p:txBody>
      </p:sp>
      <p:pic>
        <p:nvPicPr>
          <p:cNvPr id="27" name="Picture 26" descr="eq7_phase1.png"/>
          <p:cNvPicPr>
            <a:picLocks noChangeAspect="1"/>
          </p:cNvPicPr>
          <p:nvPr/>
        </p:nvPicPr>
        <p:blipFill>
          <a:blip r:embed="rId10"/>
          <a:stretch>
            <a:fillRect/>
          </a:stretch>
        </p:blipFill>
        <p:spPr>
          <a:xfrm>
            <a:off x="6250000" y="3780000"/>
            <a:ext cx="4500000" cy="280000"/>
          </a:xfrm>
          <a:prstGeom prst="rect">
            <a:avLst/>
          </a:prstGeom>
        </p:spPr>
      </p:pic>
      <p:pic>
        <p:nvPicPr>
          <p:cNvPr id="28" name="Picture 27" descr="eq8_phase2.png"/>
          <p:cNvPicPr>
            <a:picLocks noChangeAspect="1"/>
          </p:cNvPicPr>
          <p:nvPr/>
        </p:nvPicPr>
        <p:blipFill>
          <a:blip r:embed="rId11"/>
          <a:stretch>
            <a:fillRect/>
          </a:stretch>
        </p:blipFill>
        <p:spPr>
          <a:xfrm>
            <a:off x="6250000" y="4080000"/>
            <a:ext cx="4500000" cy="280000"/>
          </a:xfrm>
          <a:prstGeom prst="rect">
            <a:avLst/>
          </a:prstGeom>
        </p:spPr>
      </p:pic>
      <p:sp>
        <p:nvSpPr>
          <p:cNvPr id="29" name="Rounded Rectangle 28"/>
          <p:cNvSpPr/>
          <p:nvPr/>
        </p:nvSpPr>
        <p:spPr>
          <a:xfrm>
            <a:off x="274320" y="4500000"/>
            <a:ext cx="11520000" cy="500000"/>
          </a:xfrm>
          <a:prstGeom prst="roundRect">
            <a:avLst/>
          </a:prstGeom>
          <a:solidFill>
            <a:srgbClr val="2E4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0000" y="4530000"/>
            <a:ext cx="11200000" cy="440000"/>
          </a:xfrm>
          <a:prstGeom prst="rect">
            <a:avLst/>
          </a:prstGeom>
          <a:noFill/>
        </p:spPr>
        <p:txBody>
          <a:bodyPr wrap="square">
            <a:spAutoFit/>
          </a:bodyPr>
          <a:lstStyle/>
          <a:p>
            <a:r>
              <a:rPr sz="1300" b="1">
                <a:solidFill>
                  <a:srgbClr val="FFFFFF"/>
                </a:solidFill>
              </a:rPr>
              <a:t>Lesson: Not all losses are architecture-agnostic</a:t>
            </a:r>
          </a:p>
          <a:p>
            <a:r>
              <a:rPr sz="900" b="0">
                <a:solidFill>
                  <a:srgbClr val="CCDDEE"/>
                </a:solidFill>
              </a:rPr>
              <a:t>Deep supervision produces multi-scale raw logits. Losses on logits (BCE) are unbounded. Losses in probability space (Tversky, Dice, Focal) are safe.</a:t>
            </a:r>
          </a:p>
        </p:txBody>
      </p:sp>
      <p:sp>
        <p:nvSpPr>
          <p:cNvPr id="31" name="Rounded Rectangle 30"/>
          <p:cNvSpPr/>
          <p:nvPr/>
        </p:nvSpPr>
        <p:spPr>
          <a:xfrm>
            <a:off x="274320" y="5100000"/>
            <a:ext cx="11520000" cy="500000"/>
          </a:xfrm>
          <a:prstGeom prst="roundRect">
            <a:avLst/>
          </a:prstGeom>
          <a:solidFill>
            <a:srgbClr val="E8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0000" y="5130000"/>
            <a:ext cx="11200000" cy="430000"/>
          </a:xfrm>
          <a:prstGeom prst="rect">
            <a:avLst/>
          </a:prstGeom>
          <a:noFill/>
        </p:spPr>
        <p:txBody>
          <a:bodyPr wrap="square">
            <a:spAutoFit/>
          </a:bodyPr>
          <a:lstStyle/>
          <a:p>
            <a:r>
              <a:rPr sz="1100" b="1">
                <a:solidFill>
                  <a:srgbClr val="1A1A2E"/>
                </a:solidFill>
              </a:rPr>
              <a:t>Timeline</a:t>
            </a:r>
          </a:p>
          <a:p>
            <a:r>
              <a:rPr sz="800" b="0">
                <a:solidFill>
                  <a:srgbClr val="444455"/>
                </a:solidFill>
              </a:rPr>
              <a:t>Feb 27 10PM: launched with DiceBCE  →  Feb 28 8AM: TensorBoard shows loss = 9.1  →  9AM: root cause identified  →  relaunched with BST  →  10AM: loss = 0.90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02920"/>
          </a:xfrm>
          <a:prstGeom prst="rect">
            <a:avLst/>
          </a:prstGeom>
          <a:noFill/>
        </p:spPr>
        <p:txBody>
          <a:bodyPr wrap="square">
            <a:spAutoFit/>
          </a:bodyPr>
          <a:lstStyle/>
          <a:p>
            <a:r>
              <a:rPr sz="2800" b="1">
                <a:solidFill>
                  <a:srgbClr val="1A1A2E"/>
                </a:solidFill>
              </a:rPr>
              <a:t>What's Next: Updated Timeline</a:t>
            </a:r>
          </a:p>
        </p:txBody>
      </p:sp>
      <p:sp>
        <p:nvSpPr>
          <p:cNvPr id="4" name="Rectangle 3"/>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10469880" y="6007608"/>
            <a:ext cx="1719072" cy="786384"/>
          </a:xfrm>
          <a:prstGeom prst="rect">
            <a:avLst/>
          </a:prstGeom>
        </p:spPr>
      </p:pic>
      <p:sp>
        <p:nvSpPr>
          <p:cNvPr id="6" name="Rounded Rectangle 5"/>
          <p:cNvSpPr/>
          <p:nvPr/>
        </p:nvSpPr>
        <p:spPr>
          <a:xfrm>
            <a:off x="274320" y="800000"/>
            <a:ext cx="5600000" cy="25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0000" y="900000"/>
            <a:ext cx="5300000" cy="2300000"/>
          </a:xfrm>
          <a:prstGeom prst="rect">
            <a:avLst/>
          </a:prstGeom>
          <a:noFill/>
        </p:spPr>
        <p:txBody>
          <a:bodyPr wrap="square">
            <a:spAutoFit/>
          </a:bodyPr>
          <a:lstStyle/>
          <a:p>
            <a:r>
              <a:rPr sz="1600" b="1">
                <a:solidFill>
                  <a:srgbClr val="27AE60"/>
                </a:solidFill>
              </a:rPr>
              <a:t>✅  Completed</a:t>
            </a:r>
          </a:p>
          <a:p>
            <a:pPr>
              <a:spcBef>
                <a:spcPts val="200"/>
              </a:spcBef>
              <a:spcAft>
                <a:spcPts val="200"/>
              </a:spcAft>
            </a:pPr>
          </a:p>
          <a:p>
            <a:r>
              <a:rPr sz="1100" b="1">
                <a:solidFill>
                  <a:srgbClr val="1A1A2E"/>
                </a:solidFill>
              </a:rPr>
              <a:t>✓  Memory leak fix (commit 2c4aa84)</a:t>
            </a:r>
          </a:p>
          <a:p>
            <a:r>
              <a:rPr sz="900" b="0">
                <a:solidFill>
                  <a:srgbClr val="444455"/>
                </a:solidFill>
              </a:rPr>
              <a:t>     Three-layer fix: cellmap-data PR#64 + monkey-patch + glibc tuning</a:t>
            </a:r>
          </a:p>
          <a:p>
            <a:pPr>
              <a:spcBef>
                <a:spcPts val="200"/>
              </a:spcBef>
              <a:spcAft>
                <a:spcPts val="200"/>
              </a:spcAft>
            </a:pPr>
          </a:p>
          <a:p>
            <a:r>
              <a:rPr sz="1100" b="1">
                <a:solidFill>
                  <a:srgbClr val="1A1A2E"/>
                </a:solidFill>
              </a:rPr>
              <a:t>✓  Phase 2 launched (8 of 9 models running)</a:t>
            </a:r>
          </a:p>
          <a:p>
            <a:r>
              <a:rPr sz="900" b="0">
                <a:solidFill>
                  <a:srgbClr val="444455"/>
                </a:solidFill>
              </a:rPr>
              <a:t>     5×3D + 3×2D on L40S, batch=8, linear LR scaling</a:t>
            </a:r>
          </a:p>
          <a:p>
            <a:pPr>
              <a:spcBef>
                <a:spcPts val="200"/>
              </a:spcBef>
              <a:spcAft>
                <a:spcPts val="200"/>
              </a:spcAft>
            </a:pPr>
          </a:p>
          <a:p>
            <a:r>
              <a:rPr sz="1100" b="1">
                <a:solidFill>
                  <a:srgbClr val="1A1A2E"/>
                </a:solidFill>
              </a:rPr>
              <a:t>✓  SegResNet/DiceBCE incompatibility fixed</a:t>
            </a:r>
          </a:p>
          <a:p>
            <a:r>
              <a:rPr sz="900" b="0">
                <a:solidFill>
                  <a:srgbClr val="444455"/>
                </a:solidFill>
              </a:rPr>
              <a:t>     Relaunched with Balanced Softmax Tversky</a:t>
            </a:r>
          </a:p>
          <a:p>
            <a:pPr>
              <a:spcBef>
                <a:spcPts val="200"/>
              </a:spcBef>
              <a:spcAft>
                <a:spcPts val="200"/>
              </a:spcAft>
            </a:pPr>
          </a:p>
          <a:p>
            <a:r>
              <a:rPr sz="1100" b="1">
                <a:solidFill>
                  <a:srgbClr val="1A1A2E"/>
                </a:solidFill>
              </a:rPr>
              <a:t>✓  Memory stable 10+ hours, no OOM</a:t>
            </a:r>
          </a:p>
          <a:p>
            <a:r>
              <a:rPr sz="900" b="0">
                <a:solidFill>
                  <a:srgbClr val="444455"/>
                </a:solidFill>
              </a:rPr>
              <a:t>     RSS flat at ~9.5 GB across all 8 jobs</a:t>
            </a:r>
          </a:p>
        </p:txBody>
      </p:sp>
      <p:sp>
        <p:nvSpPr>
          <p:cNvPr id="8" name="Rounded Rectangle 7"/>
          <p:cNvSpPr/>
          <p:nvPr/>
        </p:nvSpPr>
        <p:spPr>
          <a:xfrm>
            <a:off x="6200000" y="800000"/>
            <a:ext cx="5600000" cy="25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0" y="900000"/>
            <a:ext cx="5300000" cy="2300000"/>
          </a:xfrm>
          <a:prstGeom prst="rect">
            <a:avLst/>
          </a:prstGeom>
          <a:noFill/>
        </p:spPr>
        <p:txBody>
          <a:bodyPr wrap="square">
            <a:spAutoFit/>
          </a:bodyPr>
          <a:lstStyle/>
          <a:p>
            <a:r>
              <a:rPr sz="1600" b="1">
                <a:solidFill>
                  <a:srgbClr val="E67E22"/>
                </a:solidFill>
              </a:rPr>
              <a:t>⏳  Upcoming</a:t>
            </a:r>
          </a:p>
          <a:p>
            <a:pPr>
              <a:spcBef>
                <a:spcPts val="200"/>
              </a:spcBef>
              <a:spcAft>
                <a:spcPts val="200"/>
              </a:spcAft>
            </a:pPr>
          </a:p>
          <a:p>
            <a:r>
              <a:rPr sz="1100" b="1">
                <a:solidFill>
                  <a:srgbClr val="1A1A2E"/>
                </a:solidFill>
              </a:rPr>
              <a:t>~12 hours — First 2D validation Dice</a:t>
            </a:r>
          </a:p>
          <a:p>
            <a:r>
              <a:rPr sz="900" b="0">
                <a:solidFill>
                  <a:srgbClr val="444455"/>
                </a:solidFill>
              </a:rPr>
              <a:t>     2D models reach epoch 30</a:t>
            </a:r>
          </a:p>
          <a:p>
            <a:pPr>
              <a:spcBef>
                <a:spcPts val="200"/>
              </a:spcBef>
              <a:spcAft>
                <a:spcPts val="200"/>
              </a:spcAft>
            </a:pPr>
          </a:p>
          <a:p>
            <a:r>
              <a:rPr sz="1100" b="1">
                <a:solidFill>
                  <a:srgbClr val="1A1A2E"/>
                </a:solidFill>
              </a:rPr>
              <a:t>~2 days — 2D training complete</a:t>
            </a:r>
          </a:p>
          <a:p>
            <a:r>
              <a:rPr sz="900" b="0">
                <a:solidFill>
                  <a:srgbClr val="444455"/>
                </a:solidFill>
              </a:rPr>
              <a:t>     3 models finish 100 epochs (100K steps)</a:t>
            </a:r>
          </a:p>
          <a:p>
            <a:pPr>
              <a:spcBef>
                <a:spcPts val="200"/>
              </a:spcBef>
              <a:spcAft>
                <a:spcPts val="200"/>
              </a:spcAft>
            </a:pPr>
          </a:p>
          <a:p>
            <a:r>
              <a:rPr sz="1100" b="1">
                <a:solidFill>
                  <a:srgbClr val="1A1A2E"/>
                </a:solidFill>
              </a:rPr>
              <a:t>~2 days — First 3D validation Dice</a:t>
            </a:r>
          </a:p>
          <a:p>
            <a:r>
              <a:rPr sz="900" b="0">
                <a:solidFill>
                  <a:srgbClr val="444455"/>
                </a:solidFill>
              </a:rPr>
              <a:t>     3D models reach epoch 30</a:t>
            </a:r>
          </a:p>
          <a:p>
            <a:pPr>
              <a:spcBef>
                <a:spcPts val="200"/>
              </a:spcBef>
              <a:spcAft>
                <a:spcPts val="200"/>
              </a:spcAft>
            </a:pPr>
          </a:p>
          <a:p>
            <a:r>
              <a:rPr sz="1100" b="1">
                <a:solidFill>
                  <a:srgbClr val="1A1A2E"/>
                </a:solidFill>
              </a:rPr>
              <a:t>~10-13 days — 3D training complete</a:t>
            </a:r>
          </a:p>
          <a:p>
            <a:r>
              <a:rPr sz="900" b="0">
                <a:solidFill>
                  <a:srgbClr val="444455"/>
                </a:solidFill>
              </a:rPr>
              <a:t>     5 models finish 1000 epochs (300K steps)</a:t>
            </a:r>
          </a:p>
        </p:txBody>
      </p:sp>
      <p:sp>
        <p:nvSpPr>
          <p:cNvPr id="10" name="Rounded Rectangle 9"/>
          <p:cNvSpPr/>
          <p:nvPr/>
        </p:nvSpPr>
        <p:spPr>
          <a:xfrm>
            <a:off x="274320" y="3500000"/>
            <a:ext cx="11520000" cy="1000000"/>
          </a:xfrm>
          <a:prstGeom prst="roundRect">
            <a:avLst/>
          </a:prstGeom>
          <a:solidFill>
            <a:srgbClr val="E8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0000" y="3600000"/>
            <a:ext cx="11200000" cy="800000"/>
          </a:xfrm>
          <a:prstGeom prst="rect">
            <a:avLst/>
          </a:prstGeom>
          <a:noFill/>
        </p:spPr>
        <p:txBody>
          <a:bodyPr wrap="square">
            <a:spAutoFit/>
          </a:bodyPr>
          <a:lstStyle/>
          <a:p>
            <a:r>
              <a:rPr sz="1300" b="1">
                <a:solidFill>
                  <a:srgbClr val="1A1A2E"/>
                </a:solidFill>
              </a:rPr>
              <a:t>Post-Training Pipeline</a:t>
            </a:r>
          </a:p>
          <a:p>
            <a:r>
              <a:rPr sz="1000" b="0">
                <a:solidFill>
                  <a:srgbClr val="444455"/>
                </a:solidFill>
              </a:rPr>
              <a:t>Step 5: Threshold Tuning (+2d) → Step 6: Per-Class Ensemble (+1d) → Step 7: Leaderboard Submission (+1d) → Step 8: Novel Tomograms</a:t>
            </a:r>
          </a:p>
        </p:txBody>
      </p:sp>
      <p:sp>
        <p:nvSpPr>
          <p:cNvPr id="12" name="Rounded Rectangle 11"/>
          <p:cNvSpPr/>
          <p:nvPr/>
        </p:nvSpPr>
        <p:spPr>
          <a:xfrm>
            <a:off x="274320" y="4700000"/>
            <a:ext cx="5600000" cy="13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0000" y="4800000"/>
            <a:ext cx="5300000" cy="1100000"/>
          </a:xfrm>
          <a:prstGeom prst="rect">
            <a:avLst/>
          </a:prstGeom>
          <a:noFill/>
        </p:spPr>
        <p:txBody>
          <a:bodyPr wrap="square">
            <a:spAutoFit/>
          </a:bodyPr>
          <a:lstStyle/>
          <a:p>
            <a:r>
              <a:rPr sz="1300" b="1">
                <a:solidFill>
                  <a:srgbClr val="1A1A2E"/>
                </a:solidFill>
              </a:rPr>
              <a:t>Key Questions for Phase 2</a:t>
            </a:r>
          </a:p>
          <a:p>
            <a:pPr>
              <a:spcBef>
                <a:spcPts val="200"/>
              </a:spcBef>
              <a:spcAft>
                <a:spcPts val="200"/>
              </a:spcAft>
            </a:pPr>
          </a:p>
          <a:p>
            <a:r>
              <a:rPr sz="1000" b="0">
                <a:solidFill>
                  <a:srgbClr val="444455"/>
                </a:solidFill>
              </a:rPr>
              <a:t>• Will Swin eventually learn, or is it a dud?</a:t>
            </a:r>
          </a:p>
          <a:p>
            <a:r>
              <a:rPr sz="1000" b="0">
                <a:solidFill>
                  <a:srgbClr val="444455"/>
                </a:solidFill>
              </a:rPr>
              <a:t>• How much do 3D models improve over 2D?</a:t>
            </a:r>
          </a:p>
          <a:p>
            <a:r>
              <a:rPr sz="1000" b="0">
                <a:solidFill>
                  <a:srgbClr val="444455"/>
                </a:solidFill>
              </a:rPr>
              <a:t>• Which organelles prefer 2D vs 3D?</a:t>
            </a:r>
          </a:p>
          <a:p>
            <a:r>
              <a:rPr sz="1000" b="0">
                <a:solidFill>
                  <a:srgbClr val="444455"/>
                </a:solidFill>
              </a:rPr>
              <a:t>• Can per-class ensemble beat any single model?</a:t>
            </a:r>
          </a:p>
        </p:txBody>
      </p:sp>
      <p:sp>
        <p:nvSpPr>
          <p:cNvPr id="14" name="Rounded Rectangle 13"/>
          <p:cNvSpPr/>
          <p:nvPr/>
        </p:nvSpPr>
        <p:spPr>
          <a:xfrm>
            <a:off x="6200000" y="4700000"/>
            <a:ext cx="5600000" cy="13000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0" y="4800000"/>
            <a:ext cx="5300000" cy="1100000"/>
          </a:xfrm>
          <a:prstGeom prst="rect">
            <a:avLst/>
          </a:prstGeom>
          <a:noFill/>
        </p:spPr>
        <p:txBody>
          <a:bodyPr wrap="square">
            <a:spAutoFit/>
          </a:bodyPr>
          <a:lstStyle/>
          <a:p>
            <a:r>
              <a:rPr sz="1300" b="1">
                <a:solidFill>
                  <a:srgbClr val="1A1A2E"/>
                </a:solidFill>
              </a:rPr>
              <a:t>Projected Completion</a:t>
            </a:r>
          </a:p>
          <a:p>
            <a:pPr>
              <a:spcBef>
                <a:spcPts val="200"/>
              </a:spcBef>
              <a:spcAft>
                <a:spcPts val="200"/>
              </a:spcAft>
            </a:pPr>
          </a:p>
          <a:p>
            <a:r>
              <a:rPr sz="1100" b="1">
                <a:solidFill>
                  <a:srgbClr val="27AE60"/>
                </a:solidFill>
              </a:rPr>
              <a:t>2D results:       ~March 2</a:t>
            </a:r>
          </a:p>
          <a:p>
            <a:r>
              <a:rPr sz="1100" b="1">
                <a:solidFill>
                  <a:srgbClr val="2E86C1"/>
                </a:solidFill>
              </a:rPr>
              <a:t>3D results:       ~March 10-13</a:t>
            </a:r>
          </a:p>
          <a:p>
            <a:r>
              <a:rPr sz="1100" b="1">
                <a:solidFill>
                  <a:srgbClr val="1A1A2E"/>
                </a:solidFill>
              </a:rPr>
              <a:t>Ensemble:         ~March 15</a:t>
            </a:r>
          </a:p>
          <a:p>
            <a:r>
              <a:rPr sz="1100" b="1">
                <a:solidFill>
                  <a:srgbClr val="E67E22"/>
                </a:solidFill>
              </a:rPr>
              <a:t>Leaderboard:      ~March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1828800"/>
            <a:ext cx="10360152" cy="1371600"/>
          </a:xfrm>
          <a:prstGeom prst="rect">
            <a:avLst/>
          </a:prstGeom>
          <a:noFill/>
        </p:spPr>
        <p:txBody>
          <a:bodyPr wrap="square">
            <a:spAutoFit/>
          </a:bodyPr>
          <a:lstStyle/>
          <a:p>
            <a:pPr algn="ctr">
              <a:spcBef>
                <a:spcPts val="0"/>
              </a:spcBef>
              <a:spcAft>
                <a:spcPts val="400"/>
              </a:spcAft>
              <a:defRPr sz="4800" b="1">
                <a:solidFill>
                  <a:srgbClr val="CFB87C"/>
                </a:solidFill>
                <a:latin typeface="Calibri Light"/>
              </a:defRPr>
            </a:pPr>
            <a:r>
              <a:t>Thank You!</a:t>
            </a:r>
          </a:p>
        </p:txBody>
      </p:sp>
      <p:sp>
        <p:nvSpPr>
          <p:cNvPr id="5" name="TextBox 4"/>
          <p:cNvSpPr txBox="1"/>
          <p:nvPr/>
        </p:nvSpPr>
        <p:spPr>
          <a:xfrm>
            <a:off x="914400" y="3200400"/>
            <a:ext cx="10360152" cy="457200"/>
          </a:xfrm>
          <a:prstGeom prst="rect">
            <a:avLst/>
          </a:prstGeom>
          <a:noFill/>
        </p:spPr>
        <p:txBody>
          <a:bodyPr wrap="square">
            <a:spAutoFit/>
          </a:bodyPr>
          <a:lstStyle/>
          <a:p>
            <a:pPr algn="ctr">
              <a:spcBef>
                <a:spcPts val="0"/>
              </a:spcBef>
              <a:spcAft>
                <a:spcPts val="400"/>
              </a:spcAft>
              <a:defRPr sz="2800" b="0">
                <a:solidFill>
                  <a:srgbClr val="767676"/>
                </a:solidFill>
                <a:latin typeface="Calibri Light"/>
              </a:defRPr>
            </a:pPr>
            <a:r>
              <a:t>Questions?</a:t>
            </a:r>
          </a:p>
        </p:txBody>
      </p:sp>
      <p:sp>
        <p:nvSpPr>
          <p:cNvPr id="6" name="TextBox 5"/>
          <p:cNvSpPr txBox="1"/>
          <p:nvPr/>
        </p:nvSpPr>
        <p:spPr>
          <a:xfrm>
            <a:off x="914400" y="4114800"/>
            <a:ext cx="10360152" cy="457200"/>
          </a:xfrm>
          <a:prstGeom prst="rect">
            <a:avLst/>
          </a:prstGeom>
          <a:noFill/>
        </p:spPr>
        <p:txBody>
          <a:bodyPr wrap="square">
            <a:spAutoFit/>
          </a:bodyPr>
          <a:lstStyle/>
          <a:p>
            <a:pPr algn="ctr">
              <a:spcBef>
                <a:spcPts val="0"/>
              </a:spcBef>
              <a:spcAft>
                <a:spcPts val="400"/>
              </a:spcAft>
              <a:defRPr sz="1600" b="0">
                <a:solidFill>
                  <a:srgbClr val="767676"/>
                </a:solidFill>
                <a:latin typeface="Calibri"/>
              </a:defRPr>
            </a:pPr>
            <a:r>
              <a:t>George S. George  •  gsgeorge@unc.edu</a:t>
            </a:r>
          </a:p>
        </p:txBody>
      </p:sp>
      <p:sp>
        <p:nvSpPr>
          <p:cNvPr id="7" name="TextBox 6"/>
          <p:cNvSpPr txBox="1"/>
          <p:nvPr/>
        </p:nvSpPr>
        <p:spPr>
          <a:xfrm>
            <a:off x="914400" y="4846320"/>
            <a:ext cx="10360152" cy="731520"/>
          </a:xfrm>
          <a:prstGeom prst="rect">
            <a:avLst/>
          </a:prstGeom>
          <a:noFill/>
        </p:spPr>
        <p:txBody>
          <a:bodyPr wrap="square">
            <a:spAutoFit/>
          </a:bodyPr>
          <a:lstStyle/>
          <a:p>
            <a:pPr algn="ctr">
              <a:spcBef>
                <a:spcPts val="0"/>
              </a:spcBef>
              <a:spcAft>
                <a:spcPts val="400"/>
              </a:spcAft>
              <a:defRPr sz="1300" b="0">
                <a:solidFill>
                  <a:srgbClr val="D9D9D9"/>
                </a:solidFill>
                <a:latin typeface="Calibri"/>
              </a:defRPr>
            </a:pPr>
            <a:r>
              <a:t>Code: github.com/Shan-CU/CellMap-Segmentation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BDCAE5AB8CB6E4DA5E3E6960FA14961" ma:contentTypeVersion="5" ma:contentTypeDescription="Create a new document." ma:contentTypeScope="" ma:versionID="977174e26617ef315414bd51ea0600dc">
  <xsd:schema xmlns:xsd="http://www.w3.org/2001/XMLSchema" xmlns:xs="http://www.w3.org/2001/XMLSchema" xmlns:p="http://schemas.microsoft.com/office/2006/metadata/properties" xmlns:ns3="e8f9bfac-c2a4-45f3-a98c-98b2872a7994" targetNamespace="http://schemas.microsoft.com/office/2006/metadata/properties" ma:root="true" ma:fieldsID="4bbf91fe8bd11ffa257e90278c334b52" ns3:_="">
    <xsd:import namespace="e8f9bfac-c2a4-45f3-a98c-98b2872a7994"/>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f9bfac-c2a4-45f3-a98c-98b2872a799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8f9bfac-c2a4-45f3-a98c-98b2872a7994" xsi:nil="true"/>
  </documentManagement>
</p:properties>
</file>

<file path=customXml/itemProps1.xml><?xml version="1.0" encoding="utf-8"?>
<ds:datastoreItem xmlns:ds="http://schemas.openxmlformats.org/officeDocument/2006/customXml" ds:itemID="{37F5763D-5CE0-471B-A997-E2BAF106C9BF}">
  <ds:schemaRefs>
    <ds:schemaRef ds:uri="http://schemas.microsoft.com/sharepoint/v3/contenttype/forms"/>
  </ds:schemaRefs>
</ds:datastoreItem>
</file>

<file path=customXml/itemProps2.xml><?xml version="1.0" encoding="utf-8"?>
<ds:datastoreItem xmlns:ds="http://schemas.openxmlformats.org/officeDocument/2006/customXml" ds:itemID="{73E1EDA9-0259-4B09-9151-59FCA06D340E}">
  <ds:schemaRefs>
    <ds:schemaRef ds:uri="e8f9bfac-c2a4-45f3-a98c-98b2872a79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55332CA-9418-44DB-8F3D-D01A2AE62B89}">
  <ds:schemaRefs>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e8f9bfac-c2a4-45f3-a98c-98b2872a7994"/>
    <ds:schemaRef ds:uri="http://purl.org/dc/dcmitype/"/>
  </ds:schemaRefs>
</ds:datastoreItem>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emplate>GStephenson_rotation1_slides</Template>
  <TotalTime>350</TotalTime>
  <Words>47</Words>
  <Application>Microsoft Macintosh PowerPoint</Application>
  <PresentationFormat>Widescreen</PresentationFormat>
  <Paragraphs>8</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George Stephenson</dc:creator>
  <cp:lastModifiedBy>George Stephenson</cp:lastModifiedBy>
  <cp:revision>5</cp:revision>
  <dcterms:created xsi:type="dcterms:W3CDTF">2025-12-02T03:50:19Z</dcterms:created>
  <dcterms:modified xsi:type="dcterms:W3CDTF">2026-02-23T20:32:04Z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0x010100CBDCAE5AB8CB6E4DA5E3E6960FA14961</vt:lpwstr>
  </property>
</Properties>
</file>