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7"/>
    <p:sldId id="257" r:id="rId6"/>
    <p:sldId id="258" r:id="rId5"/>
    <p:sldId id="259" r:id="rId13"/>
    <p:sldId id="260" r:id="rId14"/>
    <p:sldId id="261" r:id="rId15"/>
    <p:sldId id="262" r:id="rId16"/>
    <p:sldId id="263" r:id="rId17"/>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5F5"/>
    <a:srgbClr val="FFF3E0"/>
    <a:srgbClr val="9272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32"/>
    <p:restoredTop sz="68163" autoAdjust="0"/>
  </p:normalViewPr>
  <p:slideViewPr>
    <p:cSldViewPr snapToGrid="0">
      <p:cViewPr varScale="1">
        <p:scale>
          <a:sx n="85" d="100"/>
          <a:sy n="85" d="100"/>
        </p:scale>
        <p:origin x="448" y="168"/>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806BD-263D-420E-88A4-6F31A1A3ECCC}"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CFDBF-2741-4118-9156-22BF4A92197E}" type="slidenum">
              <a:rPr lang="en-US" smtClean="0"/>
              <a:t>‹#›</a:t>
            </a:fld>
            <a:endParaRPr lang="en-US"/>
          </a:p>
        </p:txBody>
      </p:sp>
    </p:spTree>
    <p:extLst>
      <p:ext uri="{BB962C8B-B14F-4D97-AF65-F5344CB8AC3E}">
        <p14:creationId xmlns:p14="http://schemas.microsoft.com/office/powerpoint/2010/main" val="1815566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thanks for having me. Today I'll walk you through my rotation project — building a segmentation model for electron microscopy data. The long-term goal is a model that can take novel electron tomograms and automatically label every organelle.</a:t>
            </a:r>
          </a:p>
          <a:p/>
          <a:p>
            <a:r>
              <a:t>I'll cover: the CellMap challenge and why it's our proving ground, the key challenges — partial annotation and extreme class imbalance, what we learned from 63 ablation experiments, the optimal training recipe, and the Phase 2 architecture comparison that's running right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long-term goal is to build a model that takes in novel electron tomograms and automatically produces fully labeled organelle segmentations.</a:t>
            </a:r>
          </a:p>
          <a:p/>
          <a:p>
            <a:r>
              <a:t>Why CellMap? It's the largest publicly available FIB-SEM segmentation benchmark. 48 organelle classes, 22 biological samples spanning HeLa cells, mouse organs, fly brain, and more. It has a leaderboard so we can objectively measure progress. And critically, it's the same imaging modality as our own tomograms, so everything we learn transfers directly.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core challenges dominate this problem.</a:t>
            </a:r>
          </a:p>
          <a:p/>
          <a:p>
            <a:r>
              <a:t>First, partial annotation. Each 3D crop only labels a subset of the 48 classes. Unlabeled voxels are NaN, meaning 'not annotated' — NOT 'absent.' If you naïvely treat NaN as negative, you penalize the model for correct predictions. We solve this with NaN-masked loss: gradients only flow where annotations exist.</a:t>
            </a:r>
          </a:p>
          <a:p/>
          <a:p>
            <a:r>
              <a:t>Second, extreme class imbalance — over 6 orders of magnitude. The 'cell' class has billions of voxels; 'mito_ribo' has tens of thousands. Without mitigation, the model only learns the biggest 5–10 classes and ignores everything else. We use weighted sampling and foreground masking to address this.</a:t>
            </a:r>
          </a:p>
          <a:p/>
          <a:p>
            <a:r>
              <a:t>The 48 classes form a hierarchy: 31 atomic labels like 'mito_mem' for mitochondrial membrane, plus 17 group labels like 'mito' = union of mito_mem + mito_lum + mito_ribo.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pipeline. Steps 1 through 3 are complete.</a:t>
            </a:r>
          </a:p>
          <a:p/>
          <a:p>
            <a:r>
              <a:t>Step 1: We built the infrastructure — native zarr data loading, all 48 classes, partial annotation masking.</a:t>
            </a:r>
          </a:p>
          <a:p>
            <a:r>
              <a:t>Step 2: 63 ablation experiments across 5 sweeps to find the optimal training recipe.</a:t>
            </a:r>
          </a:p>
          <a:p>
            <a:r>
              <a:t>Step 3: Composed the winning configuration from each sweep.</a:t>
            </a:r>
          </a:p>
          <a:p>
            <a:r>
              <a:t>Step 4 is where we are now — training 9 architectures (4 in 2D, 5 in 3D) with the optimal recipe. This is running on Longleaf L40S GPUs right now.</a:t>
            </a:r>
          </a:p>
          <a:p/>
          <a:p>
            <a:r>
              <a:t>Steps 5–8 are ahead: per-class threshold tuning, per-class ensemble, leaderboard submission, and finally applying to our own novel tomograms.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ablation experiments across 5 sweeps. Here are the key findings.</a:t>
            </a:r>
          </a:p>
          <a:p/>
          <a:p>
            <a:r>
              <a:t>Sweep A, loss function: we tested 8 losses. Simple losses like BCE and DiceBCE massively outperformed complex ones like Tversky and focal variants. The best leaderboard Dice was BCE at 0.476, but we chose DiceBCE at 0.459 because it has better rare-class performance — the Dice component explicitly optimizes overlap.</a:t>
            </a:r>
          </a:p>
          <a:p/>
          <a:p>
            <a:r>
              <a:t>Sweep B and C: Tversky alpha-beta tuning and logit adjustment both failed to improve on DiceBCE. In fact, high logit adjustment completely destroyed predictions.</a:t>
            </a:r>
          </a:p>
          <a:p/>
          <a:p>
            <a:r>
              <a:t>Sweep D: foreground masking gave a free 28% improvement. But bounding box masking alone actually hurt — surprising result.</a:t>
            </a:r>
          </a:p>
          <a:p/>
          <a:p>
            <a:r>
              <a:t>Sweep E: EMA gave a 4x improvement in val_loss. Weighted sampler is essential. But intensity augmentation hurt by 23% and class-aware crop weighting hurt by 38%. EM data has very consistent intensity within volumes, so augmenting it adds noise rather than useful variation.</a:t>
            </a:r>
          </a:p>
          <a:p/>
          <a:p>
            <a:r>
              <a:t>The bottom line: simple beats complex. Our optimal recipe is DiceBCE + EMA + foreground mask + weighted sampler. That's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exact configuration going into Phase 2.</a:t>
            </a:r>
          </a:p>
          <a:p/>
          <a:p>
            <a:r>
              <a:t>Why DiceBCE over BCE? BCE had the highest raw Dice at 0.476, but it achieves that by over-predicting common classes like ecs, pm, and mito. DiceBCE at 0.459 has better rare-class performance because the Dice component explicitly optimizes per-class overlap. Since the challenge weights all 48 classes equally, rare-class performance matters more than it looks.</a:t>
            </a:r>
          </a:p>
          <a:p/>
          <a:p>
            <a:r>
              <a:t>With EMA, DiceBCE reaches a val_loss of 0.112 — 4x better than without. EMA smooths noisy gradients from the partial annotation setup where different crops annotate different subsets of classes.</a:t>
            </a:r>
          </a:p>
          <a:p/>
          <a:p>
            <a:r>
              <a:t>Important note: our 3D ablation experiments were essentially non-functional. Every experiment produced near-zero Dice. The training regime was only 12,500 steps — way too few for 3D 128-cubed volumes. So we're transferring the 2D findings to 3D and training 24 times longer in Phase 2: 300,000 steps.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9 architectures, same recipe. The question is which backbone learns organelles best.</a:t>
            </a:r>
          </a:p>
          <a:p/>
          <a:p>
            <a:r>
              <a:t>4 in 2D: ResNet (our Phase 1 workhorse at 7.8M params), UNet at 31M, SwinTransformer at 36M with shifted-window attention, and ViTVNet at 105M — our largest model, using a Vision Transformer encoder.</a:t>
            </a:r>
          </a:p>
          <a:p/>
          <a:p>
            <a:r>
              <a:t>5 in 3D: SegResNetDS at 20M with deep supervision, SwinUNETR at 62M with 3D self-attention, ResNet3D at 24.5M, UNet3D at 90M (largest 3D model), and ViTVNet3D at 31.5M.</a:t>
            </a:r>
          </a:p>
          <a:p/>
          <a:p>
            <a:r>
              <a:t>2D models process 256x256 slices independently — fast but no inter-slice context. 3D models process 128-cubed volumes — capture tubular structures and 3D connectivity but are 30x more expensive per step. All models run on single L40S GPUs with 48GB VRAM.</a:t>
            </a:r>
          </a:p>
          <a:p/>
          <a:p>
            <a:r>
              <a:t>The final ensemble will select the best architecture per organelle class. Some organelles like flat membranes may be better served by 2D; others like tubular ER or microtubules may need 3D 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just launched a completely fresh Phase 2 run — all 9 models plus TensorBoard, all from scratch with clean outputs and optimized configurations.</a:t>
            </a:r>
          </a:p>
          <a:p/>
          <a:p>
            <a:r>
              <a:t>Every model gets an identical, fair setup: DiceBCE loss, EMA, foreground masking, weighted sampling. 2D models train for 100K steps, 3D for 300K. All on single L40S GPUs.</a:t>
            </a:r>
          </a:p>
          <a:p/>
          <a:p>
            <a:r>
              <a:t>What’s different this time? First, proper validation from epoch 1 — we now compute per-class Dice for all 48 organelle classes during validation, with proper NaN masking for partially annotated crops. Everything is logged to TensorBoard.</a:t>
            </a:r>
          </a:p>
          <a:p/>
          <a:p>
            <a:r>
              <a:t>Second, the best model is now saved by validation Dice, not loss. This directly optimizes what the leaderboard measures.</a:t>
            </a:r>
          </a:p>
          <a:p/>
          <a:p>
            <a:r>
              <a:t>Third, we fixed a critical checkpoint resume bug: the best Dice score was being reset to -1 after every checkpoint restore, meaning that if a job got preempted and resumed, it would overwrite the best model with whatever came first after restart.</a:t>
            </a:r>
          </a:p>
          <a:p/>
          <a:p>
            <a:r>
              <a:t>Fourth, the 3D memory leak is fixed. CellMapDataLoader.refresh() recreates the DataLoader each epoch. With persistent workers enabled, old worker processes stay alive and accumulate TensorStore chunk cache, causing host RAM to balloon to 500+ GB within the first epoch. Setting persistent_workers=false lets workers die on refresh, releasing the cache. This is the fix we’re testing now — 3D jobs were submitted first so we can verify it early.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timeline going forward.</a:t>
            </a:r>
          </a:p>
          <a:p/>
          <a:p>
            <a:r>
              <a:t>We just submitted all 9 models to L40S GPUs. The 3D jobs were submitted first so we can verify the memory leak fix within the first hour. If host RAM stays under 100GB instead of ballooning to 500+, we know the fix works.</a:t>
            </a:r>
          </a:p>
          <a:p/>
          <a:p>
            <a:r>
              <a:t>First 2D Dice scores come at epoch 10 — about 6 hours in. 2D models should finish within 2 days. 3D models take 10 to 13 days for the full 300K steps.</a:t>
            </a:r>
          </a:p>
          <a:p/>
          <a:p>
            <a:r>
              <a:t>After training: per-class threshold tuning — the default 0.5 threshold is conservative, and precision typically far exceeds recall. Tuning per class could significantly boost Dice. Then per-class ensemble: different architectures may excel at different organelles, so the final model picks the best architecture for each of the 48 classes.</a:t>
            </a:r>
          </a:p>
          <a:p/>
          <a:p>
            <a:r>
              <a:t>The endgame: submit to the CellMap leaderboard for an objective score, then apply the trained model to our own novel electron tomograms — which was the whole point from the beginning.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46727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2139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99989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07843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F88AAE-C86C-1E44-B69A-7594543F44FA}" type="datetimeFigureOut">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84672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F88AAE-C86C-1E44-B69A-7594543F44FA}" type="datetimeFigureOut">
              <a:rPr lang="en-US" smtClean="0"/>
              <a:t>2/23/26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60268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F88AAE-C86C-1E44-B69A-7594543F44FA}" type="datetimeFigureOut">
              <a:rPr lang="en-US" smtClean="0"/>
              <a:t>2/23/26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36875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52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F88AAE-C86C-1E44-B69A-7594543F44FA}" type="datetimeFigureOut">
              <a:rPr lang="en-US" smtClean="0"/>
              <a:t>2/23/26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509753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110934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F88AAE-C86C-1E44-B69A-7594543F44FA}" type="datetimeFigureOut">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4E8EB3-C288-DB4A-B5B6-ACB5C15BF4C9}" type="slidenum">
              <a:rPr lang="en-US" smtClean="0"/>
              <a:t>‹#›</a:t>
            </a:fld>
            <a:endParaRPr lang="en-US"/>
          </a:p>
        </p:txBody>
      </p:sp>
    </p:spTree>
    <p:extLst>
      <p:ext uri="{BB962C8B-B14F-4D97-AF65-F5344CB8AC3E}">
        <p14:creationId xmlns:p14="http://schemas.microsoft.com/office/powerpoint/2010/main" val="2973327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F88AAE-C86C-1E44-B69A-7594543F44FA}" type="datetimeFigureOut">
              <a:rPr lang="en-US" smtClean="0"/>
              <a:t>2/23/26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4E8EB3-C288-DB4A-B5B6-ACB5C15BF4C9}" type="slidenum">
              <a:rPr lang="en-US" smtClean="0"/>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1097280" y="1371600"/>
            <a:ext cx="9994392" cy="1828800"/>
          </a:xfrm>
          <a:prstGeom prst="rect">
            <a:avLst/>
          </a:prstGeom>
          <a:noFill/>
        </p:spPr>
        <p:txBody>
          <a:bodyPr wrap="square">
            <a:spAutoFit/>
          </a:bodyPr>
          <a:lstStyle/>
          <a:p>
            <a:pPr algn="l">
              <a:spcBef>
                <a:spcPts val="0"/>
              </a:spcBef>
              <a:spcAft>
                <a:spcPts val="400"/>
              </a:spcAft>
              <a:defRPr sz="4200" b="1">
                <a:solidFill>
                  <a:srgbClr val="CFB87C"/>
                </a:solidFill>
                <a:latin typeface="Calibri Light"/>
              </a:defRPr>
            </a:pPr>
            <a:r>
              <a:t>Multi-Label Organelle Segmentation</a:t>
            </a:r>
          </a:p>
          <a:p>
            <a:pPr algn="l">
              <a:spcBef>
                <a:spcPts val="0"/>
              </a:spcBef>
              <a:spcAft>
                <a:spcPts val="400"/>
              </a:spcAft>
              <a:defRPr sz="4200" b="1">
                <a:solidFill>
                  <a:srgbClr val="CFB87C"/>
                </a:solidFill>
                <a:latin typeface="Calibri Light"/>
              </a:defRPr>
            </a:pPr>
            <a:r>
              <a:t>from FIB-SEM Electron Microscopy</a:t>
            </a:r>
          </a:p>
        </p:txBody>
      </p:sp>
      <p:sp>
        <p:nvSpPr>
          <p:cNvPr id="5" name="TextBox 4"/>
          <p:cNvSpPr txBox="1"/>
          <p:nvPr/>
        </p:nvSpPr>
        <p:spPr>
          <a:xfrm>
            <a:off x="1097280" y="3474720"/>
            <a:ext cx="9994392" cy="548640"/>
          </a:xfrm>
          <a:prstGeom prst="rect">
            <a:avLst/>
          </a:prstGeom>
          <a:noFill/>
        </p:spPr>
        <p:txBody>
          <a:bodyPr wrap="square">
            <a:spAutoFit/>
          </a:bodyPr>
          <a:lstStyle/>
          <a:p>
            <a:pPr algn="l">
              <a:spcBef>
                <a:spcPts val="0"/>
              </a:spcBef>
              <a:spcAft>
                <a:spcPts val="400"/>
              </a:spcAft>
              <a:defRPr sz="2200" b="0">
                <a:solidFill>
                  <a:srgbClr val="333333"/>
                </a:solidFill>
                <a:latin typeface="Calibri"/>
              </a:defRPr>
            </a:pPr>
            <a:r>
              <a:t>Toward Automated Annotation of Novel Electron Tomograms</a:t>
            </a:r>
          </a:p>
        </p:txBody>
      </p:sp>
      <p:sp>
        <p:nvSpPr>
          <p:cNvPr id="6" name="TextBox 5"/>
          <p:cNvSpPr txBox="1"/>
          <p:nvPr/>
        </p:nvSpPr>
        <p:spPr>
          <a:xfrm>
            <a:off x="1097280" y="4572000"/>
            <a:ext cx="9994392" cy="457200"/>
          </a:xfrm>
          <a:prstGeom prst="rect">
            <a:avLst/>
          </a:prstGeom>
          <a:noFill/>
        </p:spPr>
        <p:txBody>
          <a:bodyPr wrap="square">
            <a:spAutoFit/>
          </a:bodyPr>
          <a:lstStyle/>
          <a:p>
            <a:pPr algn="l">
              <a:spcBef>
                <a:spcPts val="0"/>
              </a:spcBef>
              <a:spcAft>
                <a:spcPts val="400"/>
              </a:spcAft>
              <a:defRPr sz="2400" b="0">
                <a:solidFill>
                  <a:srgbClr val="333333"/>
                </a:solidFill>
                <a:latin typeface="Calibri"/>
              </a:defRPr>
            </a:pPr>
            <a:r>
              <a:t>George S. George</a:t>
            </a:r>
          </a:p>
        </p:txBody>
      </p:sp>
      <p:sp>
        <p:nvSpPr>
          <p:cNvPr id="7" name="TextBox 6"/>
          <p:cNvSpPr txBox="1"/>
          <p:nvPr/>
        </p:nvSpPr>
        <p:spPr>
          <a:xfrm>
            <a:off x="1097280" y="5029200"/>
            <a:ext cx="9994392" cy="45720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Department of Computer Science  •  Interdisciplinary Quantitative Biology Program</a:t>
            </a:r>
          </a:p>
        </p:txBody>
      </p:sp>
      <p:sp>
        <p:nvSpPr>
          <p:cNvPr id="8" name="TextBox 7"/>
          <p:cNvSpPr txBox="1"/>
          <p:nvPr/>
        </p:nvSpPr>
        <p:spPr>
          <a:xfrm>
            <a:off x="1097280" y="5349240"/>
            <a:ext cx="9994392" cy="27432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Lab Meeting  •  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Big Picture: Why CellMap?</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5486400" cy="484632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The Long-Term Goal</a:t>
            </a:r>
          </a:p>
          <a:p>
            <a:pPr algn="l">
              <a:spcBef>
                <a:spcPts val="0"/>
              </a:spcBef>
              <a:spcAft>
                <a:spcPts val="600"/>
              </a:spcAft>
              <a:defRPr sz="1400" b="0">
                <a:solidFill>
                  <a:srgbClr val="333333"/>
                </a:solidFill>
                <a:latin typeface="Calibri"/>
              </a:defRPr>
            </a:pPr>
            <a:r>
              <a:t>• Build a model that takes novel electron</a:t>
            </a:r>
            <a:br/>
            <a:r>
              <a:t>tomograms and produces fully labeled</a:t>
            </a:r>
            <a:br/>
            <a:r>
              <a:t>organelle segmentations — automatically</a:t>
            </a:r>
          </a:p>
          <a:p>
            <a:pPr algn="l">
              <a:spcBef>
                <a:spcPts val="0"/>
              </a:spcBef>
              <a:spcAft>
                <a:spcPts val="600"/>
              </a:spcAft>
              <a:defRPr sz="1400" b="0">
                <a:solidFill>
                  <a:srgbClr val="333333"/>
                </a:solidFill>
                <a:latin typeface="Calibri"/>
              </a:defRPr>
            </a:pPr>
            <a:r>
              <a:t>• No manual annotation — the model</a:t>
            </a:r>
            <a:br/>
            <a:r>
              <a:t>generalizes to unseen biology</a:t>
            </a:r>
          </a:p>
          <a:p>
            <a:pPr algn="l">
              <a:spcBef>
                <a:spcPts val="0"/>
              </a:spcBef>
              <a:spcAft>
                <a:spcPts val="600"/>
              </a:spcAft>
              <a:defRPr sz="1400" b="0">
                <a:solidFill>
                  <a:srgbClr val="333333"/>
                </a:solidFill>
                <a:latin typeface="Calibri"/>
              </a:defRPr>
            </a:pPr>
            <a:r>
              <a:t>• Everything we learn here transfers</a:t>
            </a:r>
            <a:br/>
            <a:r>
              <a:t>directly to our own tomograms</a:t>
            </a:r>
          </a:p>
          <a:p>
            <a:pPr algn="l">
              <a:spcBef>
                <a:spcPts val="0"/>
              </a:spcBef>
              <a:spcAft>
                <a:spcPts val="400"/>
              </a:spcAft>
              <a:defRPr sz="1000" b="0">
                <a:solidFill>
                  <a:srgbClr val="333333"/>
                </a:solidFill>
                <a:latin typeface="Calibri"/>
              </a:defRPr>
            </a:pPr>
          </a:p>
          <a:p>
            <a:pPr algn="l">
              <a:spcBef>
                <a:spcPts val="800"/>
              </a:spcBef>
              <a:spcAft>
                <a:spcPts val="400"/>
              </a:spcAft>
              <a:defRPr sz="2000" b="1">
                <a:solidFill>
                  <a:srgbClr val="156082"/>
                </a:solidFill>
                <a:latin typeface="Calibri"/>
              </a:defRPr>
            </a:pPr>
            <a:r>
              <a:t>Why Is This Hard?</a:t>
            </a:r>
          </a:p>
          <a:p>
            <a:pPr algn="l">
              <a:spcBef>
                <a:spcPts val="0"/>
              </a:spcBef>
              <a:spcAft>
                <a:spcPts val="600"/>
              </a:spcAft>
              <a:defRPr sz="1400" b="0">
                <a:solidFill>
                  <a:srgbClr val="333333"/>
                </a:solidFill>
                <a:latin typeface="Calibri"/>
              </a:defRPr>
            </a:pPr>
            <a:r>
              <a:t>• 48 organelle classes, 22 biological samples</a:t>
            </a:r>
          </a:p>
          <a:p>
            <a:pPr algn="l">
              <a:spcBef>
                <a:spcPts val="0"/>
              </a:spcBef>
              <a:spcAft>
                <a:spcPts val="600"/>
              </a:spcAft>
              <a:defRPr sz="1400" b="0">
                <a:solidFill>
                  <a:srgbClr val="333333"/>
                </a:solidFill>
                <a:latin typeface="Calibri"/>
              </a:defRPr>
            </a:pPr>
            <a:r>
              <a:t>• Partial annotations — unlabeled ≠ absent;</a:t>
            </a:r>
            <a:br/>
            <a:r>
              <a:t>standard losses penalize correct predictions</a:t>
            </a:r>
          </a:p>
          <a:p>
            <a:pPr algn="l">
              <a:spcBef>
                <a:spcPts val="0"/>
              </a:spcBef>
              <a:spcAft>
                <a:spcPts val="600"/>
              </a:spcAft>
              <a:defRPr sz="1400" b="0">
                <a:solidFill>
                  <a:srgbClr val="333333"/>
                </a:solidFill>
                <a:latin typeface="Calibri"/>
              </a:defRPr>
            </a:pPr>
            <a:r>
              <a:t>• 6+ orders of magnitude class imbalance</a:t>
            </a:r>
          </a:p>
          <a:p>
            <a:pPr algn="l">
              <a:spcBef>
                <a:spcPts val="0"/>
              </a:spcBef>
              <a:spcAft>
                <a:spcPts val="600"/>
              </a:spcAft>
              <a:defRPr sz="1400" b="0">
                <a:solidFill>
                  <a:srgbClr val="333333"/>
                </a:solidFill>
                <a:latin typeface="Calibri"/>
              </a:defRPr>
            </a:pPr>
            <a:r>
              <a:t>• 3D volumes: up to 512 GB host RAM just</a:t>
            </a:r>
            <a:br/>
            <a:r>
              <a:t>for data loading</a:t>
            </a:r>
          </a:p>
        </p:txBody>
      </p:sp>
      <p:sp>
        <p:nvSpPr>
          <p:cNvPr id="9" name="Rounded Rectangle 8"/>
          <p:cNvSpPr/>
          <p:nvPr/>
        </p:nvSpPr>
        <p:spPr>
          <a:xfrm>
            <a:off x="6400800" y="777240"/>
            <a:ext cx="5303520" cy="228600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868680"/>
            <a:ext cx="4937760" cy="2103120"/>
          </a:xfrm>
          <a:prstGeom prst="rect">
            <a:avLst/>
          </a:prstGeom>
          <a:noFill/>
        </p:spPr>
        <p:txBody>
          <a:bodyPr wrap="square">
            <a:spAutoFit/>
          </a:bodyPr>
          <a:lstStyle/>
          <a:p>
            <a:pPr algn="l">
              <a:spcBef>
                <a:spcPts val="0"/>
              </a:spcBef>
              <a:spcAft>
                <a:spcPts val="400"/>
              </a:spcAft>
              <a:defRPr sz="1600" b="1">
                <a:solidFill>
                  <a:srgbClr val="CFB87C"/>
                </a:solidFill>
                <a:latin typeface="Calibri"/>
              </a:defRPr>
            </a:pPr>
            <a:r>
              <a:t>Why CellMap as the Training Ground?</a:t>
            </a:r>
          </a:p>
          <a:p>
            <a:pPr algn="l">
              <a:spcBef>
                <a:spcPts val="0"/>
              </a:spcBef>
              <a:spcAft>
                <a:spcPts val="600"/>
              </a:spcAft>
              <a:defRPr sz="1300" b="0">
                <a:solidFill>
                  <a:srgbClr val="333333"/>
                </a:solidFill>
                <a:latin typeface="Calibri"/>
              </a:defRPr>
            </a:pPr>
            <a:r>
              <a:t>• Largest public FIB-SEM segmentation benchmark</a:t>
            </a:r>
          </a:p>
          <a:p>
            <a:pPr algn="l">
              <a:spcBef>
                <a:spcPts val="0"/>
              </a:spcBef>
              <a:spcAft>
                <a:spcPts val="600"/>
              </a:spcAft>
              <a:defRPr sz="1300" b="0">
                <a:solidFill>
                  <a:srgbClr val="333333"/>
                </a:solidFill>
                <a:latin typeface="Calibri"/>
              </a:defRPr>
            </a:pPr>
            <a:r>
              <a:t>• Diverse biology: HeLa, mouse kidney/liver/</a:t>
            </a:r>
            <a:br/>
            <a:r>
              <a:t>heart, fly brain, jurkat, macrophage…</a:t>
            </a:r>
          </a:p>
          <a:p>
            <a:pPr algn="l">
              <a:spcBef>
                <a:spcPts val="0"/>
              </a:spcBef>
              <a:spcAft>
                <a:spcPts val="600"/>
              </a:spcAft>
              <a:defRPr sz="1300" b="0">
                <a:solidFill>
                  <a:srgbClr val="333333"/>
                </a:solidFill>
                <a:latin typeface="Calibri"/>
              </a:defRPr>
            </a:pPr>
            <a:r>
              <a:t>• Has a leaderboard → objective evaluation</a:t>
            </a:r>
          </a:p>
          <a:p>
            <a:pPr algn="l">
              <a:spcBef>
                <a:spcPts val="0"/>
              </a:spcBef>
              <a:spcAft>
                <a:spcPts val="600"/>
              </a:spcAft>
              <a:defRPr sz="1300" b="0">
                <a:solidFill>
                  <a:srgbClr val="333333"/>
                </a:solidFill>
                <a:latin typeface="Calibri"/>
              </a:defRPr>
            </a:pPr>
            <a:r>
              <a:t>• Same imaging modality as our own data</a:t>
            </a:r>
          </a:p>
        </p:txBody>
      </p:sp>
      <p:sp>
        <p:nvSpPr>
          <p:cNvPr id="11" name="Rounded Rectangle 10"/>
          <p:cNvSpPr/>
          <p:nvPr/>
        </p:nvSpPr>
        <p:spPr>
          <a:xfrm>
            <a:off x="6583680" y="33832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34290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48</a:t>
            </a:r>
          </a:p>
        </p:txBody>
      </p:sp>
      <p:sp>
        <p:nvSpPr>
          <p:cNvPr id="13" name="TextBox 12"/>
          <p:cNvSpPr txBox="1"/>
          <p:nvPr/>
        </p:nvSpPr>
        <p:spPr>
          <a:xfrm>
            <a:off x="8046720" y="34930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organelle classes</a:t>
            </a:r>
          </a:p>
        </p:txBody>
      </p:sp>
      <p:sp>
        <p:nvSpPr>
          <p:cNvPr id="14" name="Rounded Rectangle 13"/>
          <p:cNvSpPr/>
          <p:nvPr/>
        </p:nvSpPr>
        <p:spPr>
          <a:xfrm>
            <a:off x="6583680" y="40690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1148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22</a:t>
            </a:r>
          </a:p>
        </p:txBody>
      </p:sp>
      <p:sp>
        <p:nvSpPr>
          <p:cNvPr id="16" name="TextBox 15"/>
          <p:cNvSpPr txBox="1"/>
          <p:nvPr/>
        </p:nvSpPr>
        <p:spPr>
          <a:xfrm>
            <a:off x="8046720" y="41788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biological samples</a:t>
            </a:r>
          </a:p>
        </p:txBody>
      </p:sp>
      <p:sp>
        <p:nvSpPr>
          <p:cNvPr id="17" name="Rounded Rectangle 16"/>
          <p:cNvSpPr/>
          <p:nvPr/>
        </p:nvSpPr>
        <p:spPr>
          <a:xfrm>
            <a:off x="6583680" y="47548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8006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289</a:t>
            </a:r>
          </a:p>
        </p:txBody>
      </p:sp>
      <p:sp>
        <p:nvSpPr>
          <p:cNvPr id="19" name="TextBox 18"/>
          <p:cNvSpPr txBox="1"/>
          <p:nvPr/>
        </p:nvSpPr>
        <p:spPr>
          <a:xfrm>
            <a:off x="8046720" y="48646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annotated 3D crops</a:t>
            </a:r>
          </a:p>
        </p:txBody>
      </p:sp>
      <p:sp>
        <p:nvSpPr>
          <p:cNvPr id="20" name="Rounded Rectangle 19"/>
          <p:cNvSpPr/>
          <p:nvPr/>
        </p:nvSpPr>
        <p:spPr>
          <a:xfrm>
            <a:off x="6583680" y="5440680"/>
            <a:ext cx="4937760" cy="594360"/>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5486400"/>
            <a:ext cx="1371600" cy="502920"/>
          </a:xfrm>
          <a:prstGeom prst="rect">
            <a:avLst/>
          </a:prstGeom>
          <a:noFill/>
        </p:spPr>
        <p:txBody>
          <a:bodyPr wrap="square">
            <a:spAutoFit/>
          </a:bodyPr>
          <a:lstStyle/>
          <a:p>
            <a:pPr algn="ctr">
              <a:spcBef>
                <a:spcPts val="0"/>
              </a:spcBef>
              <a:spcAft>
                <a:spcPts val="400"/>
              </a:spcAft>
              <a:defRPr sz="2600" b="1">
                <a:solidFill>
                  <a:srgbClr val="CFB87C"/>
                </a:solidFill>
                <a:latin typeface="Calibri"/>
              </a:defRPr>
            </a:pPr>
            <a:r>
              <a:t>42.3B</a:t>
            </a:r>
          </a:p>
        </p:txBody>
      </p:sp>
      <p:sp>
        <p:nvSpPr>
          <p:cNvPr id="22" name="TextBox 21"/>
          <p:cNvSpPr txBox="1"/>
          <p:nvPr/>
        </p:nvSpPr>
        <p:spPr>
          <a:xfrm>
            <a:off x="8046720" y="5550408"/>
            <a:ext cx="3291840" cy="365760"/>
          </a:xfrm>
          <a:prstGeom prst="rect">
            <a:avLst/>
          </a:prstGeom>
          <a:noFill/>
        </p:spPr>
        <p:txBody>
          <a:bodyPr wrap="square">
            <a:spAutoFit/>
          </a:bodyPr>
          <a:lstStyle/>
          <a:p>
            <a:pPr algn="l">
              <a:spcBef>
                <a:spcPts val="0"/>
              </a:spcBef>
              <a:spcAft>
                <a:spcPts val="400"/>
              </a:spcAft>
              <a:defRPr sz="1400" b="0">
                <a:solidFill>
                  <a:srgbClr val="767676"/>
                </a:solidFill>
                <a:latin typeface="Calibri"/>
              </a:defRPr>
            </a:pPr>
            <a:r>
              <a:t>total voxels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Challenge: Partial Annotation &amp; Class Imbalance</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5486400" cy="228600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Partial Annotation</a:t>
            </a:r>
          </a:p>
          <a:p>
            <a:pPr algn="l">
              <a:spcBef>
                <a:spcPts val="0"/>
              </a:spcBef>
              <a:spcAft>
                <a:spcPts val="400"/>
              </a:spcAft>
              <a:defRPr sz="600" b="0">
                <a:solidFill>
                  <a:srgbClr val="333333"/>
                </a:solidFill>
                <a:latin typeface="Calibri"/>
              </a:defRPr>
            </a:pPr>
          </a:p>
          <a:p>
            <a:pPr algn="l">
              <a:spcBef>
                <a:spcPts val="0"/>
              </a:spcBef>
              <a:spcAft>
                <a:spcPts val="600"/>
              </a:spcAft>
              <a:defRPr sz="1400" b="0">
                <a:solidFill>
                  <a:srgbClr val="333333"/>
                </a:solidFill>
                <a:latin typeface="Calibri"/>
              </a:defRPr>
            </a:pPr>
            <a:r>
              <a:t>• Each crop only labels a subset of 48 classes</a:t>
            </a:r>
          </a:p>
          <a:p>
            <a:pPr algn="l">
              <a:spcBef>
                <a:spcPts val="0"/>
              </a:spcBef>
              <a:spcAft>
                <a:spcPts val="600"/>
              </a:spcAft>
              <a:defRPr sz="1400" b="0">
                <a:solidFill>
                  <a:srgbClr val="333333"/>
                </a:solidFill>
                <a:latin typeface="Calibri"/>
              </a:defRPr>
            </a:pPr>
            <a:r>
              <a:t>• Unlabeled voxels are NaN — NOT "absent"</a:t>
            </a:r>
          </a:p>
          <a:p>
            <a:pPr algn="l">
              <a:spcBef>
                <a:spcPts val="0"/>
              </a:spcBef>
              <a:spcAft>
                <a:spcPts val="600"/>
              </a:spcAft>
              <a:defRPr sz="1400" b="0">
                <a:solidFill>
                  <a:srgbClr val="333333"/>
                </a:solidFill>
                <a:latin typeface="Calibri"/>
              </a:defRPr>
            </a:pPr>
            <a:r>
              <a:t>• Naïve loss treats NaN as negative →</a:t>
            </a:r>
            <a:br/>
            <a:r>
              <a:t>penalizes correct predictions</a:t>
            </a:r>
          </a:p>
          <a:p>
            <a:pPr algn="l">
              <a:spcBef>
                <a:spcPts val="0"/>
              </a:spcBef>
              <a:spcAft>
                <a:spcPts val="600"/>
              </a:spcAft>
              <a:defRPr sz="1400" b="0">
                <a:solidFill>
                  <a:srgbClr val="333333"/>
                </a:solidFill>
                <a:latin typeface="Calibri"/>
              </a:defRPr>
            </a:pPr>
            <a:r>
              <a:t>• Solution: NaN-masked loss — only compute</a:t>
            </a:r>
            <a:br/>
            <a:r>
              <a:t>gradients where annotations exist</a:t>
            </a:r>
          </a:p>
        </p:txBody>
      </p:sp>
      <p:sp>
        <p:nvSpPr>
          <p:cNvPr id="9" name="TextBox 8"/>
          <p:cNvSpPr txBox="1"/>
          <p:nvPr/>
        </p:nvSpPr>
        <p:spPr>
          <a:xfrm>
            <a:off x="6217920" y="777240"/>
            <a:ext cx="5486400" cy="228600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Extreme Class Imbalance</a:t>
            </a:r>
          </a:p>
          <a:p>
            <a:pPr algn="l">
              <a:spcBef>
                <a:spcPts val="0"/>
              </a:spcBef>
              <a:spcAft>
                <a:spcPts val="400"/>
              </a:spcAft>
              <a:defRPr sz="600" b="0">
                <a:solidFill>
                  <a:srgbClr val="333333"/>
                </a:solidFill>
                <a:latin typeface="Calibri"/>
              </a:defRPr>
            </a:pPr>
          </a:p>
          <a:p>
            <a:pPr algn="l">
              <a:spcBef>
                <a:spcPts val="0"/>
              </a:spcBef>
              <a:spcAft>
                <a:spcPts val="600"/>
              </a:spcAft>
              <a:defRPr sz="1400" b="0">
                <a:solidFill>
                  <a:srgbClr val="333333"/>
                </a:solidFill>
                <a:latin typeface="Calibri"/>
              </a:defRPr>
            </a:pPr>
            <a:r>
              <a:t>• 6+ orders of magnitude between largest</a:t>
            </a:r>
            <a:br/>
            <a:r>
              <a:t>and smallest classes</a:t>
            </a:r>
          </a:p>
          <a:p>
            <a:pPr algn="l">
              <a:spcBef>
                <a:spcPts val="0"/>
              </a:spcBef>
              <a:spcAft>
                <a:spcPts val="600"/>
              </a:spcAft>
              <a:defRPr sz="1400" b="0">
                <a:solidFill>
                  <a:srgbClr val="333333"/>
                </a:solidFill>
                <a:latin typeface="Calibri"/>
              </a:defRPr>
            </a:pPr>
            <a:r>
              <a:t>• "cell" = billions of voxels;</a:t>
            </a:r>
            <a:br/>
            <a:r>
              <a:t>"mito_ribo" = tens of thousands</a:t>
            </a:r>
          </a:p>
          <a:p>
            <a:pPr algn="l">
              <a:spcBef>
                <a:spcPts val="0"/>
              </a:spcBef>
              <a:spcAft>
                <a:spcPts val="600"/>
              </a:spcAft>
              <a:defRPr sz="1400" b="0">
                <a:solidFill>
                  <a:srgbClr val="333333"/>
                </a:solidFill>
                <a:latin typeface="Calibri"/>
              </a:defRPr>
            </a:pPr>
            <a:r>
              <a:t>• Without mitigation, model only learns</a:t>
            </a:r>
            <a:br/>
            <a:r>
              <a:t>the top 5–10 largest classes</a:t>
            </a:r>
          </a:p>
          <a:p>
            <a:pPr algn="l">
              <a:spcBef>
                <a:spcPts val="0"/>
              </a:spcBef>
              <a:spcAft>
                <a:spcPts val="600"/>
              </a:spcAft>
              <a:defRPr sz="1400" b="0">
                <a:solidFill>
                  <a:srgbClr val="333333"/>
                </a:solidFill>
                <a:latin typeface="Calibri"/>
              </a:defRPr>
            </a:pPr>
            <a:r>
              <a:t>• Solution: weighted sampling + foreground</a:t>
            </a:r>
            <a:br/>
            <a:r>
              <a:t>masking to focus on annotated regions</a:t>
            </a:r>
          </a:p>
        </p:txBody>
      </p:sp>
      <p:sp>
        <p:nvSpPr>
          <p:cNvPr id="10" name="Rounded Rectangle 9"/>
          <p:cNvSpPr/>
          <p:nvPr/>
        </p:nvSpPr>
        <p:spPr>
          <a:xfrm>
            <a:off x="457200" y="3383280"/>
            <a:ext cx="11247120" cy="24688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474720"/>
            <a:ext cx="10881360" cy="36576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Class Hierarchy: 48 Classes = 31 Atomic + 17 Group/Composite</a:t>
            </a:r>
          </a:p>
        </p:txBody>
      </p:sp>
      <p:sp>
        <p:nvSpPr>
          <p:cNvPr id="12" name="TextBox 11"/>
          <p:cNvSpPr txBox="1"/>
          <p:nvPr/>
        </p:nvSpPr>
        <p:spPr>
          <a:xfrm>
            <a:off x="822960" y="3886200"/>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Mitochondria</a:t>
            </a:r>
          </a:p>
        </p:txBody>
      </p:sp>
      <p:sp>
        <p:nvSpPr>
          <p:cNvPr id="13" name="TextBox 12"/>
          <p:cNvSpPr txBox="1"/>
          <p:nvPr/>
        </p:nvSpPr>
        <p:spPr>
          <a:xfrm>
            <a:off x="2651760" y="3886200"/>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mito_mem, mito_lum, mito_ribo → mito</a:t>
            </a:r>
          </a:p>
        </p:txBody>
      </p:sp>
      <p:sp>
        <p:nvSpPr>
          <p:cNvPr id="14" name="TextBox 13"/>
          <p:cNvSpPr txBox="1"/>
          <p:nvPr/>
        </p:nvSpPr>
        <p:spPr>
          <a:xfrm>
            <a:off x="822960" y="4270248"/>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ER</a:t>
            </a:r>
          </a:p>
        </p:txBody>
      </p:sp>
      <p:sp>
        <p:nvSpPr>
          <p:cNvPr id="15" name="TextBox 14"/>
          <p:cNvSpPr txBox="1"/>
          <p:nvPr/>
        </p:nvSpPr>
        <p:spPr>
          <a:xfrm>
            <a:off x="2651760" y="4270248"/>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er_mem, er_lum, eres_mem, eres_lum → er, eres, er_mem_all</a:t>
            </a:r>
          </a:p>
        </p:txBody>
      </p:sp>
      <p:sp>
        <p:nvSpPr>
          <p:cNvPr id="16" name="TextBox 15"/>
          <p:cNvSpPr txBox="1"/>
          <p:nvPr/>
        </p:nvSpPr>
        <p:spPr>
          <a:xfrm>
            <a:off x="822960" y="4654296"/>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Nucleus</a:t>
            </a:r>
          </a:p>
        </p:txBody>
      </p:sp>
      <p:sp>
        <p:nvSpPr>
          <p:cNvPr id="17" name="TextBox 16"/>
          <p:cNvSpPr txBox="1"/>
          <p:nvPr/>
        </p:nvSpPr>
        <p:spPr>
          <a:xfrm>
            <a:off x="2651760" y="4654296"/>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ne_mem, ne_lum, np_out, np_in, hchrom, echrom, nucpl → nuc, ne, np, chrom</a:t>
            </a:r>
          </a:p>
        </p:txBody>
      </p:sp>
      <p:sp>
        <p:nvSpPr>
          <p:cNvPr id="18" name="TextBox 17"/>
          <p:cNvSpPr txBox="1"/>
          <p:nvPr/>
        </p:nvSpPr>
        <p:spPr>
          <a:xfrm>
            <a:off x="822960" y="5038344"/>
            <a:ext cx="1828800" cy="347472"/>
          </a:xfrm>
          <a:prstGeom prst="rect">
            <a:avLst/>
          </a:prstGeom>
          <a:noFill/>
        </p:spPr>
        <p:txBody>
          <a:bodyPr wrap="square">
            <a:spAutoFit/>
          </a:bodyPr>
          <a:lstStyle/>
          <a:p>
            <a:pPr algn="l">
              <a:spcBef>
                <a:spcPts val="0"/>
              </a:spcBef>
              <a:spcAft>
                <a:spcPts val="400"/>
              </a:spcAft>
              <a:defRPr sz="1200" b="1">
                <a:solidFill>
                  <a:srgbClr val="156082"/>
                </a:solidFill>
                <a:latin typeface="Calibri"/>
              </a:defRPr>
            </a:pPr>
            <a:r>
              <a:t>Vesicles</a:t>
            </a:r>
          </a:p>
        </p:txBody>
      </p:sp>
      <p:sp>
        <p:nvSpPr>
          <p:cNvPr id="19" name="TextBox 18"/>
          <p:cNvSpPr txBox="1"/>
          <p:nvPr/>
        </p:nvSpPr>
        <p:spPr>
          <a:xfrm>
            <a:off x="2651760" y="5038344"/>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ves_mem, ves_lum, endo_mem, endo_lum, lyso_mem, lyso_lum → ves, endo, lyso</a:t>
            </a:r>
          </a:p>
        </p:txBody>
      </p:sp>
      <p:sp>
        <p:nvSpPr>
          <p:cNvPr id="20" name="TextBox 19"/>
          <p:cNvSpPr txBox="1"/>
          <p:nvPr/>
        </p:nvSpPr>
        <p:spPr>
          <a:xfrm>
            <a:off x="822960" y="5422392"/>
            <a:ext cx="1828800" cy="347472"/>
          </a:xfrm>
          <a:prstGeom prst="rect">
            <a:avLst/>
          </a:prstGeom>
          <a:noFill/>
        </p:spPr>
        <p:txBody>
          <a:bodyPr wrap="square">
            <a:spAutoFit/>
          </a:bodyPr>
          <a:lstStyle/>
          <a:p>
            <a:pPr algn="l">
              <a:spcBef>
                <a:spcPts val="0"/>
              </a:spcBef>
              <a:spcAft>
                <a:spcPts val="400"/>
              </a:spcAft>
              <a:defRPr sz="1200" b="1">
                <a:solidFill>
                  <a:srgbClr val="767676"/>
                </a:solidFill>
                <a:latin typeface="Calibri"/>
              </a:defRPr>
            </a:pPr>
            <a:r>
              <a:t>Other</a:t>
            </a:r>
          </a:p>
        </p:txBody>
      </p:sp>
      <p:sp>
        <p:nvSpPr>
          <p:cNvPr id="21" name="TextBox 20"/>
          <p:cNvSpPr txBox="1"/>
          <p:nvPr/>
        </p:nvSpPr>
        <p:spPr>
          <a:xfrm>
            <a:off x="2651760" y="5422392"/>
            <a:ext cx="8686800" cy="347472"/>
          </a:xfrm>
          <a:prstGeom prst="rect">
            <a:avLst/>
          </a:prstGeom>
          <a:noFill/>
        </p:spPr>
        <p:txBody>
          <a:bodyPr wrap="square">
            <a:spAutoFit/>
          </a:bodyPr>
          <a:lstStyle/>
          <a:p>
            <a:pPr algn="l">
              <a:spcBef>
                <a:spcPts val="0"/>
              </a:spcBef>
              <a:spcAft>
                <a:spcPts val="400"/>
              </a:spcAft>
              <a:defRPr sz="1000" b="0">
                <a:solidFill>
                  <a:srgbClr val="767676"/>
                </a:solidFill>
                <a:latin typeface="Consolas"/>
              </a:defRPr>
            </a:pPr>
            <a:r>
              <a:t>golgi_mem/lum, ld_mem/lum, perox_mem/lum, mt_out/in, ecs, pm, cyto → cell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Roadmap</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Oval 7"/>
          <p:cNvSpPr/>
          <p:nvPr/>
        </p:nvSpPr>
        <p:spPr>
          <a:xfrm>
            <a:off x="594360" y="877824"/>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905256"/>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1</a:t>
            </a:r>
          </a:p>
        </p:txBody>
      </p:sp>
      <p:sp>
        <p:nvSpPr>
          <p:cNvPr id="10" name="Rounded Rectangle 9"/>
          <p:cNvSpPr/>
          <p:nvPr/>
        </p:nvSpPr>
        <p:spPr>
          <a:xfrm>
            <a:off x="1188720" y="822960"/>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896112"/>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Infrastructure</a:t>
            </a:r>
          </a:p>
        </p:txBody>
      </p:sp>
      <p:sp>
        <p:nvSpPr>
          <p:cNvPr id="12" name="TextBox 11"/>
          <p:cNvSpPr txBox="1"/>
          <p:nvPr/>
        </p:nvSpPr>
        <p:spPr>
          <a:xfrm>
            <a:off x="4846320" y="896112"/>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Native zarr pipeline, all 48 classes, partial annotation support</a:t>
            </a:r>
          </a:p>
        </p:txBody>
      </p:sp>
      <p:sp>
        <p:nvSpPr>
          <p:cNvPr id="13" name="TextBox 12"/>
          <p:cNvSpPr txBox="1"/>
          <p:nvPr/>
        </p:nvSpPr>
        <p:spPr>
          <a:xfrm>
            <a:off x="9601200" y="896112"/>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14" name="Down Arrow 13"/>
          <p:cNvSpPr/>
          <p:nvPr/>
        </p:nvSpPr>
        <p:spPr>
          <a:xfrm>
            <a:off x="2743200" y="1389888"/>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4360" y="1499616"/>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527048"/>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2</a:t>
            </a:r>
          </a:p>
        </p:txBody>
      </p:sp>
      <p:sp>
        <p:nvSpPr>
          <p:cNvPr id="17" name="Rounded Rectangle 16"/>
          <p:cNvSpPr/>
          <p:nvPr/>
        </p:nvSpPr>
        <p:spPr>
          <a:xfrm>
            <a:off x="1188720" y="1444752"/>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517904"/>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Ablation Study</a:t>
            </a:r>
          </a:p>
        </p:txBody>
      </p:sp>
      <p:sp>
        <p:nvSpPr>
          <p:cNvPr id="19" name="TextBox 18"/>
          <p:cNvSpPr txBox="1"/>
          <p:nvPr/>
        </p:nvSpPr>
        <p:spPr>
          <a:xfrm>
            <a:off x="4846320" y="1517904"/>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63 experiments across 5 sweeps (loss, αβ, τ, masking, techniques)</a:t>
            </a:r>
          </a:p>
        </p:txBody>
      </p:sp>
      <p:sp>
        <p:nvSpPr>
          <p:cNvPr id="20" name="TextBox 19"/>
          <p:cNvSpPr txBox="1"/>
          <p:nvPr/>
        </p:nvSpPr>
        <p:spPr>
          <a:xfrm>
            <a:off x="9601200" y="1517904"/>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21" name="Down Arrow 20"/>
          <p:cNvSpPr/>
          <p:nvPr/>
        </p:nvSpPr>
        <p:spPr>
          <a:xfrm>
            <a:off x="2743200" y="2011680"/>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4360" y="2121408"/>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148840"/>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3</a:t>
            </a:r>
          </a:p>
        </p:txBody>
      </p:sp>
      <p:sp>
        <p:nvSpPr>
          <p:cNvPr id="24" name="Rounded Rectangle 23"/>
          <p:cNvSpPr/>
          <p:nvPr/>
        </p:nvSpPr>
        <p:spPr>
          <a:xfrm>
            <a:off x="1188720" y="2066544"/>
            <a:ext cx="3474720" cy="566928"/>
          </a:xfrm>
          <a:prstGeom prst="roundRect">
            <a:avLst/>
          </a:prstGeom>
          <a:solidFill>
            <a:srgbClr val="E8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2139696"/>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Compose Optimal Config</a:t>
            </a:r>
          </a:p>
        </p:txBody>
      </p:sp>
      <p:sp>
        <p:nvSpPr>
          <p:cNvPr id="26" name="TextBox 25"/>
          <p:cNvSpPr txBox="1"/>
          <p:nvPr/>
        </p:nvSpPr>
        <p:spPr>
          <a:xfrm>
            <a:off x="4846320" y="2139696"/>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Winner from each sweep → single recipe</a:t>
            </a:r>
          </a:p>
        </p:txBody>
      </p:sp>
      <p:sp>
        <p:nvSpPr>
          <p:cNvPr id="27" name="TextBox 26"/>
          <p:cNvSpPr txBox="1"/>
          <p:nvPr/>
        </p:nvSpPr>
        <p:spPr>
          <a:xfrm>
            <a:off x="9601200" y="2139696"/>
            <a:ext cx="2103120" cy="402336"/>
          </a:xfrm>
          <a:prstGeom prst="rect">
            <a:avLst/>
          </a:prstGeom>
          <a:noFill/>
        </p:spPr>
        <p:txBody>
          <a:bodyPr wrap="square">
            <a:spAutoFit/>
          </a:bodyPr>
          <a:lstStyle/>
          <a:p>
            <a:pPr algn="r">
              <a:spcBef>
                <a:spcPts val="0"/>
              </a:spcBef>
              <a:spcAft>
                <a:spcPts val="400"/>
              </a:spcAft>
              <a:defRPr sz="1400" b="1">
                <a:solidFill>
                  <a:srgbClr val="196B24"/>
                </a:solidFill>
                <a:latin typeface="Calibri"/>
              </a:defRPr>
            </a:pPr>
            <a:r>
              <a:t>✅ Done</a:t>
            </a:r>
          </a:p>
        </p:txBody>
      </p:sp>
      <p:sp>
        <p:nvSpPr>
          <p:cNvPr id="28" name="Down Arrow 27"/>
          <p:cNvSpPr/>
          <p:nvPr/>
        </p:nvSpPr>
        <p:spPr>
          <a:xfrm>
            <a:off x="2743200" y="2633472"/>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4360" y="2743200"/>
            <a:ext cx="438912" cy="438912"/>
          </a:xfrm>
          <a:prstGeom prst="ellipse">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770632"/>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4</a:t>
            </a:r>
          </a:p>
        </p:txBody>
      </p:sp>
      <p:sp>
        <p:nvSpPr>
          <p:cNvPr id="31" name="Rounded Rectangle 30"/>
          <p:cNvSpPr/>
          <p:nvPr/>
        </p:nvSpPr>
        <p:spPr>
          <a:xfrm>
            <a:off x="1188720" y="2688336"/>
            <a:ext cx="3474720" cy="566928"/>
          </a:xfrm>
          <a:prstGeom prst="roundRect">
            <a:avLst/>
          </a:prstGeom>
          <a:solidFill>
            <a:srgbClr val="D0DEE8"/>
          </a:solidFill>
          <a:ln w="2540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2761488"/>
            <a:ext cx="3108960" cy="402336"/>
          </a:xfrm>
          <a:prstGeom prst="rect">
            <a:avLst/>
          </a:prstGeom>
          <a:noFill/>
        </p:spPr>
        <p:txBody>
          <a:bodyPr wrap="square">
            <a:spAutoFit/>
          </a:bodyPr>
          <a:lstStyle/>
          <a:p>
            <a:pPr algn="l">
              <a:spcBef>
                <a:spcPts val="0"/>
              </a:spcBef>
              <a:spcAft>
                <a:spcPts val="400"/>
              </a:spcAft>
              <a:defRPr sz="1500" b="1">
                <a:solidFill>
                  <a:srgbClr val="156082"/>
                </a:solidFill>
                <a:latin typeface="Calibri"/>
              </a:defRPr>
            </a:pPr>
            <a:r>
              <a:t>Architecture Comparison</a:t>
            </a:r>
          </a:p>
        </p:txBody>
      </p:sp>
      <p:sp>
        <p:nvSpPr>
          <p:cNvPr id="33" name="TextBox 32"/>
          <p:cNvSpPr txBox="1"/>
          <p:nvPr/>
        </p:nvSpPr>
        <p:spPr>
          <a:xfrm>
            <a:off x="4846320" y="2761488"/>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4×2D + 5×3D models, full training with Dice tracking</a:t>
            </a:r>
          </a:p>
        </p:txBody>
      </p:sp>
      <p:sp>
        <p:nvSpPr>
          <p:cNvPr id="34" name="TextBox 33"/>
          <p:cNvSpPr txBox="1"/>
          <p:nvPr/>
        </p:nvSpPr>
        <p:spPr>
          <a:xfrm>
            <a:off x="9601200" y="2761488"/>
            <a:ext cx="2103120" cy="402336"/>
          </a:xfrm>
          <a:prstGeom prst="rect">
            <a:avLst/>
          </a:prstGeom>
          <a:noFill/>
        </p:spPr>
        <p:txBody>
          <a:bodyPr wrap="square">
            <a:spAutoFit/>
          </a:bodyPr>
          <a:lstStyle/>
          <a:p>
            <a:pPr algn="r">
              <a:spcBef>
                <a:spcPts val="0"/>
              </a:spcBef>
              <a:spcAft>
                <a:spcPts val="400"/>
              </a:spcAft>
              <a:defRPr sz="1400" b="1">
                <a:solidFill>
                  <a:srgbClr val="156082"/>
                </a:solidFill>
                <a:latin typeface="Calibri"/>
              </a:defRPr>
            </a:pPr>
            <a:r>
              <a:t>← In Progress</a:t>
            </a:r>
          </a:p>
        </p:txBody>
      </p:sp>
      <p:sp>
        <p:nvSpPr>
          <p:cNvPr id="35" name="Down Arrow 34"/>
          <p:cNvSpPr/>
          <p:nvPr/>
        </p:nvSpPr>
        <p:spPr>
          <a:xfrm>
            <a:off x="2743200" y="3255264"/>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94360" y="3364992"/>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392424"/>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5</a:t>
            </a:r>
          </a:p>
        </p:txBody>
      </p:sp>
      <p:sp>
        <p:nvSpPr>
          <p:cNvPr id="38" name="Rounded Rectangle 37"/>
          <p:cNvSpPr/>
          <p:nvPr/>
        </p:nvSpPr>
        <p:spPr>
          <a:xfrm>
            <a:off x="1188720" y="3310128"/>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0" y="3383280"/>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Threshold Tuning</a:t>
            </a:r>
          </a:p>
        </p:txBody>
      </p:sp>
      <p:sp>
        <p:nvSpPr>
          <p:cNvPr id="40" name="TextBox 39"/>
          <p:cNvSpPr txBox="1"/>
          <p:nvPr/>
        </p:nvSpPr>
        <p:spPr>
          <a:xfrm>
            <a:off x="4846320" y="3383280"/>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Per-class sigmoid optimization on validation</a:t>
            </a:r>
          </a:p>
        </p:txBody>
      </p:sp>
      <p:sp>
        <p:nvSpPr>
          <p:cNvPr id="41" name="Down Arrow 40"/>
          <p:cNvSpPr/>
          <p:nvPr/>
        </p:nvSpPr>
        <p:spPr>
          <a:xfrm>
            <a:off x="2743200" y="3877056"/>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4360" y="3986784"/>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4014216"/>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6</a:t>
            </a:r>
          </a:p>
        </p:txBody>
      </p:sp>
      <p:sp>
        <p:nvSpPr>
          <p:cNvPr id="44" name="Rounded Rectangle 43"/>
          <p:cNvSpPr/>
          <p:nvPr/>
        </p:nvSpPr>
        <p:spPr>
          <a:xfrm>
            <a:off x="1188720" y="3931920"/>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71600" y="4005072"/>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Per-Class Ensemble</a:t>
            </a:r>
          </a:p>
        </p:txBody>
      </p:sp>
      <p:sp>
        <p:nvSpPr>
          <p:cNvPr id="46" name="TextBox 45"/>
          <p:cNvSpPr txBox="1"/>
          <p:nvPr/>
        </p:nvSpPr>
        <p:spPr>
          <a:xfrm>
            <a:off x="4846320" y="4005072"/>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Best architecture per organelle → composite model</a:t>
            </a:r>
          </a:p>
        </p:txBody>
      </p:sp>
      <p:sp>
        <p:nvSpPr>
          <p:cNvPr id="47" name="Down Arrow 46"/>
          <p:cNvSpPr/>
          <p:nvPr/>
        </p:nvSpPr>
        <p:spPr>
          <a:xfrm>
            <a:off x="2743200" y="4498848"/>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94360" y="4608576"/>
            <a:ext cx="438912" cy="438912"/>
          </a:xfrm>
          <a:prstGeom prst="ellips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36008"/>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7</a:t>
            </a:r>
          </a:p>
        </p:txBody>
      </p:sp>
      <p:sp>
        <p:nvSpPr>
          <p:cNvPr id="50" name="Rounded Rectangle 49"/>
          <p:cNvSpPr/>
          <p:nvPr/>
        </p:nvSpPr>
        <p:spPr>
          <a:xfrm>
            <a:off x="1188720" y="4553712"/>
            <a:ext cx="3474720" cy="566928"/>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71600" y="4626864"/>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Leaderboard Submission</a:t>
            </a:r>
          </a:p>
        </p:txBody>
      </p:sp>
      <p:sp>
        <p:nvSpPr>
          <p:cNvPr id="52" name="TextBox 51"/>
          <p:cNvSpPr txBox="1"/>
          <p:nvPr/>
        </p:nvSpPr>
        <p:spPr>
          <a:xfrm>
            <a:off x="4846320" y="4626864"/>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Submit to CellMap challenge</a:t>
            </a:r>
          </a:p>
        </p:txBody>
      </p:sp>
      <p:sp>
        <p:nvSpPr>
          <p:cNvPr id="53" name="Down Arrow 52"/>
          <p:cNvSpPr/>
          <p:nvPr/>
        </p:nvSpPr>
        <p:spPr>
          <a:xfrm>
            <a:off x="2743200" y="5120640"/>
            <a:ext cx="274320" cy="54864"/>
          </a:xfrm>
          <a:prstGeom prst="downArrow">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94360" y="5230368"/>
            <a:ext cx="438912" cy="438912"/>
          </a:xfrm>
          <a:prstGeom prst="ellipse">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5257800"/>
            <a:ext cx="438912" cy="402336"/>
          </a:xfrm>
          <a:prstGeom prst="rect">
            <a:avLst/>
          </a:prstGeom>
          <a:noFill/>
        </p:spPr>
        <p:txBody>
          <a:bodyPr wrap="square">
            <a:spAutoFit/>
          </a:bodyPr>
          <a:lstStyle/>
          <a:p>
            <a:pPr algn="ctr">
              <a:spcBef>
                <a:spcPts val="0"/>
              </a:spcBef>
              <a:spcAft>
                <a:spcPts val="400"/>
              </a:spcAft>
              <a:defRPr sz="1600" b="1">
                <a:solidFill>
                  <a:srgbClr val="FFFFFF"/>
                </a:solidFill>
                <a:latin typeface="Calibri"/>
              </a:defRPr>
            </a:pPr>
            <a:r>
              <a:t>8</a:t>
            </a:r>
          </a:p>
        </p:txBody>
      </p:sp>
      <p:sp>
        <p:nvSpPr>
          <p:cNvPr id="56" name="Rounded Rectangle 55"/>
          <p:cNvSpPr/>
          <p:nvPr/>
        </p:nvSpPr>
        <p:spPr>
          <a:xfrm>
            <a:off x="1188720" y="5175504"/>
            <a:ext cx="3474720" cy="566928"/>
          </a:xfrm>
          <a:prstGeom prst="roundRect">
            <a:avLst/>
          </a:prstGeom>
          <a:solidFill>
            <a:srgbClr val="D4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71600" y="5248656"/>
            <a:ext cx="3108960" cy="402336"/>
          </a:xfrm>
          <a:prstGeom prst="rect">
            <a:avLst/>
          </a:prstGeom>
          <a:noFill/>
        </p:spPr>
        <p:txBody>
          <a:bodyPr wrap="square">
            <a:spAutoFit/>
          </a:bodyPr>
          <a:lstStyle/>
          <a:p>
            <a:pPr algn="l">
              <a:spcBef>
                <a:spcPts val="0"/>
              </a:spcBef>
              <a:spcAft>
                <a:spcPts val="400"/>
              </a:spcAft>
              <a:defRPr sz="1500" b="1">
                <a:solidFill>
                  <a:srgbClr val="333333"/>
                </a:solidFill>
                <a:latin typeface="Calibri"/>
              </a:defRPr>
            </a:pPr>
            <a:r>
              <a:t>Novel Tomograms</a:t>
            </a:r>
          </a:p>
        </p:txBody>
      </p:sp>
      <p:sp>
        <p:nvSpPr>
          <p:cNvPr id="58" name="TextBox 57"/>
          <p:cNvSpPr txBox="1"/>
          <p:nvPr/>
        </p:nvSpPr>
        <p:spPr>
          <a:xfrm>
            <a:off x="4846320" y="5248656"/>
            <a:ext cx="4572000" cy="402336"/>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Apply to our own electron tomography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Phase 1: What 63 Ablation Experiments Taught Us</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11247120" cy="365760"/>
          </a:xfrm>
          <a:prstGeom prst="rect">
            <a:avLst/>
          </a:prstGeom>
          <a:noFill/>
        </p:spPr>
        <p:txBody>
          <a:bodyPr wrap="square">
            <a:spAutoFit/>
          </a:bodyPr>
          <a:lstStyle/>
          <a:p>
            <a:pPr algn="l">
              <a:spcBef>
                <a:spcPts val="0"/>
              </a:spcBef>
              <a:spcAft>
                <a:spcPts val="400"/>
              </a:spcAft>
              <a:defRPr sz="1300" b="0">
                <a:solidFill>
                  <a:srgbClr val="767676"/>
                </a:solidFill>
                <a:latin typeface="Calibri"/>
              </a:defRPr>
            </a:pPr>
            <a:r>
              <a:t>34 in 2D (L40S, ~3h each)  +  29 in 3D (H100, ~15h each)  =  63 experiments, ~600 GPU-hours</a:t>
            </a:r>
          </a:p>
        </p:txBody>
      </p:sp>
      <p:graphicFrame>
        <p:nvGraphicFramePr>
          <p:cNvPr id="9" name="Table 8"/>
          <p:cNvGraphicFramePr>
            <a:graphicFrameLocks noGrp="1"/>
          </p:cNvGraphicFramePr>
          <p:nvPr/>
        </p:nvGraphicFramePr>
        <p:xfrm>
          <a:off x="274320" y="1188720"/>
          <a:ext cx="11612880" cy="347472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579120">
                <a:tc>
                  <a:txBody>
                    <a:bodyPr/>
                    <a:lstStyle/>
                    <a:p>
                      <a:pPr>
                        <a:defRPr sz="1000" b="1">
                          <a:solidFill>
                            <a:srgbClr val="FFFFFF"/>
                          </a:solidFill>
                          <a:latin typeface="Calibri"/>
                        </a:defRPr>
                      </a:pPr>
                      <a:r>
                        <a:t>Sweep</a:t>
                      </a:r>
                    </a:p>
                  </a:txBody>
                  <a:tcPr anchor="ctr">
                    <a:solidFill>
                      <a:srgbClr val="156082"/>
                    </a:solidFill>
                  </a:tcPr>
                </a:tc>
                <a:tc>
                  <a:txBody>
                    <a:bodyPr/>
                    <a:lstStyle/>
                    <a:p>
                      <a:pPr>
                        <a:defRPr sz="1000" b="1">
                          <a:solidFill>
                            <a:srgbClr val="FFFFFF"/>
                          </a:solidFill>
                          <a:latin typeface="Calibri"/>
                        </a:defRPr>
                      </a:pPr>
                      <a:r>
                        <a:t>What We Varied</a:t>
                      </a:r>
                    </a:p>
                  </a:txBody>
                  <a:tcPr anchor="ctr">
                    <a:solidFill>
                      <a:srgbClr val="156082"/>
                    </a:solidFill>
                  </a:tcPr>
                </a:tc>
                <a:tc>
                  <a:txBody>
                    <a:bodyPr/>
                    <a:lstStyle/>
                    <a:p>
                      <a:pPr>
                        <a:defRPr sz="1000" b="1">
                          <a:solidFill>
                            <a:srgbClr val="FFFFFF"/>
                          </a:solidFill>
                          <a:latin typeface="Calibri"/>
                        </a:defRPr>
                      </a:pPr>
                      <a:r>
                        <a:t># Exps</a:t>
                      </a:r>
                    </a:p>
                  </a:txBody>
                  <a:tcPr anchor="ctr">
                    <a:solidFill>
                      <a:srgbClr val="156082"/>
                    </a:solidFill>
                  </a:tcPr>
                </a:tc>
                <a:tc>
                  <a:txBody>
                    <a:bodyPr/>
                    <a:lstStyle/>
                    <a:p>
                      <a:pPr>
                        <a:defRPr sz="1000" b="1">
                          <a:solidFill>
                            <a:srgbClr val="FFFFFF"/>
                          </a:solidFill>
                          <a:latin typeface="Calibri"/>
                        </a:defRPr>
                      </a:pPr>
                      <a:r>
                        <a:t>Key Finding</a:t>
                      </a:r>
                    </a:p>
                  </a:txBody>
                  <a:tcPr anchor="ctr">
                    <a:solidFill>
                      <a:srgbClr val="156082"/>
                    </a:solidFill>
                  </a:tcPr>
                </a:tc>
                <a:tc>
                  <a:txBody>
                    <a:bodyPr/>
                    <a:lstStyle/>
                    <a:p>
                      <a:pPr>
                        <a:defRPr sz="1000" b="1">
                          <a:solidFill>
                            <a:srgbClr val="FFFFFF"/>
                          </a:solidFill>
                          <a:latin typeface="Calibri"/>
                        </a:defRPr>
                      </a:pPr>
                      <a:r>
                        <a:t>Winner</a:t>
                      </a:r>
                    </a:p>
                  </a:txBody>
                  <a:tcPr anchor="ctr">
                    <a:solidFill>
                      <a:srgbClr val="156082"/>
                    </a:solidFill>
                  </a:tcPr>
                </a:tc>
              </a:tr>
              <a:tr h="579120">
                <a:tc>
                  <a:txBody>
                    <a:bodyPr/>
                    <a:lstStyle/>
                    <a:p>
                      <a:pPr>
                        <a:defRPr sz="1000">
                          <a:solidFill>
                            <a:srgbClr val="333333"/>
                          </a:solidFill>
                          <a:latin typeface="Calibri"/>
                        </a:defRPr>
                      </a:pPr>
                      <a:r>
                        <a:t>A: Loss</a:t>
                      </a:r>
                    </a:p>
                  </a:txBody>
                  <a:tcPr anchor="ctr"/>
                </a:tc>
                <a:tc>
                  <a:txBody>
                    <a:bodyPr/>
                    <a:lstStyle/>
                    <a:p>
                      <a:pPr>
                        <a:defRPr sz="1000">
                          <a:solidFill>
                            <a:srgbClr val="333333"/>
                          </a:solidFill>
                          <a:latin typeface="Calibri"/>
                        </a:defRPr>
                      </a:pPr>
                      <a:r>
                        <a:t>8 loss functions</a:t>
                      </a:r>
                    </a:p>
                    <a:p>
                      <a:pPr>
                        <a:defRPr sz="1000">
                          <a:solidFill>
                            <a:srgbClr val="333333"/>
                          </a:solidFill>
                          <a:latin typeface="Calibri"/>
                        </a:defRPr>
                      </a:pPr>
                      <a:r>
                        <a:t>(BCE, Dice, Tversky, Focal…)</a:t>
                      </a:r>
                    </a:p>
                  </a:txBody>
                  <a:tcPr anchor="ctr"/>
                </a:tc>
                <a:tc>
                  <a:txBody>
                    <a:bodyPr/>
                    <a:lstStyle/>
                    <a:p>
                      <a:pPr>
                        <a:defRPr sz="1000">
                          <a:solidFill>
                            <a:srgbClr val="333333"/>
                          </a:solidFill>
                          <a:latin typeface="Calibri"/>
                        </a:defRPr>
                      </a:pPr>
                      <a:r>
                        <a:t>16</a:t>
                      </a:r>
                    </a:p>
                  </a:txBody>
                  <a:tcPr anchor="ctr"/>
                </a:tc>
                <a:tc>
                  <a:txBody>
                    <a:bodyPr/>
                    <a:lstStyle/>
                    <a:p>
                      <a:pPr>
                        <a:defRPr sz="1000">
                          <a:solidFill>
                            <a:srgbClr val="333333"/>
                          </a:solidFill>
                          <a:latin typeface="Calibri"/>
                        </a:defRPr>
                      </a:pPr>
                      <a:r>
                        <a:t>Simple losses crush complex ones.</a:t>
                      </a:r>
                    </a:p>
                    <a:p>
                      <a:pPr>
                        <a:defRPr sz="1000">
                          <a:solidFill>
                            <a:srgbClr val="333333"/>
                          </a:solidFill>
                          <a:latin typeface="Calibri"/>
                        </a:defRPr>
                      </a:pPr>
                      <a:r>
                        <a:t>BCE: 0.476 Dice, DiceBCE: 0.459 Dice</a:t>
                      </a:r>
                    </a:p>
                  </a:txBody>
                  <a:tcPr anchor="ctr"/>
                </a:tc>
                <a:tc>
                  <a:txBody>
                    <a:bodyPr/>
                    <a:lstStyle/>
                    <a:p>
                      <a:pPr>
                        <a:defRPr sz="1000">
                          <a:solidFill>
                            <a:srgbClr val="333333"/>
                          </a:solidFill>
                          <a:latin typeface="Calibri"/>
                        </a:defRPr>
                      </a:pPr>
                      <a:r>
                        <a:t>dice_bce</a:t>
                      </a:r>
                    </a:p>
                  </a:txBody>
                  <a:tcPr anchor="ctr"/>
                </a:tc>
              </a:tr>
              <a:tr h="579120">
                <a:tc>
                  <a:txBody>
                    <a:bodyPr/>
                    <a:lstStyle/>
                    <a:p>
                      <a:pPr>
                        <a:defRPr sz="1000">
                          <a:solidFill>
                            <a:srgbClr val="333333"/>
                          </a:solidFill>
                          <a:latin typeface="Calibri"/>
                        </a:defRPr>
                      </a:pPr>
                      <a:r>
                        <a:t>B: Tversky αβ</a:t>
                      </a:r>
                    </a:p>
                  </a:txBody>
                  <a:tcPr anchor="ctr">
                    <a:solidFill>
                      <a:srgbClr val="F2F2F2"/>
                    </a:solidFill>
                  </a:tcPr>
                </a:tc>
                <a:tc>
                  <a:txBody>
                    <a:bodyPr/>
                    <a:lstStyle/>
                    <a:p>
                      <a:pPr>
                        <a:defRPr sz="1000">
                          <a:solidFill>
                            <a:srgbClr val="333333"/>
                          </a:solidFill>
                          <a:latin typeface="Calibri"/>
                        </a:defRPr>
                      </a:pPr>
                      <a:r>
                        <a:t>6 precision/recall</a:t>
                      </a:r>
                    </a:p>
                    <a:p>
                      <a:pPr>
                        <a:defRPr sz="1000">
                          <a:solidFill>
                            <a:srgbClr val="333333"/>
                          </a:solidFill>
                          <a:latin typeface="Calibri"/>
                        </a:defRPr>
                      </a:pPr>
                      <a:r>
                        <a:t>bias settings</a:t>
                      </a:r>
                    </a:p>
                  </a:txBody>
                  <a:tcPr anchor="ctr">
                    <a:solidFill>
                      <a:srgbClr val="F2F2F2"/>
                    </a:solidFill>
                  </a:tcPr>
                </a:tc>
                <a:tc>
                  <a:txBody>
                    <a:bodyPr/>
                    <a:lstStyle/>
                    <a:p>
                      <a:pPr>
                        <a:defRPr sz="1000">
                          <a:solidFill>
                            <a:srgbClr val="333333"/>
                          </a:solidFill>
                          <a:latin typeface="Calibri"/>
                        </a:defRPr>
                      </a:pPr>
                      <a:r>
                        <a:t>12</a:t>
                      </a:r>
                    </a:p>
                  </a:txBody>
                  <a:tcPr anchor="ctr">
                    <a:solidFill>
                      <a:srgbClr val="F2F2F2"/>
                    </a:solidFill>
                  </a:tcPr>
                </a:tc>
                <a:tc>
                  <a:txBody>
                    <a:bodyPr/>
                    <a:lstStyle/>
                    <a:p>
                      <a:pPr>
                        <a:defRPr sz="1000">
                          <a:solidFill>
                            <a:srgbClr val="333333"/>
                          </a:solidFill>
                          <a:latin typeface="Calibri"/>
                        </a:defRPr>
                      </a:pPr>
                      <a:r>
                        <a:t>All Tversky variants cluster at 0.37–0.41.</a:t>
                      </a:r>
                    </a:p>
                    <a:p>
                      <a:pPr>
                        <a:defRPr sz="1000">
                          <a:solidFill>
                            <a:srgbClr val="333333"/>
                          </a:solidFill>
                          <a:latin typeface="Calibri"/>
                        </a:defRPr>
                      </a:pPr>
                      <a:r>
                        <a:t>No αβ beats dice_bce.</a:t>
                      </a:r>
                    </a:p>
                  </a:txBody>
                  <a:tcPr anchor="ctr">
                    <a:solidFill>
                      <a:srgbClr val="F2F2F2"/>
                    </a:solidFill>
                  </a:tcPr>
                </a:tc>
                <a:tc>
                  <a:txBody>
                    <a:bodyPr/>
                    <a:lstStyle/>
                    <a:p>
                      <a:pPr>
                        <a:defRPr sz="1000">
                          <a:solidFill>
                            <a:srgbClr val="333333"/>
                          </a:solidFill>
                          <a:latin typeface="Calibri"/>
                        </a:defRPr>
                      </a:pPr>
                      <a:r>
                        <a:t>N/A — Tversky</a:t>
                      </a:r>
                    </a:p>
                    <a:p>
                      <a:pPr>
                        <a:defRPr sz="1000">
                          <a:solidFill>
                            <a:srgbClr val="333333"/>
                          </a:solidFill>
                          <a:latin typeface="Calibri"/>
                        </a:defRPr>
                      </a:pPr>
                      <a:r>
                        <a:t>suboptimal</a:t>
                      </a:r>
                    </a:p>
                  </a:txBody>
                  <a:tcPr anchor="ctr">
                    <a:solidFill>
                      <a:srgbClr val="F2F2F2"/>
                    </a:solidFill>
                  </a:tcPr>
                </a:tc>
              </a:tr>
              <a:tr h="579120">
                <a:tc>
                  <a:txBody>
                    <a:bodyPr/>
                    <a:lstStyle/>
                    <a:p>
                      <a:pPr>
                        <a:defRPr sz="1000">
                          <a:solidFill>
                            <a:srgbClr val="333333"/>
                          </a:solidFill>
                          <a:latin typeface="Calibri"/>
                        </a:defRPr>
                      </a:pPr>
                      <a:r>
                        <a:t>C: Class wt τ</a:t>
                      </a:r>
                    </a:p>
                  </a:txBody>
                  <a:tcPr anchor="ctr"/>
                </a:tc>
                <a:tc>
                  <a:txBody>
                    <a:bodyPr/>
                    <a:lstStyle/>
                    <a:p>
                      <a:pPr>
                        <a:defRPr sz="1000">
                          <a:solidFill>
                            <a:srgbClr val="333333"/>
                          </a:solidFill>
                          <a:latin typeface="Calibri"/>
                        </a:defRPr>
                      </a:pPr>
                      <a:r>
                        <a:t>5 logit adjustment</a:t>
                      </a:r>
                    </a:p>
                    <a:p>
                      <a:pPr>
                        <a:defRPr sz="1000">
                          <a:solidFill>
                            <a:srgbClr val="333333"/>
                          </a:solidFill>
                          <a:latin typeface="Calibri"/>
                        </a:defRPr>
                      </a:pPr>
                      <a:r>
                        <a:t>strengths</a:t>
                      </a:r>
                    </a:p>
                  </a:txBody>
                  <a:tcPr anchor="ctr"/>
                </a:tc>
                <a:tc>
                  <a:txBody>
                    <a:bodyPr/>
                    <a:lstStyle/>
                    <a:p>
                      <a:pPr>
                        <a:defRPr sz="1000">
                          <a:solidFill>
                            <a:srgbClr val="333333"/>
                          </a:solidFill>
                          <a:latin typeface="Calibri"/>
                        </a:defRPr>
                      </a:pPr>
                      <a:r>
                        <a:t>10</a:t>
                      </a:r>
                    </a:p>
                  </a:txBody>
                  <a:tcPr anchor="ctr"/>
                </a:tc>
                <a:tc>
                  <a:txBody>
                    <a:bodyPr/>
                    <a:lstStyle/>
                    <a:p>
                      <a:pPr>
                        <a:defRPr sz="1000">
                          <a:solidFill>
                            <a:srgbClr val="333333"/>
                          </a:solidFill>
                          <a:latin typeface="Calibri"/>
                        </a:defRPr>
                      </a:pPr>
                      <a:r>
                        <a:t>High τ destroys predictions (Dice→0).</a:t>
                      </a:r>
                    </a:p>
                    <a:p>
                      <a:pPr>
                        <a:defRPr sz="1000">
                          <a:solidFill>
                            <a:srgbClr val="333333"/>
                          </a:solidFill>
                          <a:latin typeface="Calibri"/>
                        </a:defRPr>
                      </a:pPr>
                      <a:r>
                        <a:t>Logit adjustment + partial annot = bad.</a:t>
                      </a:r>
                    </a:p>
                  </a:txBody>
                  <a:tcPr anchor="ctr"/>
                </a:tc>
                <a:tc>
                  <a:txBody>
                    <a:bodyPr/>
                    <a:lstStyle/>
                    <a:p>
                      <a:pPr>
                        <a:defRPr sz="1000">
                          <a:solidFill>
                            <a:srgbClr val="333333"/>
                          </a:solidFill>
                          <a:latin typeface="Calibri"/>
                        </a:defRPr>
                      </a:pPr>
                      <a:r>
                        <a:t>N/A — no logit</a:t>
                      </a:r>
                    </a:p>
                    <a:p>
                      <a:pPr>
                        <a:defRPr sz="1000">
                          <a:solidFill>
                            <a:srgbClr val="333333"/>
                          </a:solidFill>
                          <a:latin typeface="Calibri"/>
                        </a:defRPr>
                      </a:pPr>
                      <a:r>
                        <a:t>adjustment</a:t>
                      </a:r>
                    </a:p>
                  </a:txBody>
                  <a:tcPr anchor="ctr"/>
                </a:tc>
              </a:tr>
              <a:tr h="579120">
                <a:tc>
                  <a:txBody>
                    <a:bodyPr/>
                    <a:lstStyle/>
                    <a:p>
                      <a:pPr>
                        <a:defRPr sz="1000">
                          <a:solidFill>
                            <a:srgbClr val="333333"/>
                          </a:solidFill>
                          <a:latin typeface="Calibri"/>
                        </a:defRPr>
                      </a:pPr>
                      <a:r>
                        <a:t>D: Masking</a:t>
                      </a:r>
                    </a:p>
                  </a:txBody>
                  <a:tcPr anchor="ctr">
                    <a:solidFill>
                      <a:srgbClr val="F2F2F2"/>
                    </a:solidFill>
                  </a:tcPr>
                </a:tc>
                <a:tc>
                  <a:txBody>
                    <a:bodyPr/>
                    <a:lstStyle/>
                    <a:p>
                      <a:pPr>
                        <a:defRPr sz="1000">
                          <a:solidFill>
                            <a:srgbClr val="333333"/>
                          </a:solidFill>
                          <a:latin typeface="Calibri"/>
                        </a:defRPr>
                      </a:pPr>
                      <a:r>
                        <a:t>7 masking strategies</a:t>
                      </a:r>
                    </a:p>
                    <a:p>
                      <a:pPr>
                        <a:defRPr sz="1000">
                          <a:solidFill>
                            <a:srgbClr val="333333"/>
                          </a:solidFill>
                          <a:latin typeface="Calibri"/>
                        </a:defRPr>
                      </a:pPr>
                      <a:r>
                        <a:t>(FG, bbox, masksup…)</a:t>
                      </a:r>
                    </a:p>
                  </a:txBody>
                  <a:tcPr anchor="ctr">
                    <a:solidFill>
                      <a:srgbClr val="F2F2F2"/>
                    </a:solidFill>
                  </a:tcPr>
                </a:tc>
                <a:tc>
                  <a:txBody>
                    <a:bodyPr/>
                    <a:lstStyle/>
                    <a:p>
                      <a:pPr>
                        <a:defRPr sz="1000">
                          <a:solidFill>
                            <a:srgbClr val="333333"/>
                          </a:solidFill>
                          <a:latin typeface="Calibri"/>
                        </a:defRPr>
                      </a:pPr>
                      <a:r>
                        <a:t>14</a:t>
                      </a:r>
                    </a:p>
                  </a:txBody>
                  <a:tcPr anchor="ctr">
                    <a:solidFill>
                      <a:srgbClr val="F2F2F2"/>
                    </a:solidFill>
                  </a:tcPr>
                </a:tc>
                <a:tc>
                  <a:txBody>
                    <a:bodyPr/>
                    <a:lstStyle/>
                    <a:p>
                      <a:pPr>
                        <a:defRPr sz="1000">
                          <a:solidFill>
                            <a:srgbClr val="333333"/>
                          </a:solidFill>
                          <a:latin typeface="Calibri"/>
                        </a:defRPr>
                      </a:pPr>
                      <a:r>
                        <a:t>FG mask gives free +28% improvement.</a:t>
                      </a:r>
                    </a:p>
                    <a:p>
                      <a:pPr>
                        <a:defRPr sz="1000">
                          <a:solidFill>
                            <a:srgbClr val="333333"/>
                          </a:solidFill>
                          <a:latin typeface="Calibri"/>
                        </a:defRPr>
                      </a:pPr>
                      <a:r>
                        <a:t>Bbox alone HURTS performance.</a:t>
                      </a:r>
                    </a:p>
                  </a:txBody>
                  <a:tcPr anchor="ctr">
                    <a:solidFill>
                      <a:srgbClr val="F2F2F2"/>
                    </a:solidFill>
                  </a:tcPr>
                </a:tc>
                <a:tc>
                  <a:txBody>
                    <a:bodyPr/>
                    <a:lstStyle/>
                    <a:p>
                      <a:pPr>
                        <a:defRPr sz="1000">
                          <a:solidFill>
                            <a:srgbClr val="333333"/>
                          </a:solidFill>
                          <a:latin typeface="Calibri"/>
                        </a:defRPr>
                      </a:pPr>
                      <a:r>
                        <a:t>FG mask ON,</a:t>
                      </a:r>
                    </a:p>
                    <a:p>
                      <a:pPr>
                        <a:defRPr sz="1000">
                          <a:solidFill>
                            <a:srgbClr val="333333"/>
                          </a:solidFill>
                          <a:latin typeface="Calibri"/>
                        </a:defRPr>
                      </a:pPr>
                      <a:r>
                        <a:t>bbox OFF</a:t>
                      </a:r>
                    </a:p>
                  </a:txBody>
                  <a:tcPr anchor="ctr">
                    <a:solidFill>
                      <a:srgbClr val="F2F2F2"/>
                    </a:solidFill>
                  </a:tcPr>
                </a:tc>
              </a:tr>
              <a:tr h="579120">
                <a:tc>
                  <a:txBody>
                    <a:bodyPr/>
                    <a:lstStyle/>
                    <a:p>
                      <a:pPr>
                        <a:defRPr sz="1000">
                          <a:solidFill>
                            <a:srgbClr val="333333"/>
                          </a:solidFill>
                          <a:latin typeface="Calibri"/>
                        </a:defRPr>
                      </a:pPr>
                      <a:r>
                        <a:t>E: Techniques</a:t>
                      </a:r>
                    </a:p>
                  </a:txBody>
                  <a:tcPr anchor="ctr"/>
                </a:tc>
                <a:tc>
                  <a:txBody>
                    <a:bodyPr/>
                    <a:lstStyle/>
                    <a:p>
                      <a:pPr>
                        <a:defRPr sz="1000">
                          <a:solidFill>
                            <a:srgbClr val="333333"/>
                          </a:solidFill>
                          <a:latin typeface="Calibri"/>
                        </a:defRPr>
                      </a:pPr>
                      <a:r>
                        <a:t>EMA, sampler, aug,</a:t>
                      </a:r>
                    </a:p>
                    <a:p>
                      <a:pPr>
                        <a:defRPr sz="1000">
                          <a:solidFill>
                            <a:srgbClr val="333333"/>
                          </a:solidFill>
                          <a:latin typeface="Calibri"/>
                        </a:defRPr>
                      </a:pPr>
                      <a:r>
                        <a:t>crop weights</a:t>
                      </a:r>
                    </a:p>
                  </a:txBody>
                  <a:tcPr anchor="ctr"/>
                </a:tc>
                <a:tc>
                  <a:txBody>
                    <a:bodyPr/>
                    <a:lstStyle/>
                    <a:p>
                      <a:pPr>
                        <a:defRPr sz="1000">
                          <a:solidFill>
                            <a:srgbClr val="333333"/>
                          </a:solidFill>
                          <a:latin typeface="Calibri"/>
                        </a:defRPr>
                      </a:pPr>
                      <a:r>
                        <a:t>11</a:t>
                      </a:r>
                    </a:p>
                  </a:txBody>
                  <a:tcPr anchor="ctr"/>
                </a:tc>
                <a:tc>
                  <a:txBody>
                    <a:bodyPr/>
                    <a:lstStyle/>
                    <a:p>
                      <a:pPr>
                        <a:defRPr sz="1000">
                          <a:solidFill>
                            <a:srgbClr val="333333"/>
                          </a:solidFill>
                          <a:latin typeface="Calibri"/>
                        </a:defRPr>
                      </a:pPr>
                      <a:r>
                        <a:t>EMA: 4× better val_loss. Sampler: essential.</a:t>
                      </a:r>
                    </a:p>
                    <a:p>
                      <a:pPr>
                        <a:defRPr sz="1000">
                          <a:solidFill>
                            <a:srgbClr val="333333"/>
                          </a:solidFill>
                          <a:latin typeface="Calibri"/>
                        </a:defRPr>
                      </a:pPr>
                      <a:r>
                        <a:t>Intensity aug HURTS (−23%). Crop wts HURT (−38%).</a:t>
                      </a:r>
                    </a:p>
                  </a:txBody>
                  <a:tcPr anchor="ctr"/>
                </a:tc>
                <a:tc>
                  <a:txBody>
                    <a:bodyPr/>
                    <a:lstStyle/>
                    <a:p>
                      <a:pPr>
                        <a:defRPr sz="1000">
                          <a:solidFill>
                            <a:srgbClr val="333333"/>
                          </a:solidFill>
                          <a:latin typeface="Calibri"/>
                        </a:defRPr>
                      </a:pPr>
                      <a:r>
                        <a:t>EMA + weighted</a:t>
                      </a:r>
                    </a:p>
                    <a:p>
                      <a:pPr>
                        <a:defRPr sz="1000">
                          <a:solidFill>
                            <a:srgbClr val="333333"/>
                          </a:solidFill>
                          <a:latin typeface="Calibri"/>
                        </a:defRPr>
                      </a:pPr>
                      <a:r>
                        <a:t>sampler</a:t>
                      </a:r>
                    </a:p>
                  </a:txBody>
                  <a:tcPr anchor="ctr"/>
                </a:tc>
              </a:tr>
            </a:tbl>
          </a:graphicData>
        </a:graphic>
      </p:graphicFrame>
      <p:sp>
        <p:nvSpPr>
          <p:cNvPr id="10" name="Rounded Rectangle 9"/>
          <p:cNvSpPr/>
          <p:nvPr/>
        </p:nvSpPr>
        <p:spPr>
          <a:xfrm>
            <a:off x="457200" y="4800600"/>
            <a:ext cx="11247120" cy="100584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846320"/>
            <a:ext cx="10881360" cy="914400"/>
          </a:xfrm>
          <a:prstGeom prst="rect">
            <a:avLst/>
          </a:prstGeom>
          <a:noFill/>
        </p:spPr>
        <p:txBody>
          <a:bodyPr wrap="square">
            <a:spAutoFit/>
          </a:bodyPr>
          <a:lstStyle/>
          <a:p>
            <a:pPr algn="l">
              <a:spcBef>
                <a:spcPts val="0"/>
              </a:spcBef>
              <a:spcAft>
                <a:spcPts val="400"/>
              </a:spcAft>
              <a:defRPr sz="1400" b="1">
                <a:solidFill>
                  <a:srgbClr val="156082"/>
                </a:solidFill>
                <a:latin typeface="Calibri"/>
              </a:defRPr>
            </a:pPr>
            <a:r>
              <a:t>Key Takeaway:</a:t>
            </a:r>
          </a:p>
          <a:p>
            <a:pPr algn="l">
              <a:spcBef>
                <a:spcPts val="0"/>
              </a:spcBef>
              <a:spcAft>
                <a:spcPts val="400"/>
              </a:spcAft>
              <a:defRPr sz="1300" b="0">
                <a:solidFill>
                  <a:srgbClr val="333333"/>
                </a:solidFill>
                <a:latin typeface="Calibri"/>
              </a:defRPr>
            </a:pPr>
            <a:r>
              <a:t>Simple beats complex. DiceBCE + EMA + foreground mask + weighted sampler = best recipe.  Fancy losses (Tversky, focal, logit adjustment) all underperformed. Extra augmentation and sampling tricks actively hurt.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The Optimal Recipe</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Rounded Rectangle 7"/>
          <p:cNvSpPr/>
          <p:nvPr/>
        </p:nvSpPr>
        <p:spPr>
          <a:xfrm>
            <a:off x="457200" y="777240"/>
            <a:ext cx="5303520" cy="484632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868680"/>
            <a:ext cx="4937760" cy="4663440"/>
          </a:xfrm>
          <a:prstGeom prst="rect">
            <a:avLst/>
          </a:prstGeom>
          <a:noFill/>
        </p:spPr>
        <p:txBody>
          <a:bodyPr wrap="square">
            <a:spAutoFit/>
          </a:bodyPr>
          <a:lstStyle/>
          <a:p>
            <a:pPr algn="l">
              <a:spcBef>
                <a:spcPts val="0"/>
              </a:spcBef>
              <a:spcAft>
                <a:spcPts val="400"/>
              </a:spcAft>
              <a:defRPr sz="1800" b="1">
                <a:solidFill>
                  <a:srgbClr val="CFB87C"/>
                </a:solidFill>
                <a:latin typeface="Calibri"/>
              </a:defRPr>
            </a:pPr>
            <a:r>
              <a:t>Phase 2 Training Configuration</a:t>
            </a:r>
          </a:p>
          <a:p>
            <a:pPr algn="l">
              <a:spcBef>
                <a:spcPts val="0"/>
              </a:spcBef>
              <a:spcAft>
                <a:spcPts val="400"/>
              </a:spcAft>
              <a:defRPr sz="800" b="0">
                <a:solidFill>
                  <a:srgbClr val="333333"/>
                </a:solidFill>
                <a:latin typeface="Calibri"/>
              </a:defRPr>
            </a:pPr>
          </a:p>
          <a:p>
            <a:pPr algn="l">
              <a:spcBef>
                <a:spcPts val="0"/>
              </a:spcBef>
              <a:spcAft>
                <a:spcPts val="100"/>
              </a:spcAft>
              <a:defRPr sz="1200" b="1">
                <a:solidFill>
                  <a:srgbClr val="156082"/>
                </a:solidFill>
                <a:latin typeface="Calibri"/>
              </a:defRPr>
            </a:pPr>
            <a:r>
              <a:t>Loss:  DiceBCE</a:t>
            </a:r>
          </a:p>
          <a:p>
            <a:pPr algn="l">
              <a:spcBef>
                <a:spcPts val="0"/>
              </a:spcBef>
              <a:spcAft>
                <a:spcPts val="800"/>
              </a:spcAft>
              <a:defRPr sz="1000" b="0">
                <a:solidFill>
                  <a:srgbClr val="767676"/>
                </a:solidFill>
                <a:latin typeface="Calibri"/>
              </a:defRPr>
            </a:pPr>
            <a:r>
              <a:t>     Dice component optimizes</a:t>
            </a:r>
            <a:br/>
            <a:r>
              <a:t>overlap for rare classes</a:t>
            </a:r>
          </a:p>
          <a:p>
            <a:pPr algn="l">
              <a:spcBef>
                <a:spcPts val="0"/>
              </a:spcBef>
              <a:spcAft>
                <a:spcPts val="100"/>
              </a:spcAft>
              <a:defRPr sz="1200" b="1">
                <a:solidFill>
                  <a:srgbClr val="156082"/>
                </a:solidFill>
                <a:latin typeface="Calibri"/>
              </a:defRPr>
            </a:pPr>
            <a:r>
              <a:t>EMA:  Enabled (decay=0.999)</a:t>
            </a:r>
          </a:p>
          <a:p>
            <a:pPr algn="l">
              <a:spcBef>
                <a:spcPts val="0"/>
              </a:spcBef>
              <a:spcAft>
                <a:spcPts val="800"/>
              </a:spcAft>
              <a:defRPr sz="1000" b="0">
                <a:solidFill>
                  <a:srgbClr val="767676"/>
                </a:solidFill>
                <a:latin typeface="Calibri"/>
              </a:defRPr>
            </a:pPr>
            <a:r>
              <a:t>     Smooths noisy gradients from</a:t>
            </a:r>
            <a:br/>
            <a:r>
              <a:t>partial 48-class annotations</a:t>
            </a:r>
          </a:p>
          <a:p>
            <a:pPr algn="l">
              <a:spcBef>
                <a:spcPts val="0"/>
              </a:spcBef>
              <a:spcAft>
                <a:spcPts val="100"/>
              </a:spcAft>
              <a:defRPr sz="1200" b="1">
                <a:solidFill>
                  <a:srgbClr val="156082"/>
                </a:solidFill>
                <a:latin typeface="Calibri"/>
              </a:defRPr>
            </a:pPr>
            <a:r>
              <a:t>FG Mask:  Enabled</a:t>
            </a:r>
          </a:p>
          <a:p>
            <a:pPr algn="l">
              <a:spcBef>
                <a:spcPts val="0"/>
              </a:spcBef>
              <a:spcAft>
                <a:spcPts val="800"/>
              </a:spcAft>
              <a:defRPr sz="1000" b="0">
                <a:solidFill>
                  <a:srgbClr val="767676"/>
                </a:solidFill>
                <a:latin typeface="Calibri"/>
              </a:defRPr>
            </a:pPr>
            <a:r>
              <a:t>     Focus loss on foreground voxels;</a:t>
            </a:r>
            <a:br/>
            <a:r>
              <a:t>free +28% improvement</a:t>
            </a:r>
          </a:p>
          <a:p>
            <a:pPr algn="l">
              <a:spcBef>
                <a:spcPts val="0"/>
              </a:spcBef>
              <a:spcAft>
                <a:spcPts val="100"/>
              </a:spcAft>
              <a:defRPr sz="1200" b="1">
                <a:solidFill>
                  <a:srgbClr val="156082"/>
                </a:solidFill>
                <a:latin typeface="Calibri"/>
              </a:defRPr>
            </a:pPr>
            <a:r>
              <a:t>Weighted Sampler:  Enabled</a:t>
            </a:r>
          </a:p>
          <a:p>
            <a:pPr algn="l">
              <a:spcBef>
                <a:spcPts val="0"/>
              </a:spcBef>
              <a:spcAft>
                <a:spcPts val="800"/>
              </a:spcAft>
              <a:defRPr sz="1000" b="0">
                <a:solidFill>
                  <a:srgbClr val="767676"/>
                </a:solidFill>
                <a:latin typeface="Calibri"/>
              </a:defRPr>
            </a:pPr>
            <a:r>
              <a:t>     cellmap-data’s default;</a:t>
            </a:r>
            <a:br/>
            <a:r>
              <a:t>essential for class balance</a:t>
            </a:r>
          </a:p>
          <a:p>
            <a:pPr algn="l">
              <a:spcBef>
                <a:spcPts val="0"/>
              </a:spcBef>
              <a:spcAft>
                <a:spcPts val="100"/>
              </a:spcAft>
              <a:defRPr sz="1200" b="1">
                <a:solidFill>
                  <a:srgbClr val="156082"/>
                </a:solidFill>
                <a:latin typeface="Calibri"/>
              </a:defRPr>
            </a:pPr>
            <a:r>
              <a:t>Intensity Aug:  DISABLED</a:t>
            </a:r>
          </a:p>
          <a:p>
            <a:pPr algn="l">
              <a:spcBef>
                <a:spcPts val="0"/>
              </a:spcBef>
              <a:spcAft>
                <a:spcPts val="800"/>
              </a:spcAft>
              <a:defRPr sz="1000" b="0">
                <a:solidFill>
                  <a:srgbClr val="767676"/>
                </a:solidFill>
                <a:latin typeface="Calibri"/>
              </a:defRPr>
            </a:pPr>
            <a:r>
              <a:t>     Hurt −23% — EM intensity</a:t>
            </a:r>
            <a:br/>
            <a:r>
              <a:t>is already consistent</a:t>
            </a:r>
          </a:p>
          <a:p>
            <a:pPr algn="l">
              <a:spcBef>
                <a:spcPts val="0"/>
              </a:spcBef>
              <a:spcAft>
                <a:spcPts val="100"/>
              </a:spcAft>
              <a:defRPr sz="1200" b="1">
                <a:solidFill>
                  <a:srgbClr val="156082"/>
                </a:solidFill>
                <a:latin typeface="Calibri"/>
              </a:defRPr>
            </a:pPr>
            <a:r>
              <a:t>Crop Weighting:  DISABLED</a:t>
            </a:r>
          </a:p>
          <a:p>
            <a:pPr algn="l">
              <a:spcBef>
                <a:spcPts val="0"/>
              </a:spcBef>
              <a:spcAft>
                <a:spcPts val="800"/>
              </a:spcAft>
              <a:defRPr sz="1000" b="0">
                <a:solidFill>
                  <a:srgbClr val="767676"/>
                </a:solidFill>
                <a:latin typeface="Calibri"/>
              </a:defRPr>
            </a:pPr>
            <a:r>
              <a:t>     Hurt −38% — disrupts</a:t>
            </a:r>
            <a:br/>
            <a:r>
              <a:t>balanced sampling</a:t>
            </a:r>
          </a:p>
          <a:p>
            <a:pPr algn="l">
              <a:spcBef>
                <a:spcPts val="0"/>
              </a:spcBef>
              <a:spcAft>
                <a:spcPts val="100"/>
              </a:spcAft>
              <a:defRPr sz="1200" b="1">
                <a:solidFill>
                  <a:srgbClr val="156082"/>
                </a:solidFill>
                <a:latin typeface="Calibri"/>
              </a:defRPr>
            </a:pPr>
            <a:r>
              <a:t>Deep Supervision:  SegResNet only</a:t>
            </a:r>
          </a:p>
          <a:p>
            <a:pPr algn="l">
              <a:spcBef>
                <a:spcPts val="0"/>
              </a:spcBef>
              <a:spcAft>
                <a:spcPts val="800"/>
              </a:spcAft>
              <a:defRPr sz="1000" b="0">
                <a:solidFill>
                  <a:srgbClr val="767676"/>
                </a:solidFill>
                <a:latin typeface="Calibri"/>
              </a:defRPr>
            </a:pPr>
            <a:r>
              <a:t>     Multi-scale auxiliary losses</a:t>
            </a:r>
            <a:br/>
            <a:r>
              <a:t>at decoder layers</a:t>
            </a:r>
          </a:p>
          <a:p>
            <a:pPr algn="l">
              <a:spcBef>
                <a:spcPts val="0"/>
              </a:spcBef>
              <a:spcAft>
                <a:spcPts val="100"/>
              </a:spcAft>
              <a:defRPr sz="1200" b="1">
                <a:solidFill>
                  <a:srgbClr val="156082"/>
                </a:solidFill>
                <a:latin typeface="Calibri"/>
              </a:defRPr>
            </a:pPr>
            <a:r>
              <a:t>AMP:  Enabled</a:t>
            </a:r>
          </a:p>
          <a:p>
            <a:pPr algn="l">
              <a:spcBef>
                <a:spcPts val="0"/>
              </a:spcBef>
              <a:spcAft>
                <a:spcPts val="800"/>
              </a:spcAft>
              <a:defRPr sz="1000" b="0">
                <a:solidFill>
                  <a:srgbClr val="767676"/>
                </a:solidFill>
                <a:latin typeface="Calibri"/>
              </a:defRPr>
            </a:pPr>
            <a:r>
              <a:t>     Mixed precision for speed</a:t>
            </a:r>
          </a:p>
          <a:p>
            <a:pPr algn="l">
              <a:spcBef>
                <a:spcPts val="0"/>
              </a:spcBef>
              <a:spcAft>
                <a:spcPts val="100"/>
              </a:spcAft>
              <a:defRPr sz="1200" b="1">
                <a:solidFill>
                  <a:srgbClr val="156082"/>
                </a:solidFill>
                <a:latin typeface="Calibri"/>
              </a:defRPr>
            </a:pPr>
            <a:r>
              <a:t>Scheduler:  Cosine + warmup</a:t>
            </a:r>
          </a:p>
          <a:p>
            <a:pPr algn="l">
              <a:spcBef>
                <a:spcPts val="0"/>
              </a:spcBef>
              <a:spcAft>
                <a:spcPts val="800"/>
              </a:spcAft>
              <a:defRPr sz="1000" b="0">
                <a:solidFill>
                  <a:srgbClr val="767676"/>
                </a:solidFill>
                <a:latin typeface="Calibri"/>
              </a:defRPr>
            </a:pPr>
            <a:r>
              <a:t>     10-epoch warmup, cosine decay</a:t>
            </a:r>
          </a:p>
          <a:p>
            <a:pPr algn="l">
              <a:spcBef>
                <a:spcPts val="0"/>
              </a:spcBef>
              <a:spcAft>
                <a:spcPts val="100"/>
              </a:spcAft>
              <a:defRPr sz="1200" b="1">
                <a:solidFill>
                  <a:srgbClr val="156082"/>
                </a:solidFill>
                <a:latin typeface="Calibri"/>
              </a:defRPr>
            </a:pPr>
            <a:r>
              <a:t>Optimizer:  RAdam, lr=1e-4</a:t>
            </a:r>
          </a:p>
          <a:p>
            <a:pPr algn="l">
              <a:spcBef>
                <a:spcPts val="0"/>
              </a:spcBef>
              <a:spcAft>
                <a:spcPts val="800"/>
              </a:spcAft>
              <a:defRPr sz="1000" b="0">
                <a:solidFill>
                  <a:srgbClr val="767676"/>
                </a:solidFill>
                <a:latin typeface="Calibri"/>
              </a:defRPr>
            </a:pPr>
            <a:r>
              <a:t>     Robust to LR sensitivity</a:t>
            </a:r>
          </a:p>
        </p:txBody>
      </p:sp>
      <p:sp>
        <p:nvSpPr>
          <p:cNvPr id="10" name="TextBox 9"/>
          <p:cNvSpPr txBox="1"/>
          <p:nvPr/>
        </p:nvSpPr>
        <p:spPr>
          <a:xfrm>
            <a:off x="6035040" y="777240"/>
            <a:ext cx="5669280" cy="2560320"/>
          </a:xfrm>
          <a:prstGeom prst="rect">
            <a:avLst/>
          </a:prstGeom>
          <a:noFill/>
        </p:spPr>
        <p:txBody>
          <a:bodyPr wrap="square">
            <a:spAutoFit/>
          </a:bodyPr>
          <a:lstStyle/>
          <a:p>
            <a:pPr algn="l">
              <a:spcBef>
                <a:spcPts val="0"/>
              </a:spcBef>
              <a:spcAft>
                <a:spcPts val="400"/>
              </a:spcAft>
              <a:defRPr sz="1800" b="1">
                <a:solidFill>
                  <a:srgbClr val="156082"/>
                </a:solidFill>
                <a:latin typeface="Calibri"/>
              </a:defRPr>
            </a:pPr>
            <a:r>
              <a:t>Why DiceBCE Over BCE?</a:t>
            </a:r>
          </a:p>
          <a:p>
            <a:pPr algn="l">
              <a:spcBef>
                <a:spcPts val="0"/>
              </a:spcBef>
              <a:spcAft>
                <a:spcPts val="400"/>
              </a:spcAft>
              <a:defRPr sz="600" b="0">
                <a:solidFill>
                  <a:srgbClr val="333333"/>
                </a:solidFill>
                <a:latin typeface="Calibri"/>
              </a:defRPr>
            </a:pPr>
          </a:p>
          <a:p>
            <a:pPr algn="l">
              <a:spcBef>
                <a:spcPts val="0"/>
              </a:spcBef>
              <a:spcAft>
                <a:spcPts val="600"/>
              </a:spcAft>
              <a:defRPr sz="1300" b="0">
                <a:solidFill>
                  <a:srgbClr val="333333"/>
                </a:solidFill>
                <a:latin typeface="Calibri"/>
              </a:defRPr>
            </a:pPr>
            <a:r>
              <a:t>• BCE had highest mean Dice (0.476) but</a:t>
            </a:r>
            <a:br/>
            <a:r>
              <a:t>achieves it by over-predicting common classes</a:t>
            </a:r>
          </a:p>
          <a:p>
            <a:pPr algn="l">
              <a:spcBef>
                <a:spcPts val="0"/>
              </a:spcBef>
              <a:spcAft>
                <a:spcPts val="600"/>
              </a:spcAft>
              <a:defRPr sz="1300" b="0">
                <a:solidFill>
                  <a:srgbClr val="333333"/>
                </a:solidFill>
                <a:latin typeface="Calibri"/>
              </a:defRPr>
            </a:pPr>
            <a:r>
              <a:t>• DiceBCE (0.459) has better rare-class</a:t>
            </a:r>
            <a:br/>
            <a:r>
              <a:t>performance — Dice component explicitly</a:t>
            </a:r>
            <a:br/>
            <a:r>
              <a:t>optimizes per-class overlap</a:t>
            </a:r>
          </a:p>
          <a:p>
            <a:pPr algn="l">
              <a:spcBef>
                <a:spcPts val="0"/>
              </a:spcBef>
              <a:spcAft>
                <a:spcPts val="600"/>
              </a:spcAft>
              <a:defRPr sz="1300" b="0">
                <a:solidFill>
                  <a:srgbClr val="333333"/>
                </a:solidFill>
                <a:latin typeface="Calibri"/>
              </a:defRPr>
            </a:pPr>
            <a:r>
              <a:t>• Challenge weights all 48 classes equally,</a:t>
            </a:r>
            <a:br/>
            <a:r>
              <a:t>so rare-class performance matters</a:t>
            </a:r>
          </a:p>
          <a:p>
            <a:pPr algn="l">
              <a:spcBef>
                <a:spcPts val="0"/>
              </a:spcBef>
              <a:spcAft>
                <a:spcPts val="600"/>
              </a:spcAft>
              <a:defRPr sz="1300" b="0">
                <a:solidFill>
                  <a:srgbClr val="333333"/>
                </a:solidFill>
                <a:latin typeface="Calibri"/>
              </a:defRPr>
            </a:pPr>
            <a:r>
              <a:t>• With EMA, DiceBCE reaches val_loss = 0.112</a:t>
            </a:r>
            <a:br/>
            <a:r>
              <a:t>— the best result by far (4× better</a:t>
            </a:r>
            <a:br/>
            <a:r>
              <a:t>than without EMA)</a:t>
            </a:r>
          </a:p>
        </p:txBody>
      </p:sp>
      <p:sp>
        <p:nvSpPr>
          <p:cNvPr id="11" name="Rounded Rectangle 10"/>
          <p:cNvSpPr/>
          <p:nvPr/>
        </p:nvSpPr>
        <p:spPr>
          <a:xfrm>
            <a:off x="6035040" y="3566160"/>
            <a:ext cx="5669280" cy="2011680"/>
          </a:xfrm>
          <a:prstGeom prst="round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657600"/>
            <a:ext cx="5303520" cy="1828800"/>
          </a:xfrm>
          <a:prstGeom prst="rect">
            <a:avLst/>
          </a:prstGeom>
          <a:noFill/>
        </p:spPr>
        <p:txBody>
          <a:bodyPr wrap="square">
            <a:spAutoFit/>
          </a:bodyPr>
          <a:lstStyle/>
          <a:p>
            <a:pPr algn="l">
              <a:spcBef>
                <a:spcPts val="0"/>
              </a:spcBef>
              <a:spcAft>
                <a:spcPts val="400"/>
              </a:spcAft>
              <a:defRPr sz="1500" b="1">
                <a:solidFill>
                  <a:srgbClr val="E97132"/>
                </a:solidFill>
                <a:latin typeface="Calibri"/>
              </a:defRPr>
            </a:pPr>
            <a:r>
              <a:t>⚠  3D Ablation Was Non-Functional</a:t>
            </a:r>
          </a:p>
          <a:p>
            <a:pPr algn="l">
              <a:spcBef>
                <a:spcPts val="0"/>
              </a:spcBef>
              <a:spcAft>
                <a:spcPts val="400"/>
              </a:spcAft>
              <a:defRPr sz="600" b="0">
                <a:solidFill>
                  <a:srgbClr val="333333"/>
                </a:solidFill>
                <a:latin typeface="Calibri"/>
              </a:defRPr>
            </a:pPr>
          </a:p>
          <a:p>
            <a:pPr algn="l">
              <a:spcBef>
                <a:spcPts val="0"/>
              </a:spcBef>
              <a:spcAft>
                <a:spcPts val="600"/>
              </a:spcAft>
              <a:defRPr sz="1200" b="0">
                <a:solidFill>
                  <a:srgbClr val="333333"/>
                </a:solidFill>
                <a:latin typeface="Calibri"/>
              </a:defRPr>
            </a:pPr>
            <a:r>
              <a:t>• All 29 3D experiments: max Dice = 0.017</a:t>
            </a:r>
          </a:p>
          <a:p>
            <a:pPr algn="l">
              <a:spcBef>
                <a:spcPts val="0"/>
              </a:spcBef>
              <a:spcAft>
                <a:spcPts val="600"/>
              </a:spcAft>
              <a:defRPr sz="1200" b="0">
                <a:solidFill>
                  <a:srgbClr val="333333"/>
                </a:solidFill>
                <a:latin typeface="Calibri"/>
              </a:defRPr>
            </a:pPr>
            <a:r>
              <a:t>• 12,500 training steps was woefully</a:t>
            </a:r>
            <a:br/>
            <a:r>
              <a:t>insufficient for 128³ volumes</a:t>
            </a:r>
          </a:p>
          <a:p>
            <a:pPr algn="l">
              <a:spcBef>
                <a:spcPts val="0"/>
              </a:spcBef>
              <a:spcAft>
                <a:spcPts val="600"/>
              </a:spcAft>
              <a:defRPr sz="1200" b="0">
                <a:solidFill>
                  <a:srgbClr val="333333"/>
                </a:solidFill>
                <a:latin typeface="Calibri"/>
              </a:defRPr>
            </a:pPr>
            <a:r>
              <a:t>• Only 'nuc' (largest organelle) got any signal</a:t>
            </a:r>
          </a:p>
          <a:p>
            <a:pPr algn="l">
              <a:spcBef>
                <a:spcPts val="0"/>
              </a:spcBef>
              <a:spcAft>
                <a:spcPts val="600"/>
              </a:spcAft>
              <a:defRPr sz="1200" b="0">
                <a:solidFill>
                  <a:srgbClr val="333333"/>
                </a:solidFill>
                <a:latin typeface="Calibri"/>
              </a:defRPr>
            </a:pPr>
            <a:r>
              <a:t>• Decision: transfer 2D findings to 3D,</a:t>
            </a:r>
            <a:br/>
            <a:r>
              <a:t>train 10–24× longer in Phase 2</a:t>
            </a:r>
            <a:br/>
            <a:r>
              <a:t>(300K steps vs 12.5K)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Phase 2: The Architecture Zoo</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11247120" cy="274320"/>
          </a:xfrm>
          <a:prstGeom prst="rect">
            <a:avLst/>
          </a:prstGeom>
          <a:noFill/>
        </p:spPr>
        <p:txBody>
          <a:bodyPr wrap="square">
            <a:spAutoFit/>
          </a:bodyPr>
          <a:lstStyle/>
          <a:p>
            <a:pPr algn="l">
              <a:spcBef>
                <a:spcPts val="0"/>
              </a:spcBef>
              <a:spcAft>
                <a:spcPts val="400"/>
              </a:spcAft>
              <a:defRPr sz="1600" b="0">
                <a:solidFill>
                  <a:srgbClr val="767676"/>
                </a:solidFill>
                <a:latin typeface="Calibri"/>
              </a:defRPr>
            </a:pPr>
            <a:r>
              <a:t>Same recipe, 9 architectures — which backbone learns organelles best?</a:t>
            </a:r>
          </a:p>
        </p:txBody>
      </p:sp>
      <p:sp>
        <p:nvSpPr>
          <p:cNvPr id="9" name="TextBox 8"/>
          <p:cNvSpPr txBox="1"/>
          <p:nvPr/>
        </p:nvSpPr>
        <p:spPr>
          <a:xfrm>
            <a:off x="457200" y="1143000"/>
            <a:ext cx="5486400" cy="32004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2D Models (slice-by-slice, 256×256)</a:t>
            </a:r>
          </a:p>
        </p:txBody>
      </p:sp>
      <p:graphicFrame>
        <p:nvGraphicFramePr>
          <p:cNvPr id="10" name="Table 9"/>
          <p:cNvGraphicFramePr>
            <a:graphicFrameLocks noGrp="1"/>
          </p:cNvGraphicFramePr>
          <p:nvPr/>
        </p:nvGraphicFramePr>
        <p:xfrm>
          <a:off x="274320" y="1508760"/>
          <a:ext cx="5760720" cy="1828800"/>
        </p:xfrm>
        <a:graphic>
          <a:graphicData uri="http://schemas.openxmlformats.org/drawingml/2006/table">
            <a:tbl>
              <a:tblPr firstRow="1" bandRow="1">
                <a:tableStyleId>{5C22544A-7EE6-4342-B048-85BDC9FD1C3A}</a:tableStyleId>
              </a:tblPr>
              <a:tblGrid>
                <a:gridCol w="1440180"/>
                <a:gridCol w="1440180"/>
                <a:gridCol w="1440180"/>
                <a:gridCol w="1440180"/>
              </a:tblGrid>
              <a:tr h="365760">
                <a:tc>
                  <a:txBody>
                    <a:bodyPr/>
                    <a:lstStyle/>
                    <a:p>
                      <a:pPr>
                        <a:defRPr sz="1100" b="1">
                          <a:solidFill>
                            <a:srgbClr val="FFFFFF"/>
                          </a:solidFill>
                          <a:latin typeface="Calibri"/>
                        </a:defRPr>
                      </a:pPr>
                      <a:r>
                        <a:t>Architecture</a:t>
                      </a:r>
                    </a:p>
                  </a:txBody>
                  <a:tcPr anchor="ctr">
                    <a:solidFill>
                      <a:srgbClr val="156082"/>
                    </a:solidFill>
                  </a:tcPr>
                </a:tc>
                <a:tc>
                  <a:txBody>
                    <a:bodyPr/>
                    <a:lstStyle/>
                    <a:p>
                      <a:pPr>
                        <a:defRPr sz="1100" b="1">
                          <a:solidFill>
                            <a:srgbClr val="FFFFFF"/>
                          </a:solidFill>
                          <a:latin typeface="Calibri"/>
                        </a:defRPr>
                      </a:pPr>
                      <a:r>
                        <a:t>Params</a:t>
                      </a:r>
                    </a:p>
                  </a:txBody>
                  <a:tcPr anchor="ctr">
                    <a:solidFill>
                      <a:srgbClr val="156082"/>
                    </a:solidFill>
                  </a:tcPr>
                </a:tc>
                <a:tc>
                  <a:txBody>
                    <a:bodyPr/>
                    <a:lstStyle/>
                    <a:p>
                      <a:pPr>
                        <a:defRPr sz="1100" b="1">
                          <a:solidFill>
                            <a:srgbClr val="FFFFFF"/>
                          </a:solidFill>
                          <a:latin typeface="Calibri"/>
                        </a:defRPr>
                      </a:pPr>
                      <a:r>
                        <a:t>Type</a:t>
                      </a:r>
                    </a:p>
                  </a:txBody>
                  <a:tcPr anchor="ctr">
                    <a:solidFill>
                      <a:srgbClr val="156082"/>
                    </a:solidFill>
                  </a:tcPr>
                </a:tc>
                <a:tc>
                  <a:txBody>
                    <a:bodyPr/>
                    <a:lstStyle/>
                    <a:p>
                      <a:pPr>
                        <a:defRPr sz="1100" b="1">
                          <a:solidFill>
                            <a:srgbClr val="FFFFFF"/>
                          </a:solidFill>
                          <a:latin typeface="Calibri"/>
                        </a:defRPr>
                      </a:pPr>
                      <a:r>
                        <a:t>Strength</a:t>
                      </a:r>
                    </a:p>
                  </a:txBody>
                  <a:tcPr anchor="ctr">
                    <a:solidFill>
                      <a:srgbClr val="156082"/>
                    </a:solidFill>
                  </a:tcPr>
                </a:tc>
              </a:tr>
              <a:tr h="365760">
                <a:tc>
                  <a:txBody>
                    <a:bodyPr/>
                    <a:lstStyle/>
                    <a:p>
                      <a:pPr>
                        <a:defRPr sz="1100">
                          <a:solidFill>
                            <a:srgbClr val="333333"/>
                          </a:solidFill>
                          <a:latin typeface="Calibri"/>
                        </a:defRPr>
                      </a:pPr>
                      <a:r>
                        <a:t>ResNet Generator</a:t>
                      </a:r>
                    </a:p>
                  </a:txBody>
                  <a:tcPr anchor="ctr"/>
                </a:tc>
                <a:tc>
                  <a:txBody>
                    <a:bodyPr/>
                    <a:lstStyle/>
                    <a:p>
                      <a:pPr>
                        <a:defRPr sz="1100">
                          <a:solidFill>
                            <a:srgbClr val="333333"/>
                          </a:solidFill>
                          <a:latin typeface="Calibri"/>
                        </a:defRPr>
                      </a:pPr>
                      <a:r>
                        <a:t>7.8M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Fast, lightweight encoder-decoder baseline</a:t>
                      </a:r>
                    </a:p>
                  </a:txBody>
                  <a:tcPr anchor="ctr"/>
                </a:tc>
              </a:tr>
              <a:tr h="365760">
                <a:tc>
                  <a:txBody>
                    <a:bodyPr/>
                    <a:lstStyle/>
                    <a:p>
                      <a:pPr>
                        <a:defRPr sz="1100">
                          <a:solidFill>
                            <a:srgbClr val="333333"/>
                          </a:solidFill>
                          <a:latin typeface="Calibri"/>
                        </a:defRPr>
                      </a:pPr>
                      <a:r>
                        <a:t>UNet</a:t>
                      </a:r>
                    </a:p>
                  </a:txBody>
                  <a:tcPr anchor="ctr">
                    <a:solidFill>
                      <a:srgbClr val="F2F2F2"/>
                    </a:solidFill>
                  </a:tcPr>
                </a:tc>
                <a:tc>
                  <a:txBody>
                    <a:bodyPr/>
                    <a:lstStyle/>
                    <a:p>
                      <a:pPr>
                        <a:defRPr sz="1100">
                          <a:solidFill>
                            <a:srgbClr val="333333"/>
                          </a:solidFill>
                          <a:latin typeface="Calibri"/>
                        </a:defRPr>
                      </a:pPr>
                      <a:r>
                        <a:t>31M</a:t>
                      </a:r>
                    </a:p>
                  </a:txBody>
                  <a:tcPr anchor="ctr">
                    <a:solidFill>
                      <a:srgbClr val="F2F2F2"/>
                    </a:solidFill>
                  </a:tcPr>
                </a:tc>
                <a:tc>
                  <a:txBody>
                    <a:bodyPr/>
                    <a:lstStyle/>
                    <a:p>
                      <a:pPr>
                        <a:defRPr sz="1100">
                          <a:solidFill>
                            <a:srgbClr val="333333"/>
                          </a:solidFill>
                          <a:latin typeface="Calibri"/>
                        </a:defRPr>
                      </a:pPr>
                      <a:r>
                        <a:t>CNN</a:t>
                      </a:r>
                    </a:p>
                  </a:txBody>
                  <a:tcPr anchor="ctr">
                    <a:solidFill>
                      <a:srgbClr val="F2F2F2"/>
                    </a:solidFill>
                  </a:tcPr>
                </a:tc>
                <a:tc>
                  <a:txBody>
                    <a:bodyPr/>
                    <a:lstStyle/>
                    <a:p>
                      <a:pPr>
                        <a:defRPr sz="1100">
                          <a:solidFill>
                            <a:srgbClr val="333333"/>
                          </a:solidFill>
                          <a:latin typeface="Calibri"/>
                        </a:defRPr>
                      </a:pPr>
                      <a:r>
                        <a:t>Classic encoder-decoder, large capacity</a:t>
                      </a:r>
                    </a:p>
                  </a:txBody>
                  <a:tcPr anchor="ctr">
                    <a:solidFill>
                      <a:srgbClr val="F2F2F2"/>
                    </a:solidFill>
                  </a:tcPr>
                </a:tc>
              </a:tr>
              <a:tr h="365760">
                <a:tc>
                  <a:txBody>
                    <a:bodyPr/>
                    <a:lstStyle/>
                    <a:p>
                      <a:pPr>
                        <a:defRPr sz="1100">
                          <a:solidFill>
                            <a:srgbClr val="333333"/>
                          </a:solidFill>
                          <a:latin typeface="Calibri"/>
                        </a:defRPr>
                      </a:pPr>
                      <a:r>
                        <a:t>SwinTransformer</a:t>
                      </a:r>
                    </a:p>
                  </a:txBody>
                  <a:tcPr anchor="ctr"/>
                </a:tc>
                <a:tc>
                  <a:txBody>
                    <a:bodyPr/>
                    <a:lstStyle/>
                    <a:p>
                      <a:pPr>
                        <a:defRPr sz="1100">
                          <a:solidFill>
                            <a:srgbClr val="333333"/>
                          </a:solidFill>
                          <a:latin typeface="Calibri"/>
                        </a:defRPr>
                      </a:pPr>
                      <a:r>
                        <a:t>36M</a:t>
                      </a:r>
                    </a:p>
                  </a:txBody>
                  <a:tcPr anchor="ctr"/>
                </a:tc>
                <a:tc>
                  <a:txBody>
                    <a:bodyPr/>
                    <a:lstStyle/>
                    <a:p>
                      <a:pPr>
                        <a:defRPr sz="1100">
                          <a:solidFill>
                            <a:srgbClr val="333333"/>
                          </a:solidFill>
                          <a:latin typeface="Calibri"/>
                        </a:defRPr>
                      </a:pPr>
                      <a:r>
                        <a:t>Transformer</a:t>
                      </a:r>
                    </a:p>
                  </a:txBody>
                  <a:tcPr anchor="ctr"/>
                </a:tc>
                <a:tc>
                  <a:txBody>
                    <a:bodyPr/>
                    <a:lstStyle/>
                    <a:p>
                      <a:pPr>
                        <a:defRPr sz="1100">
                          <a:solidFill>
                            <a:srgbClr val="333333"/>
                          </a:solidFill>
                          <a:latin typeface="Calibri"/>
                        </a:defRPr>
                      </a:pPr>
                      <a:r>
                        <a:t>Shifted windows, multi-scale attention</a:t>
                      </a:r>
                    </a:p>
                  </a:txBody>
                  <a:tcPr anchor="ctr"/>
                </a:tc>
              </a:tr>
              <a:tr h="365760">
                <a:tc>
                  <a:txBody>
                    <a:bodyPr/>
                    <a:lstStyle/>
                    <a:p>
                      <a:pPr>
                        <a:defRPr sz="1100">
                          <a:solidFill>
                            <a:srgbClr val="333333"/>
                          </a:solidFill>
                          <a:latin typeface="Calibri"/>
                        </a:defRPr>
                      </a:pPr>
                      <a:r>
                        <a:t>ViTVNet</a:t>
                      </a:r>
                    </a:p>
                  </a:txBody>
                  <a:tcPr anchor="ctr">
                    <a:solidFill>
                      <a:srgbClr val="F2F2F2"/>
                    </a:solidFill>
                  </a:tcPr>
                </a:tc>
                <a:tc>
                  <a:txBody>
                    <a:bodyPr/>
                    <a:lstStyle/>
                    <a:p>
                      <a:pPr>
                        <a:defRPr sz="1100">
                          <a:solidFill>
                            <a:srgbClr val="333333"/>
                          </a:solidFill>
                          <a:latin typeface="Calibri"/>
                        </a:defRPr>
                      </a:pPr>
                      <a:r>
                        <a:t>105M</a:t>
                      </a:r>
                    </a:p>
                  </a:txBody>
                  <a:tcPr anchor="ctr">
                    <a:solidFill>
                      <a:srgbClr val="F2F2F2"/>
                    </a:solidFill>
                  </a:tcPr>
                </a:tc>
                <a:tc>
                  <a:txBody>
                    <a:bodyPr/>
                    <a:lstStyle/>
                    <a:p>
                      <a:pPr>
                        <a:defRPr sz="1100">
                          <a:solidFill>
                            <a:srgbClr val="333333"/>
                          </a:solidFill>
                          <a:latin typeface="Calibri"/>
                        </a:defRPr>
                      </a:pPr>
                      <a:r>
                        <a:t>Hybrid</a:t>
                      </a:r>
                    </a:p>
                  </a:txBody>
                  <a:tcPr anchor="ctr">
                    <a:solidFill>
                      <a:srgbClr val="F2F2F2"/>
                    </a:solidFill>
                  </a:tcPr>
                </a:tc>
                <a:tc>
                  <a:txBody>
                    <a:bodyPr/>
                    <a:lstStyle/>
                    <a:p>
                      <a:pPr>
                        <a:defRPr sz="1100">
                          <a:solidFill>
                            <a:srgbClr val="333333"/>
                          </a:solidFill>
                          <a:latin typeface="Calibri"/>
                        </a:defRPr>
                      </a:pPr>
                      <a:r>
                        <a:t>ViT encoder + V-Net decoder (largest)</a:t>
                      </a:r>
                    </a:p>
                  </a:txBody>
                  <a:tcPr anchor="ctr">
                    <a:solidFill>
                      <a:srgbClr val="F2F2F2"/>
                    </a:solidFill>
                  </a:tcPr>
                </a:tc>
              </a:tr>
            </a:tbl>
          </a:graphicData>
        </a:graphic>
      </p:graphicFrame>
      <p:sp>
        <p:nvSpPr>
          <p:cNvPr id="11" name="TextBox 10"/>
          <p:cNvSpPr txBox="1"/>
          <p:nvPr/>
        </p:nvSpPr>
        <p:spPr>
          <a:xfrm>
            <a:off x="457200" y="3520440"/>
            <a:ext cx="5486400" cy="32004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3D Models (full volumes, 128³)</a:t>
            </a:r>
          </a:p>
        </p:txBody>
      </p:sp>
      <p:graphicFrame>
        <p:nvGraphicFramePr>
          <p:cNvPr id="12" name="Table 11"/>
          <p:cNvGraphicFramePr>
            <a:graphicFrameLocks noGrp="1"/>
          </p:cNvGraphicFramePr>
          <p:nvPr/>
        </p:nvGraphicFramePr>
        <p:xfrm>
          <a:off x="274320" y="3886200"/>
          <a:ext cx="5760720" cy="2011680"/>
        </p:xfrm>
        <a:graphic>
          <a:graphicData uri="http://schemas.openxmlformats.org/drawingml/2006/table">
            <a:tbl>
              <a:tblPr firstRow="1" bandRow="1">
                <a:tableStyleId>{5C22544A-7EE6-4342-B048-85BDC9FD1C3A}</a:tableStyleId>
              </a:tblPr>
              <a:tblGrid>
                <a:gridCol w="1440180"/>
                <a:gridCol w="1440180"/>
                <a:gridCol w="1440180"/>
                <a:gridCol w="1440180"/>
              </a:tblGrid>
              <a:tr h="335280">
                <a:tc>
                  <a:txBody>
                    <a:bodyPr/>
                    <a:lstStyle/>
                    <a:p>
                      <a:pPr>
                        <a:defRPr sz="1100" b="1">
                          <a:solidFill>
                            <a:srgbClr val="FFFFFF"/>
                          </a:solidFill>
                          <a:latin typeface="Calibri"/>
                        </a:defRPr>
                      </a:pPr>
                      <a:r>
                        <a:t>Architecture</a:t>
                      </a:r>
                    </a:p>
                  </a:txBody>
                  <a:tcPr anchor="ctr">
                    <a:solidFill>
                      <a:srgbClr val="156082"/>
                    </a:solidFill>
                  </a:tcPr>
                </a:tc>
                <a:tc>
                  <a:txBody>
                    <a:bodyPr/>
                    <a:lstStyle/>
                    <a:p>
                      <a:pPr>
                        <a:defRPr sz="1100" b="1">
                          <a:solidFill>
                            <a:srgbClr val="FFFFFF"/>
                          </a:solidFill>
                          <a:latin typeface="Calibri"/>
                        </a:defRPr>
                      </a:pPr>
                      <a:r>
                        <a:t>Params</a:t>
                      </a:r>
                    </a:p>
                  </a:txBody>
                  <a:tcPr anchor="ctr">
                    <a:solidFill>
                      <a:srgbClr val="156082"/>
                    </a:solidFill>
                  </a:tcPr>
                </a:tc>
                <a:tc>
                  <a:txBody>
                    <a:bodyPr/>
                    <a:lstStyle/>
                    <a:p>
                      <a:pPr>
                        <a:defRPr sz="1100" b="1">
                          <a:solidFill>
                            <a:srgbClr val="FFFFFF"/>
                          </a:solidFill>
                          <a:latin typeface="Calibri"/>
                        </a:defRPr>
                      </a:pPr>
                      <a:r>
                        <a:t>Type</a:t>
                      </a:r>
                    </a:p>
                  </a:txBody>
                  <a:tcPr anchor="ctr">
                    <a:solidFill>
                      <a:srgbClr val="156082"/>
                    </a:solidFill>
                  </a:tcPr>
                </a:tc>
                <a:tc>
                  <a:txBody>
                    <a:bodyPr/>
                    <a:lstStyle/>
                    <a:p>
                      <a:pPr>
                        <a:defRPr sz="1100" b="1">
                          <a:solidFill>
                            <a:srgbClr val="FFFFFF"/>
                          </a:solidFill>
                          <a:latin typeface="Calibri"/>
                        </a:defRPr>
                      </a:pPr>
                      <a:r>
                        <a:t>Strength</a:t>
                      </a:r>
                    </a:p>
                  </a:txBody>
                  <a:tcPr anchor="ctr">
                    <a:solidFill>
                      <a:srgbClr val="156082"/>
                    </a:solidFill>
                  </a:tcPr>
                </a:tc>
              </a:tr>
              <a:tr h="335280">
                <a:tc>
                  <a:txBody>
                    <a:bodyPr/>
                    <a:lstStyle/>
                    <a:p>
                      <a:pPr>
                        <a:defRPr sz="1100">
                          <a:solidFill>
                            <a:srgbClr val="333333"/>
                          </a:solidFill>
                          <a:latin typeface="Calibri"/>
                        </a:defRPr>
                      </a:pPr>
                      <a:r>
                        <a:t>SegResNetDS</a:t>
                      </a:r>
                    </a:p>
                  </a:txBody>
                  <a:tcPr anchor="ctr"/>
                </a:tc>
                <a:tc>
                  <a:txBody>
                    <a:bodyPr/>
                    <a:lstStyle/>
                    <a:p>
                      <a:pPr>
                        <a:defRPr sz="1100">
                          <a:solidFill>
                            <a:srgbClr val="333333"/>
                          </a:solidFill>
                          <a:latin typeface="Calibri"/>
                        </a:defRPr>
                      </a:pPr>
                      <a:r>
                        <a:t>19.9M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Deep supervision, multi-scale loss</a:t>
                      </a:r>
                    </a:p>
                  </a:txBody>
                  <a:tcPr anchor="ctr"/>
                </a:tc>
              </a:tr>
              <a:tr h="335280">
                <a:tc>
                  <a:txBody>
                    <a:bodyPr/>
                    <a:lstStyle/>
                    <a:p>
                      <a:pPr>
                        <a:defRPr sz="1100">
                          <a:solidFill>
                            <a:srgbClr val="333333"/>
                          </a:solidFill>
                          <a:latin typeface="Calibri"/>
                        </a:defRPr>
                      </a:pPr>
                      <a:r>
                        <a:t>SwinUNETR</a:t>
                      </a:r>
                    </a:p>
                  </a:txBody>
                  <a:tcPr anchor="ctr">
                    <a:solidFill>
                      <a:srgbClr val="F2F2F2"/>
                    </a:solidFill>
                  </a:tcPr>
                </a:tc>
                <a:tc>
                  <a:txBody>
                    <a:bodyPr/>
                    <a:lstStyle/>
                    <a:p>
                      <a:pPr>
                        <a:defRPr sz="1100">
                          <a:solidFill>
                            <a:srgbClr val="333333"/>
                          </a:solidFill>
                          <a:latin typeface="Calibri"/>
                        </a:defRPr>
                      </a:pPr>
                      <a:r>
                        <a:t>62.2M</a:t>
                      </a:r>
                    </a:p>
                  </a:txBody>
                  <a:tcPr anchor="ctr">
                    <a:solidFill>
                      <a:srgbClr val="F2F2F2"/>
                    </a:solidFill>
                  </a:tcPr>
                </a:tc>
                <a:tc>
                  <a:txBody>
                    <a:bodyPr/>
                    <a:lstStyle/>
                    <a:p>
                      <a:pPr>
                        <a:defRPr sz="1100">
                          <a:solidFill>
                            <a:srgbClr val="333333"/>
                          </a:solidFill>
                          <a:latin typeface="Calibri"/>
                        </a:defRPr>
                      </a:pPr>
                      <a:r>
                        <a:t>Transformer</a:t>
                      </a:r>
                    </a:p>
                  </a:txBody>
                  <a:tcPr anchor="ctr">
                    <a:solidFill>
                      <a:srgbClr val="F2F2F2"/>
                    </a:solidFill>
                  </a:tcPr>
                </a:tc>
                <a:tc>
                  <a:txBody>
                    <a:bodyPr/>
                    <a:lstStyle/>
                    <a:p>
                      <a:pPr>
                        <a:defRPr sz="1100">
                          <a:solidFill>
                            <a:srgbClr val="333333"/>
                          </a:solidFill>
                          <a:latin typeface="Calibri"/>
                        </a:defRPr>
                      </a:pPr>
                      <a:r>
                        <a:t>3D shifted-window self-attention</a:t>
                      </a:r>
                    </a:p>
                  </a:txBody>
                  <a:tcPr anchor="ctr">
                    <a:solidFill>
                      <a:srgbClr val="F2F2F2"/>
                    </a:solidFill>
                  </a:tcPr>
                </a:tc>
              </a:tr>
              <a:tr h="335280">
                <a:tc>
                  <a:txBody>
                    <a:bodyPr/>
                    <a:lstStyle/>
                    <a:p>
                      <a:pPr>
                        <a:defRPr sz="1100">
                          <a:solidFill>
                            <a:srgbClr val="333333"/>
                          </a:solidFill>
                          <a:latin typeface="Calibri"/>
                        </a:defRPr>
                      </a:pPr>
                      <a:r>
                        <a:t>ResNet3D</a:t>
                      </a:r>
                    </a:p>
                  </a:txBody>
                  <a:tcPr anchor="ctr"/>
                </a:tc>
                <a:tc>
                  <a:txBody>
                    <a:bodyPr/>
                    <a:lstStyle/>
                    <a:p>
                      <a:pPr>
                        <a:defRPr sz="1100">
                          <a:solidFill>
                            <a:srgbClr val="333333"/>
                          </a:solidFill>
                          <a:latin typeface="Calibri"/>
                        </a:defRPr>
                      </a:pPr>
                      <a:r>
                        <a:t>24.5M</a:t>
                      </a:r>
                    </a:p>
                  </a:txBody>
                  <a:tcPr anchor="ctr"/>
                </a:tc>
                <a:tc>
                  <a:txBody>
                    <a:bodyPr/>
                    <a:lstStyle/>
                    <a:p>
                      <a:pPr>
                        <a:defRPr sz="1100">
                          <a:solidFill>
                            <a:srgbClr val="333333"/>
                          </a:solidFill>
                          <a:latin typeface="Calibri"/>
                        </a:defRPr>
                      </a:pPr>
                      <a:r>
                        <a:t>CNN</a:t>
                      </a:r>
                    </a:p>
                  </a:txBody>
                  <a:tcPr anchor="ctr"/>
                </a:tc>
                <a:tc>
                  <a:txBody>
                    <a:bodyPr/>
                    <a:lstStyle/>
                    <a:p>
                      <a:pPr>
                        <a:defRPr sz="1100">
                          <a:solidFill>
                            <a:srgbClr val="333333"/>
                          </a:solidFill>
                          <a:latin typeface="Calibri"/>
                        </a:defRPr>
                      </a:pPr>
                      <a:r>
                        <a:t>3D version of CSC ResNet generator</a:t>
                      </a:r>
                    </a:p>
                  </a:txBody>
                  <a:tcPr anchor="ctr"/>
                </a:tc>
              </a:tr>
              <a:tr h="335280">
                <a:tc>
                  <a:txBody>
                    <a:bodyPr/>
                    <a:lstStyle/>
                    <a:p>
                      <a:pPr>
                        <a:defRPr sz="1100">
                          <a:solidFill>
                            <a:srgbClr val="333333"/>
                          </a:solidFill>
                          <a:latin typeface="Calibri"/>
                        </a:defRPr>
                      </a:pPr>
                      <a:r>
                        <a:t>UNet3D</a:t>
                      </a:r>
                    </a:p>
                  </a:txBody>
                  <a:tcPr anchor="ctr">
                    <a:solidFill>
                      <a:srgbClr val="F2F2F2"/>
                    </a:solidFill>
                  </a:tcPr>
                </a:tc>
                <a:tc>
                  <a:txBody>
                    <a:bodyPr/>
                    <a:lstStyle/>
                    <a:p>
                      <a:pPr>
                        <a:defRPr sz="1100">
                          <a:solidFill>
                            <a:srgbClr val="333333"/>
                          </a:solidFill>
                          <a:latin typeface="Calibri"/>
                        </a:defRPr>
                      </a:pPr>
                      <a:r>
                        <a:t>90.3M</a:t>
                      </a:r>
                    </a:p>
                  </a:txBody>
                  <a:tcPr anchor="ctr">
                    <a:solidFill>
                      <a:srgbClr val="F2F2F2"/>
                    </a:solidFill>
                  </a:tcPr>
                </a:tc>
                <a:tc>
                  <a:txBody>
                    <a:bodyPr/>
                    <a:lstStyle/>
                    <a:p>
                      <a:pPr>
                        <a:defRPr sz="1100">
                          <a:solidFill>
                            <a:srgbClr val="333333"/>
                          </a:solidFill>
                          <a:latin typeface="Calibri"/>
                        </a:defRPr>
                      </a:pPr>
                      <a:r>
                        <a:t>CNN</a:t>
                      </a:r>
                    </a:p>
                  </a:txBody>
                  <a:tcPr anchor="ctr">
                    <a:solidFill>
                      <a:srgbClr val="F2F2F2"/>
                    </a:solidFill>
                  </a:tcPr>
                </a:tc>
                <a:tc>
                  <a:txBody>
                    <a:bodyPr/>
                    <a:lstStyle/>
                    <a:p>
                      <a:pPr>
                        <a:defRPr sz="1100">
                          <a:solidFill>
                            <a:srgbClr val="333333"/>
                          </a:solidFill>
                          <a:latin typeface="Calibri"/>
                        </a:defRPr>
                      </a:pPr>
                      <a:r>
                        <a:t>Largest 3D model, pure encoder-decoder</a:t>
                      </a:r>
                    </a:p>
                  </a:txBody>
                  <a:tcPr anchor="ctr">
                    <a:solidFill>
                      <a:srgbClr val="F2F2F2"/>
                    </a:solidFill>
                  </a:tcPr>
                </a:tc>
              </a:tr>
              <a:tr h="335280">
                <a:tc>
                  <a:txBody>
                    <a:bodyPr/>
                    <a:lstStyle/>
                    <a:p>
                      <a:pPr>
                        <a:defRPr sz="1100">
                          <a:solidFill>
                            <a:srgbClr val="333333"/>
                          </a:solidFill>
                          <a:latin typeface="Calibri"/>
                        </a:defRPr>
                      </a:pPr>
                      <a:r>
                        <a:t>ViTVNet3D</a:t>
                      </a:r>
                    </a:p>
                  </a:txBody>
                  <a:tcPr anchor="ctr"/>
                </a:tc>
                <a:tc>
                  <a:txBody>
                    <a:bodyPr/>
                    <a:lstStyle/>
                    <a:p>
                      <a:pPr>
                        <a:defRPr sz="1100">
                          <a:solidFill>
                            <a:srgbClr val="333333"/>
                          </a:solidFill>
                          <a:latin typeface="Calibri"/>
                        </a:defRPr>
                      </a:pPr>
                      <a:r>
                        <a:t>31.5M</a:t>
                      </a:r>
                    </a:p>
                  </a:txBody>
                  <a:tcPr anchor="ctr"/>
                </a:tc>
                <a:tc>
                  <a:txBody>
                    <a:bodyPr/>
                    <a:lstStyle/>
                    <a:p>
                      <a:pPr>
                        <a:defRPr sz="1100">
                          <a:solidFill>
                            <a:srgbClr val="333333"/>
                          </a:solidFill>
                          <a:latin typeface="Calibri"/>
                        </a:defRPr>
                      </a:pPr>
                      <a:r>
                        <a:t>Hybrid</a:t>
                      </a:r>
                    </a:p>
                  </a:txBody>
                  <a:tcPr anchor="ctr"/>
                </a:tc>
                <a:tc>
                  <a:txBody>
                    <a:bodyPr/>
                    <a:lstStyle/>
                    <a:p>
                      <a:pPr>
                        <a:defRPr sz="1100">
                          <a:solidFill>
                            <a:srgbClr val="333333"/>
                          </a:solidFill>
                          <a:latin typeface="Calibri"/>
                        </a:defRPr>
                      </a:pPr>
                      <a:r>
                        <a:t>ViT encoder + V-Net decoder in 3D</a:t>
                      </a:r>
                    </a:p>
                  </a:txBody>
                  <a:tcPr anchor="ctr"/>
                </a:tc>
              </a:tr>
            </a:tbl>
          </a:graphicData>
        </a:graphic>
      </p:graphicFrame>
      <p:sp>
        <p:nvSpPr>
          <p:cNvPr id="13" name="Rounded Rectangle 12"/>
          <p:cNvSpPr/>
          <p:nvPr/>
        </p:nvSpPr>
        <p:spPr>
          <a:xfrm>
            <a:off x="6400800" y="1143000"/>
            <a:ext cx="5303520" cy="219456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234440"/>
            <a:ext cx="4937760" cy="2011680"/>
          </a:xfrm>
          <a:prstGeom prst="rect">
            <a:avLst/>
          </a:prstGeom>
          <a:noFill/>
        </p:spPr>
        <p:txBody>
          <a:bodyPr wrap="square">
            <a:spAutoFit/>
          </a:bodyPr>
          <a:lstStyle/>
          <a:p>
            <a:pPr algn="l">
              <a:spcBef>
                <a:spcPts val="0"/>
              </a:spcBef>
              <a:spcAft>
                <a:spcPts val="400"/>
              </a:spcAft>
              <a:defRPr sz="1400" b="1">
                <a:solidFill>
                  <a:srgbClr val="CFB87C"/>
                </a:solidFill>
                <a:latin typeface="Calibri"/>
              </a:defRPr>
            </a:pPr>
            <a:r>
              <a:t>2D Training</a:t>
            </a:r>
          </a:p>
          <a:p>
            <a:pPr algn="l">
              <a:spcBef>
                <a:spcPts val="0"/>
              </a:spcBef>
              <a:spcAft>
                <a:spcPts val="400"/>
              </a:spcAft>
              <a:defRPr sz="1200" b="0">
                <a:solidFill>
                  <a:srgbClr val="333333"/>
                </a:solidFill>
                <a:latin typeface="Calibri"/>
              </a:defRPr>
            </a:pPr>
            <a:r>
              <a:t>100 epochs × 1,000 iter = 100K steps</a:t>
            </a:r>
          </a:p>
          <a:p>
            <a:pPr algn="l">
              <a:spcBef>
                <a:spcPts val="0"/>
              </a:spcBef>
              <a:spcAft>
                <a:spcPts val="400"/>
              </a:spcAft>
              <a:defRPr sz="1200" b="0">
                <a:solidFill>
                  <a:srgbClr val="333333"/>
                </a:solidFill>
                <a:latin typeface="Calibri"/>
              </a:defRPr>
            </a:pPr>
            <a:r>
              <a:t>Batch size 8, single L40S GPU</a:t>
            </a:r>
          </a:p>
          <a:p>
            <a:pPr algn="l">
              <a:spcBef>
                <a:spcPts val="0"/>
              </a:spcBef>
              <a:spcAft>
                <a:spcPts val="400"/>
              </a:spcAft>
              <a:defRPr sz="1200" b="0">
                <a:solidFill>
                  <a:srgbClr val="767676"/>
                </a:solidFill>
                <a:latin typeface="Calibri"/>
              </a:defRPr>
            </a:pPr>
            <a:r>
              <a:t>~6–10 hours per model</a:t>
            </a:r>
          </a:p>
          <a:p>
            <a:pPr algn="l">
              <a:spcBef>
                <a:spcPts val="0"/>
              </a:spcBef>
              <a:spcAft>
                <a:spcPts val="400"/>
              </a:spcAft>
              <a:defRPr sz="1200" b="0">
                <a:solidFill>
                  <a:srgbClr val="333333"/>
                </a:solidFill>
                <a:latin typeface="Calibri"/>
              </a:defRPr>
            </a:pPr>
            <a:r>
              <a:t>Validate every 10 epochs with Dice</a:t>
            </a:r>
          </a:p>
          <a:p>
            <a:pPr algn="l">
              <a:spcBef>
                <a:spcPts val="0"/>
              </a:spcBef>
              <a:spcAft>
                <a:spcPts val="400"/>
              </a:spcAft>
              <a:defRPr sz="800" b="0">
                <a:solidFill>
                  <a:srgbClr val="333333"/>
                </a:solidFill>
                <a:latin typeface="Calibri"/>
              </a:defRPr>
            </a:pPr>
          </a:p>
          <a:p>
            <a:pPr algn="l">
              <a:spcBef>
                <a:spcPts val="0"/>
              </a:spcBef>
              <a:spcAft>
                <a:spcPts val="400"/>
              </a:spcAft>
              <a:defRPr sz="1400" b="1">
                <a:solidFill>
                  <a:srgbClr val="CFB87C"/>
                </a:solidFill>
                <a:latin typeface="Calibri"/>
              </a:defRPr>
            </a:pPr>
            <a:r>
              <a:t>3D Training</a:t>
            </a:r>
          </a:p>
          <a:p>
            <a:pPr algn="l">
              <a:spcBef>
                <a:spcPts val="0"/>
              </a:spcBef>
              <a:spcAft>
                <a:spcPts val="400"/>
              </a:spcAft>
              <a:defRPr sz="1200" b="0">
                <a:solidFill>
                  <a:srgbClr val="333333"/>
                </a:solidFill>
                <a:latin typeface="Calibri"/>
              </a:defRPr>
            </a:pPr>
            <a:r>
              <a:t>1,000 epochs × 300 iter = 300K steps</a:t>
            </a:r>
          </a:p>
          <a:p>
            <a:pPr algn="l">
              <a:spcBef>
                <a:spcPts val="0"/>
              </a:spcBef>
              <a:spcAft>
                <a:spcPts val="400"/>
              </a:spcAft>
              <a:defRPr sz="1200" b="0">
                <a:solidFill>
                  <a:srgbClr val="333333"/>
                </a:solidFill>
                <a:latin typeface="Calibri"/>
              </a:defRPr>
            </a:pPr>
            <a:r>
              <a:t>Batch size 2, single L40S (48GB VRAM)</a:t>
            </a:r>
          </a:p>
          <a:p>
            <a:pPr algn="l">
              <a:spcBef>
                <a:spcPts val="0"/>
              </a:spcBef>
              <a:spcAft>
                <a:spcPts val="400"/>
              </a:spcAft>
              <a:defRPr sz="1200" b="0">
                <a:solidFill>
                  <a:srgbClr val="767676"/>
                </a:solidFill>
                <a:latin typeface="Calibri"/>
              </a:defRPr>
            </a:pPr>
            <a:r>
              <a:t>~10–13 days per model</a:t>
            </a:r>
          </a:p>
          <a:p>
            <a:pPr algn="l">
              <a:spcBef>
                <a:spcPts val="0"/>
              </a:spcBef>
              <a:spcAft>
                <a:spcPts val="400"/>
              </a:spcAft>
              <a:defRPr sz="1200" b="0">
                <a:solidFill>
                  <a:srgbClr val="333333"/>
                </a:solidFill>
                <a:latin typeface="Calibri"/>
              </a:defRPr>
            </a:pPr>
            <a:r>
              <a:t>Validate every 30 epochs with Dice</a:t>
            </a:r>
          </a:p>
          <a:p>
            <a:pPr algn="l">
              <a:spcBef>
                <a:spcPts val="0"/>
              </a:spcBef>
              <a:spcAft>
                <a:spcPts val="400"/>
              </a:spcAft>
              <a:defRPr sz="1200" b="0">
                <a:solidFill>
                  <a:srgbClr val="333333"/>
                </a:solidFill>
                <a:latin typeface="Calibri"/>
              </a:defRPr>
            </a:pPr>
            <a:r>
              <a:t>persistent_workers=false (OOM fix)</a:t>
            </a:r>
          </a:p>
        </p:txBody>
      </p:sp>
      <p:sp>
        <p:nvSpPr>
          <p:cNvPr id="15" name="Rounded Rectangle 14"/>
          <p:cNvSpPr/>
          <p:nvPr/>
        </p:nvSpPr>
        <p:spPr>
          <a:xfrm>
            <a:off x="6400800" y="3520440"/>
            <a:ext cx="5303520" cy="237744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611880"/>
            <a:ext cx="4937760" cy="2194560"/>
          </a:xfrm>
          <a:prstGeom prst="rect">
            <a:avLst/>
          </a:prstGeom>
          <a:noFill/>
        </p:spPr>
        <p:txBody>
          <a:bodyPr wrap="square">
            <a:spAutoFit/>
          </a:bodyPr>
          <a:lstStyle/>
          <a:p>
            <a:pPr algn="l">
              <a:spcBef>
                <a:spcPts val="0"/>
              </a:spcBef>
              <a:spcAft>
                <a:spcPts val="400"/>
              </a:spcAft>
              <a:defRPr sz="1400" b="1">
                <a:solidFill>
                  <a:srgbClr val="156082"/>
                </a:solidFill>
                <a:latin typeface="Calibri"/>
              </a:defRPr>
            </a:pPr>
            <a:r>
              <a:t>Why Both 2D and 3D?</a:t>
            </a:r>
          </a:p>
          <a:p>
            <a:pPr algn="l">
              <a:spcBef>
                <a:spcPts val="0"/>
              </a:spcBef>
              <a:spcAft>
                <a:spcPts val="400"/>
              </a:spcAft>
              <a:defRPr sz="600" b="0">
                <a:solidFill>
                  <a:srgbClr val="333333"/>
                </a:solidFill>
                <a:latin typeface="Calibri"/>
              </a:defRPr>
            </a:pPr>
          </a:p>
          <a:p>
            <a:pPr algn="l">
              <a:spcBef>
                <a:spcPts val="0"/>
              </a:spcBef>
              <a:spcAft>
                <a:spcPts val="600"/>
              </a:spcAft>
              <a:defRPr sz="1200" b="0">
                <a:solidFill>
                  <a:srgbClr val="333333"/>
                </a:solidFill>
                <a:latin typeface="Calibri"/>
              </a:defRPr>
            </a:pPr>
            <a:r>
              <a:t>• 2D: fast iteration, strong on in-plane</a:t>
            </a:r>
            <a:br/>
            <a:r>
              <a:t>features (membranes, texture)</a:t>
            </a:r>
          </a:p>
          <a:p>
            <a:pPr algn="l">
              <a:spcBef>
                <a:spcPts val="0"/>
              </a:spcBef>
              <a:spcAft>
                <a:spcPts val="600"/>
              </a:spcAft>
              <a:defRPr sz="1200" b="0">
                <a:solidFill>
                  <a:srgbClr val="333333"/>
                </a:solidFill>
                <a:latin typeface="Calibri"/>
              </a:defRPr>
            </a:pPr>
            <a:r>
              <a:t>• 3D: captures volumetric context</a:t>
            </a:r>
            <a:br/>
            <a:r>
              <a:t>(tubules, 3D connectivity, shape)</a:t>
            </a:r>
          </a:p>
          <a:p>
            <a:pPr algn="l">
              <a:spcBef>
                <a:spcPts val="0"/>
              </a:spcBef>
              <a:spcAft>
                <a:spcPts val="600"/>
              </a:spcAft>
              <a:defRPr sz="1200" b="0">
                <a:solidFill>
                  <a:srgbClr val="333333"/>
                </a:solidFill>
                <a:latin typeface="Calibri"/>
              </a:defRPr>
            </a:pPr>
            <a:r>
              <a:t>• Per-class ensemble: some organelles</a:t>
            </a:r>
            <a:br/>
            <a:r>
              <a:t>may be better served by 2D, others</a:t>
            </a:r>
            <a:br/>
            <a:r>
              <a:t>by 3D → composite model</a:t>
            </a:r>
          </a:p>
          <a:p>
            <a:pPr algn="l">
              <a:spcBef>
                <a:spcPts val="0"/>
              </a:spcBef>
              <a:spcAft>
                <a:spcPts val="600"/>
              </a:spcAft>
              <a:defRPr sz="1200" b="0">
                <a:solidFill>
                  <a:srgbClr val="333333"/>
                </a:solidFill>
                <a:latin typeface="Calibri"/>
              </a:defRPr>
            </a:pPr>
            <a:r>
              <a:t>• Final ensemble selects best architecture</a:t>
            </a:r>
            <a:br/>
            <a:r>
              <a:t>per organelle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Phase 2: Current Status</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graphicFrame>
        <p:nvGraphicFramePr>
          <p:cNvPr id="8" name="Table 7"/>
          <p:cNvGraphicFramePr>
            <a:graphicFrameLocks noGrp="1"/>
          </p:cNvGraphicFramePr>
          <p:nvPr/>
        </p:nvGraphicFramePr>
        <p:xfrm>
          <a:off x="274320" y="777240"/>
          <a:ext cx="7315200" cy="3200400"/>
        </p:xfrm>
        <a:graphic>
          <a:graphicData uri="http://schemas.openxmlformats.org/drawingml/2006/table">
            <a:tbl>
              <a:tblPr firstRow="1" bandRow="1">
                <a:tableStyleId>{5C22544A-7EE6-4342-B048-85BDC9FD1C3A}</a:tableStyleId>
              </a:tblPr>
              <a:tblGrid>
                <a:gridCol w="1219200"/>
                <a:gridCol w="1219200"/>
                <a:gridCol w="1219200"/>
                <a:gridCol w="1219200"/>
                <a:gridCol w="1219200"/>
                <a:gridCol w="1219200"/>
              </a:tblGrid>
              <a:tr h="320040">
                <a:tc>
                  <a:txBody>
                    <a:bodyPr/>
                    <a:lstStyle/>
                    <a:p>
                      <a:pPr>
                        <a:defRPr sz="1000" b="1">
                          <a:solidFill>
                            <a:srgbClr val="FFFFFF"/>
                          </a:solidFill>
                          <a:latin typeface="Calibri"/>
                        </a:defRPr>
                      </a:pPr>
                      <a:r>
                        <a:t>Model</a:t>
                      </a:r>
                    </a:p>
                  </a:txBody>
                  <a:tcPr anchor="ctr">
                    <a:solidFill>
                      <a:srgbClr val="156082"/>
                    </a:solidFill>
                  </a:tcPr>
                </a:tc>
                <a:tc>
                  <a:txBody>
                    <a:bodyPr/>
                    <a:lstStyle/>
                    <a:p>
                      <a:pPr>
                        <a:defRPr sz="1000" b="1">
                          <a:solidFill>
                            <a:srgbClr val="FFFFFF"/>
                          </a:solidFill>
                          <a:latin typeface="Calibri"/>
                        </a:defRPr>
                      </a:pPr>
                      <a:r>
                        <a:t>GPU</a:t>
                      </a:r>
                    </a:p>
                  </a:txBody>
                  <a:tcPr anchor="ctr">
                    <a:solidFill>
                      <a:srgbClr val="156082"/>
                    </a:solidFill>
                  </a:tcPr>
                </a:tc>
                <a:tc>
                  <a:txBody>
                    <a:bodyPr/>
                    <a:lstStyle/>
                    <a:p>
                      <a:pPr>
                        <a:defRPr sz="1000" b="1">
                          <a:solidFill>
                            <a:srgbClr val="FFFFFF"/>
                          </a:solidFill>
                          <a:latin typeface="Calibri"/>
                        </a:defRPr>
                      </a:pPr>
                      <a:r>
                        <a:t>Batch</a:t>
                      </a:r>
                    </a:p>
                  </a:txBody>
                  <a:tcPr anchor="ctr">
                    <a:solidFill>
                      <a:srgbClr val="156082"/>
                    </a:solidFill>
                  </a:tcPr>
                </a:tc>
                <a:tc>
                  <a:txBody>
                    <a:bodyPr/>
                    <a:lstStyle/>
                    <a:p>
                      <a:pPr>
                        <a:defRPr sz="1000" b="1">
                          <a:solidFill>
                            <a:srgbClr val="FFFFFF"/>
                          </a:solidFill>
                          <a:latin typeface="Calibri"/>
                        </a:defRPr>
                      </a:pPr>
                      <a:r>
                        <a:t>Steps</a:t>
                      </a:r>
                    </a:p>
                  </a:txBody>
                  <a:tcPr anchor="ctr">
                    <a:solidFill>
                      <a:srgbClr val="156082"/>
                    </a:solidFill>
                  </a:tcPr>
                </a:tc>
                <a:tc>
                  <a:txBody>
                    <a:bodyPr/>
                    <a:lstStyle/>
                    <a:p>
                      <a:pPr>
                        <a:defRPr sz="1000" b="1">
                          <a:solidFill>
                            <a:srgbClr val="FFFFFF"/>
                          </a:solidFill>
                          <a:latin typeface="Calibri"/>
                        </a:defRPr>
                      </a:pPr>
                      <a:r>
                        <a:t>Val Every</a:t>
                      </a:r>
                    </a:p>
                  </a:txBody>
                  <a:tcPr anchor="ctr">
                    <a:solidFill>
                      <a:srgbClr val="156082"/>
                    </a:solidFill>
                  </a:tcPr>
                </a:tc>
                <a:tc>
                  <a:txBody>
                    <a:bodyPr/>
                    <a:lstStyle/>
                    <a:p>
                      <a:pPr>
                        <a:defRPr sz="1000" b="1">
                          <a:solidFill>
                            <a:srgbClr val="FFFFFF"/>
                          </a:solidFill>
                          <a:latin typeface="Calibri"/>
                        </a:defRPr>
                      </a:pPr>
                      <a:r>
                        <a:t>Status</a:t>
                      </a:r>
                    </a:p>
                  </a:txBody>
                  <a:tcPr anchor="ctr">
                    <a:solidFill>
                      <a:srgbClr val="156082"/>
                    </a:solidFill>
                  </a:tcPr>
                </a:tc>
              </a:tr>
              <a:tr h="320040">
                <a:tc>
                  <a:txBody>
                    <a:bodyPr/>
                    <a:lstStyle/>
                    <a:p>
                      <a:pPr>
                        <a:defRPr sz="1000">
                          <a:solidFill>
                            <a:srgbClr val="333333"/>
                          </a:solidFill>
                          <a:latin typeface="Calibri"/>
                        </a:defRPr>
                      </a:pPr>
                      <a:r>
                        <a:t>ResNet 2D</a:t>
                      </a:r>
                    </a:p>
                  </a:txBody>
                  <a:tcPr anchor="ctr"/>
                </a:tc>
                <a:tc>
                  <a:txBody>
                    <a:bodyPr/>
                    <a:lstStyle/>
                    <a:p>
                      <a:pPr>
                        <a:defRPr sz="1000">
                          <a:solidFill>
                            <a:srgbClr val="333333"/>
                          </a:solidFill>
                          <a:latin typeface="Calibri"/>
                        </a:defRPr>
                      </a:pPr>
                      <a:r>
                        <a:t>L40S</a:t>
                      </a:r>
                    </a:p>
                  </a:txBody>
                  <a:tcPr anchor="ctr"/>
                </a:tc>
                <a:tc>
                  <a:txBody>
                    <a:bodyPr/>
                    <a:lstStyle/>
                    <a:p>
                      <a:pPr>
                        <a:defRPr sz="1000">
                          <a:solidFill>
                            <a:srgbClr val="333333"/>
                          </a:solidFill>
                          <a:latin typeface="Calibri"/>
                        </a:defRPr>
                      </a:pPr>
                      <a:r>
                        <a:t>8</a:t>
                      </a:r>
                    </a:p>
                  </a:txBody>
                  <a:tcPr anchor="ctr"/>
                </a:tc>
                <a:tc>
                  <a:txBody>
                    <a:bodyPr/>
                    <a:lstStyle/>
                    <a:p>
                      <a:pPr>
                        <a:defRPr sz="1000">
                          <a:solidFill>
                            <a:srgbClr val="333333"/>
                          </a:solidFill>
                          <a:latin typeface="Calibri"/>
                        </a:defRPr>
                      </a:pPr>
                      <a:r>
                        <a:t>100K</a:t>
                      </a:r>
                    </a:p>
                  </a:txBody>
                  <a:tcPr anchor="ctr"/>
                </a:tc>
                <a:tc>
                  <a:txBody>
                    <a:bodyPr/>
                    <a:lstStyle/>
                    <a:p>
                      <a:pPr>
                        <a:defRPr sz="1000">
                          <a:solidFill>
                            <a:srgbClr val="333333"/>
                          </a:solidFill>
                          <a:latin typeface="Calibri"/>
                        </a:defRPr>
                      </a:pPr>
                      <a:r>
                        <a:t>10 ep</a:t>
                      </a:r>
                    </a:p>
                  </a:txBody>
                  <a:tcPr anchor="ctr"/>
                </a:tc>
                <a:tc>
                  <a:txBody>
                    <a:bodyPr/>
                    <a:lstStyle/>
                    <a:p>
                      <a:pPr>
                        <a:defRPr sz="1000">
                          <a:solidFill>
                            <a:srgbClr val="333333"/>
                          </a:solidFill>
                          <a:latin typeface="Calibri"/>
                        </a:defRPr>
                      </a:pPr>
                      <a:r>
                        <a:t>⏳ Pending</a:t>
                      </a:r>
                    </a:p>
                  </a:txBody>
                  <a:tcPr anchor="ctr"/>
                </a:tc>
              </a:tr>
              <a:tr h="320040">
                <a:tc>
                  <a:txBody>
                    <a:bodyPr/>
                    <a:lstStyle/>
                    <a:p>
                      <a:pPr>
                        <a:defRPr sz="1000">
                          <a:solidFill>
                            <a:srgbClr val="333333"/>
                          </a:solidFill>
                          <a:latin typeface="Calibri"/>
                        </a:defRPr>
                      </a:pPr>
                      <a:r>
                        <a:t>UNet 2D</a:t>
                      </a:r>
                    </a:p>
                  </a:txBody>
                  <a:tcPr anchor="ctr">
                    <a:solidFill>
                      <a:srgbClr val="F2F2F2"/>
                    </a:solidFill>
                  </a:tcPr>
                </a:tc>
                <a:tc>
                  <a:txBody>
                    <a:bodyPr/>
                    <a:lstStyle/>
                    <a:p>
                      <a:pPr>
                        <a:defRPr sz="1000">
                          <a:solidFill>
                            <a:srgbClr val="333333"/>
                          </a:solidFill>
                          <a:latin typeface="Calibri"/>
                        </a:defRPr>
                      </a:pPr>
                      <a:r>
                        <a:t>L40S</a:t>
                      </a:r>
                    </a:p>
                  </a:txBody>
                  <a:tcPr anchor="ctr">
                    <a:solidFill>
                      <a:srgbClr val="F2F2F2"/>
                    </a:solidFill>
                  </a:tcPr>
                </a:tc>
                <a:tc>
                  <a:txBody>
                    <a:bodyPr/>
                    <a:lstStyle/>
                    <a:p>
                      <a:pPr>
                        <a:defRPr sz="1000">
                          <a:solidFill>
                            <a:srgbClr val="333333"/>
                          </a:solidFill>
                          <a:latin typeface="Calibri"/>
                        </a:defRPr>
                      </a:pPr>
                      <a:r>
                        <a:t>8</a:t>
                      </a:r>
                    </a:p>
                  </a:txBody>
                  <a:tcPr anchor="ctr">
                    <a:solidFill>
                      <a:srgbClr val="F2F2F2"/>
                    </a:solidFill>
                  </a:tcPr>
                </a:tc>
                <a:tc>
                  <a:txBody>
                    <a:bodyPr/>
                    <a:lstStyle/>
                    <a:p>
                      <a:pPr>
                        <a:defRPr sz="1000">
                          <a:solidFill>
                            <a:srgbClr val="333333"/>
                          </a:solidFill>
                          <a:latin typeface="Calibri"/>
                        </a:defRPr>
                      </a:pPr>
                      <a:r>
                        <a:t>100K</a:t>
                      </a:r>
                    </a:p>
                  </a:txBody>
                  <a:tcPr anchor="ctr">
                    <a:solidFill>
                      <a:srgbClr val="F2F2F2"/>
                    </a:solidFill>
                  </a:tcPr>
                </a:tc>
                <a:tc>
                  <a:txBody>
                    <a:bodyPr/>
                    <a:lstStyle/>
                    <a:p>
                      <a:pPr>
                        <a:defRPr sz="1000">
                          <a:solidFill>
                            <a:srgbClr val="333333"/>
                          </a:solidFill>
                          <a:latin typeface="Calibri"/>
                        </a:defRPr>
                      </a:pPr>
                      <a:r>
                        <a:t>10 ep</a:t>
                      </a:r>
                    </a:p>
                  </a:txBody>
                  <a:tcPr anchor="ctr">
                    <a:solidFill>
                      <a:srgbClr val="F2F2F2"/>
                    </a:solidFill>
                  </a:tcPr>
                </a:tc>
                <a:tc>
                  <a:txBody>
                    <a:bodyPr/>
                    <a:lstStyle/>
                    <a:p>
                      <a:pPr>
                        <a:defRPr sz="1000">
                          <a:solidFill>
                            <a:srgbClr val="333333"/>
                          </a:solidFill>
                          <a:latin typeface="Calibri"/>
                        </a:defRPr>
                      </a:pPr>
                      <a:r>
                        <a:t>⏳ Pending</a:t>
                      </a:r>
                    </a:p>
                  </a:txBody>
                  <a:tcPr anchor="ctr">
                    <a:solidFill>
                      <a:srgbClr val="F2F2F2"/>
                    </a:solidFill>
                  </a:tcPr>
                </a:tc>
              </a:tr>
              <a:tr h="320040">
                <a:tc>
                  <a:txBody>
                    <a:bodyPr/>
                    <a:lstStyle/>
                    <a:p>
                      <a:pPr>
                        <a:defRPr sz="1000">
                          <a:solidFill>
                            <a:srgbClr val="333333"/>
                          </a:solidFill>
                          <a:latin typeface="Calibri"/>
                        </a:defRPr>
                      </a:pPr>
                      <a:r>
                        <a:t>Swin 2D</a:t>
                      </a:r>
                    </a:p>
                  </a:txBody>
                  <a:tcPr anchor="ctr"/>
                </a:tc>
                <a:tc>
                  <a:txBody>
                    <a:bodyPr/>
                    <a:lstStyle/>
                    <a:p>
                      <a:pPr>
                        <a:defRPr sz="1000">
                          <a:solidFill>
                            <a:srgbClr val="333333"/>
                          </a:solidFill>
                          <a:latin typeface="Calibri"/>
                        </a:defRPr>
                      </a:pPr>
                      <a:r>
                        <a:t>L40S</a:t>
                      </a:r>
                    </a:p>
                  </a:txBody>
                  <a:tcPr anchor="ctr"/>
                </a:tc>
                <a:tc>
                  <a:txBody>
                    <a:bodyPr/>
                    <a:lstStyle/>
                    <a:p>
                      <a:pPr>
                        <a:defRPr sz="1000">
                          <a:solidFill>
                            <a:srgbClr val="333333"/>
                          </a:solidFill>
                          <a:latin typeface="Calibri"/>
                        </a:defRPr>
                      </a:pPr>
                      <a:r>
                        <a:t>8</a:t>
                      </a:r>
                    </a:p>
                  </a:txBody>
                  <a:tcPr anchor="ctr"/>
                </a:tc>
                <a:tc>
                  <a:txBody>
                    <a:bodyPr/>
                    <a:lstStyle/>
                    <a:p>
                      <a:pPr>
                        <a:defRPr sz="1000">
                          <a:solidFill>
                            <a:srgbClr val="333333"/>
                          </a:solidFill>
                          <a:latin typeface="Calibri"/>
                        </a:defRPr>
                      </a:pPr>
                      <a:r>
                        <a:t>100K</a:t>
                      </a:r>
                    </a:p>
                  </a:txBody>
                  <a:tcPr anchor="ctr"/>
                </a:tc>
                <a:tc>
                  <a:txBody>
                    <a:bodyPr/>
                    <a:lstStyle/>
                    <a:p>
                      <a:pPr>
                        <a:defRPr sz="1000">
                          <a:solidFill>
                            <a:srgbClr val="333333"/>
                          </a:solidFill>
                          <a:latin typeface="Calibri"/>
                        </a:defRPr>
                      </a:pPr>
                      <a:r>
                        <a:t>10 ep</a:t>
                      </a:r>
                    </a:p>
                  </a:txBody>
                  <a:tcPr anchor="ctr"/>
                </a:tc>
                <a:tc>
                  <a:txBody>
                    <a:bodyPr/>
                    <a:lstStyle/>
                    <a:p>
                      <a:pPr>
                        <a:defRPr sz="1000">
                          <a:solidFill>
                            <a:srgbClr val="333333"/>
                          </a:solidFill>
                          <a:latin typeface="Calibri"/>
                        </a:defRPr>
                      </a:pPr>
                      <a:r>
                        <a:t>⏳ Pending</a:t>
                      </a:r>
                    </a:p>
                  </a:txBody>
                  <a:tcPr anchor="ctr"/>
                </a:tc>
              </a:tr>
              <a:tr h="320040">
                <a:tc>
                  <a:txBody>
                    <a:bodyPr/>
                    <a:lstStyle/>
                    <a:p>
                      <a:pPr>
                        <a:defRPr sz="1000">
                          <a:solidFill>
                            <a:srgbClr val="333333"/>
                          </a:solidFill>
                          <a:latin typeface="Calibri"/>
                        </a:defRPr>
                      </a:pPr>
                      <a:r>
                        <a:t>ViT 2D</a:t>
                      </a:r>
                    </a:p>
                  </a:txBody>
                  <a:tcPr anchor="ctr">
                    <a:solidFill>
                      <a:srgbClr val="F2F2F2"/>
                    </a:solidFill>
                  </a:tcPr>
                </a:tc>
                <a:tc>
                  <a:txBody>
                    <a:bodyPr/>
                    <a:lstStyle/>
                    <a:p>
                      <a:pPr>
                        <a:defRPr sz="1000">
                          <a:solidFill>
                            <a:srgbClr val="333333"/>
                          </a:solidFill>
                          <a:latin typeface="Calibri"/>
                        </a:defRPr>
                      </a:pPr>
                      <a:r>
                        <a:t>L40S</a:t>
                      </a:r>
                    </a:p>
                  </a:txBody>
                  <a:tcPr anchor="ctr">
                    <a:solidFill>
                      <a:srgbClr val="F2F2F2"/>
                    </a:solidFill>
                  </a:tcPr>
                </a:tc>
                <a:tc>
                  <a:txBody>
                    <a:bodyPr/>
                    <a:lstStyle/>
                    <a:p>
                      <a:pPr>
                        <a:defRPr sz="1000">
                          <a:solidFill>
                            <a:srgbClr val="333333"/>
                          </a:solidFill>
                          <a:latin typeface="Calibri"/>
                        </a:defRPr>
                      </a:pPr>
                      <a:r>
                        <a:t>8</a:t>
                      </a:r>
                    </a:p>
                  </a:txBody>
                  <a:tcPr anchor="ctr">
                    <a:solidFill>
                      <a:srgbClr val="F2F2F2"/>
                    </a:solidFill>
                  </a:tcPr>
                </a:tc>
                <a:tc>
                  <a:txBody>
                    <a:bodyPr/>
                    <a:lstStyle/>
                    <a:p>
                      <a:pPr>
                        <a:defRPr sz="1000">
                          <a:solidFill>
                            <a:srgbClr val="333333"/>
                          </a:solidFill>
                          <a:latin typeface="Calibri"/>
                        </a:defRPr>
                      </a:pPr>
                      <a:r>
                        <a:t>100K</a:t>
                      </a:r>
                    </a:p>
                  </a:txBody>
                  <a:tcPr anchor="ctr">
                    <a:solidFill>
                      <a:srgbClr val="F2F2F2"/>
                    </a:solidFill>
                  </a:tcPr>
                </a:tc>
                <a:tc>
                  <a:txBody>
                    <a:bodyPr/>
                    <a:lstStyle/>
                    <a:p>
                      <a:pPr>
                        <a:defRPr sz="1000">
                          <a:solidFill>
                            <a:srgbClr val="333333"/>
                          </a:solidFill>
                          <a:latin typeface="Calibri"/>
                        </a:defRPr>
                      </a:pPr>
                      <a:r>
                        <a:t>10 ep</a:t>
                      </a:r>
                    </a:p>
                  </a:txBody>
                  <a:tcPr anchor="ctr">
                    <a:solidFill>
                      <a:srgbClr val="F2F2F2"/>
                    </a:solidFill>
                  </a:tcPr>
                </a:tc>
                <a:tc>
                  <a:txBody>
                    <a:bodyPr/>
                    <a:lstStyle/>
                    <a:p>
                      <a:pPr>
                        <a:defRPr sz="1000">
                          <a:solidFill>
                            <a:srgbClr val="333333"/>
                          </a:solidFill>
                          <a:latin typeface="Calibri"/>
                        </a:defRPr>
                      </a:pPr>
                      <a:r>
                        <a:t>⏳ Pending</a:t>
                      </a:r>
                    </a:p>
                  </a:txBody>
                  <a:tcPr anchor="ctr">
                    <a:solidFill>
                      <a:srgbClr val="F2F2F2"/>
                    </a:solidFill>
                  </a:tcPr>
                </a:tc>
              </a:tr>
              <a:tr h="320040">
                <a:tc>
                  <a:txBody>
                    <a:bodyPr/>
                    <a:lstStyle/>
                    <a:p>
                      <a:pPr>
                        <a:defRPr sz="1000">
                          <a:solidFill>
                            <a:srgbClr val="333333"/>
                          </a:solidFill>
                          <a:latin typeface="Calibri"/>
                        </a:defRPr>
                      </a:pPr>
                      <a:r>
                        <a:t>SegResNet 3D</a:t>
                      </a:r>
                    </a:p>
                  </a:txBody>
                  <a:tcPr anchor="ctr"/>
                </a:tc>
                <a:tc>
                  <a:txBody>
                    <a:bodyPr/>
                    <a:lstStyle/>
                    <a:p>
                      <a:pPr>
                        <a:defRPr sz="1000">
                          <a:solidFill>
                            <a:srgbClr val="333333"/>
                          </a:solidFill>
                          <a:latin typeface="Calibri"/>
                        </a:defRPr>
                      </a:pPr>
                      <a:r>
                        <a:t>L40S</a:t>
                      </a:r>
                    </a:p>
                  </a:txBody>
                  <a:tcPr anchor="ctr"/>
                </a:tc>
                <a:tc>
                  <a:txBody>
                    <a:bodyPr/>
                    <a:lstStyle/>
                    <a:p>
                      <a:pPr>
                        <a:defRPr sz="1000">
                          <a:solidFill>
                            <a:srgbClr val="333333"/>
                          </a:solidFill>
                          <a:latin typeface="Calibri"/>
                        </a:defRPr>
                      </a:pPr>
                      <a:r>
                        <a:t>2</a:t>
                      </a:r>
                    </a:p>
                  </a:txBody>
                  <a:tcPr anchor="ctr"/>
                </a:tc>
                <a:tc>
                  <a:txBody>
                    <a:bodyPr/>
                    <a:lstStyle/>
                    <a:p>
                      <a:pPr>
                        <a:defRPr sz="1000">
                          <a:solidFill>
                            <a:srgbClr val="333333"/>
                          </a:solidFill>
                          <a:latin typeface="Calibri"/>
                        </a:defRPr>
                      </a:pPr>
                      <a:r>
                        <a:t>300K</a:t>
                      </a:r>
                    </a:p>
                  </a:txBody>
                  <a:tcPr anchor="ctr"/>
                </a:tc>
                <a:tc>
                  <a:txBody>
                    <a:bodyPr/>
                    <a:lstStyle/>
                    <a:p>
                      <a:pPr>
                        <a:defRPr sz="1000">
                          <a:solidFill>
                            <a:srgbClr val="333333"/>
                          </a:solidFill>
                          <a:latin typeface="Calibri"/>
                        </a:defRPr>
                      </a:pPr>
                      <a:r>
                        <a:t>30 ep</a:t>
                      </a:r>
                    </a:p>
                  </a:txBody>
                  <a:tcPr anchor="ctr"/>
                </a:tc>
                <a:tc>
                  <a:txBody>
                    <a:bodyPr/>
                    <a:lstStyle/>
                    <a:p>
                      <a:pPr>
                        <a:defRPr sz="1000">
                          <a:solidFill>
                            <a:srgbClr val="333333"/>
                          </a:solidFill>
                          <a:latin typeface="Calibri"/>
                        </a:defRPr>
                      </a:pPr>
                      <a:r>
                        <a:t>⏳ Pending</a:t>
                      </a:r>
                    </a:p>
                  </a:txBody>
                  <a:tcPr anchor="ctr"/>
                </a:tc>
              </a:tr>
              <a:tr h="320040">
                <a:tc>
                  <a:txBody>
                    <a:bodyPr/>
                    <a:lstStyle/>
                    <a:p>
                      <a:pPr>
                        <a:defRPr sz="1000">
                          <a:solidFill>
                            <a:srgbClr val="333333"/>
                          </a:solidFill>
                          <a:latin typeface="Calibri"/>
                        </a:defRPr>
                      </a:pPr>
                      <a:r>
                        <a:t>SwinUNETR 3D</a:t>
                      </a:r>
                    </a:p>
                  </a:txBody>
                  <a:tcPr anchor="ctr">
                    <a:solidFill>
                      <a:srgbClr val="F2F2F2"/>
                    </a:solidFill>
                  </a:tcPr>
                </a:tc>
                <a:tc>
                  <a:txBody>
                    <a:bodyPr/>
                    <a:lstStyle/>
                    <a:p>
                      <a:pPr>
                        <a:defRPr sz="1000">
                          <a:solidFill>
                            <a:srgbClr val="333333"/>
                          </a:solidFill>
                          <a:latin typeface="Calibri"/>
                        </a:defRPr>
                      </a:pPr>
                      <a:r>
                        <a:t>L40S</a:t>
                      </a:r>
                    </a:p>
                  </a:txBody>
                  <a:tcPr anchor="ctr">
                    <a:solidFill>
                      <a:srgbClr val="F2F2F2"/>
                    </a:solidFill>
                  </a:tcPr>
                </a:tc>
                <a:tc>
                  <a:txBody>
                    <a:bodyPr/>
                    <a:lstStyle/>
                    <a:p>
                      <a:pPr>
                        <a:defRPr sz="1000">
                          <a:solidFill>
                            <a:srgbClr val="333333"/>
                          </a:solidFill>
                          <a:latin typeface="Calibri"/>
                        </a:defRPr>
                      </a:pPr>
                      <a:r>
                        <a:t>2</a:t>
                      </a:r>
                    </a:p>
                  </a:txBody>
                  <a:tcPr anchor="ctr">
                    <a:solidFill>
                      <a:srgbClr val="F2F2F2"/>
                    </a:solidFill>
                  </a:tcPr>
                </a:tc>
                <a:tc>
                  <a:txBody>
                    <a:bodyPr/>
                    <a:lstStyle/>
                    <a:p>
                      <a:pPr>
                        <a:defRPr sz="1000">
                          <a:solidFill>
                            <a:srgbClr val="333333"/>
                          </a:solidFill>
                          <a:latin typeface="Calibri"/>
                        </a:defRPr>
                      </a:pPr>
                      <a:r>
                        <a:t>300K</a:t>
                      </a:r>
                    </a:p>
                  </a:txBody>
                  <a:tcPr anchor="ctr">
                    <a:solidFill>
                      <a:srgbClr val="F2F2F2"/>
                    </a:solidFill>
                  </a:tcPr>
                </a:tc>
                <a:tc>
                  <a:txBody>
                    <a:bodyPr/>
                    <a:lstStyle/>
                    <a:p>
                      <a:pPr>
                        <a:defRPr sz="1000">
                          <a:solidFill>
                            <a:srgbClr val="333333"/>
                          </a:solidFill>
                          <a:latin typeface="Calibri"/>
                        </a:defRPr>
                      </a:pPr>
                      <a:r>
                        <a:t>30 ep</a:t>
                      </a:r>
                    </a:p>
                  </a:txBody>
                  <a:tcPr anchor="ctr">
                    <a:solidFill>
                      <a:srgbClr val="F2F2F2"/>
                    </a:solidFill>
                  </a:tcPr>
                </a:tc>
                <a:tc>
                  <a:txBody>
                    <a:bodyPr/>
                    <a:lstStyle/>
                    <a:p>
                      <a:pPr>
                        <a:defRPr sz="1000">
                          <a:solidFill>
                            <a:srgbClr val="333333"/>
                          </a:solidFill>
                          <a:latin typeface="Calibri"/>
                        </a:defRPr>
                      </a:pPr>
                      <a:r>
                        <a:t>⏳ Pending</a:t>
                      </a:r>
                    </a:p>
                  </a:txBody>
                  <a:tcPr anchor="ctr">
                    <a:solidFill>
                      <a:srgbClr val="F2F2F2"/>
                    </a:solidFill>
                  </a:tcPr>
                </a:tc>
              </a:tr>
              <a:tr h="320040">
                <a:tc>
                  <a:txBody>
                    <a:bodyPr/>
                    <a:lstStyle/>
                    <a:p>
                      <a:pPr>
                        <a:defRPr sz="1000">
                          <a:solidFill>
                            <a:srgbClr val="333333"/>
                          </a:solidFill>
                          <a:latin typeface="Calibri"/>
                        </a:defRPr>
                      </a:pPr>
                      <a:r>
                        <a:t>ResNet 3D</a:t>
                      </a:r>
                    </a:p>
                  </a:txBody>
                  <a:tcPr anchor="ctr"/>
                </a:tc>
                <a:tc>
                  <a:txBody>
                    <a:bodyPr/>
                    <a:lstStyle/>
                    <a:p>
                      <a:pPr>
                        <a:defRPr sz="1000">
                          <a:solidFill>
                            <a:srgbClr val="333333"/>
                          </a:solidFill>
                          <a:latin typeface="Calibri"/>
                        </a:defRPr>
                      </a:pPr>
                      <a:r>
                        <a:t>L40S</a:t>
                      </a:r>
                    </a:p>
                  </a:txBody>
                  <a:tcPr anchor="ctr"/>
                </a:tc>
                <a:tc>
                  <a:txBody>
                    <a:bodyPr/>
                    <a:lstStyle/>
                    <a:p>
                      <a:pPr>
                        <a:defRPr sz="1000">
                          <a:solidFill>
                            <a:srgbClr val="333333"/>
                          </a:solidFill>
                          <a:latin typeface="Calibri"/>
                        </a:defRPr>
                      </a:pPr>
                      <a:r>
                        <a:t>2</a:t>
                      </a:r>
                    </a:p>
                  </a:txBody>
                  <a:tcPr anchor="ctr"/>
                </a:tc>
                <a:tc>
                  <a:txBody>
                    <a:bodyPr/>
                    <a:lstStyle/>
                    <a:p>
                      <a:pPr>
                        <a:defRPr sz="1000">
                          <a:solidFill>
                            <a:srgbClr val="333333"/>
                          </a:solidFill>
                          <a:latin typeface="Calibri"/>
                        </a:defRPr>
                      </a:pPr>
                      <a:r>
                        <a:t>300K</a:t>
                      </a:r>
                    </a:p>
                  </a:txBody>
                  <a:tcPr anchor="ctr"/>
                </a:tc>
                <a:tc>
                  <a:txBody>
                    <a:bodyPr/>
                    <a:lstStyle/>
                    <a:p>
                      <a:pPr>
                        <a:defRPr sz="1000">
                          <a:solidFill>
                            <a:srgbClr val="333333"/>
                          </a:solidFill>
                          <a:latin typeface="Calibri"/>
                        </a:defRPr>
                      </a:pPr>
                      <a:r>
                        <a:t>30 ep</a:t>
                      </a:r>
                    </a:p>
                  </a:txBody>
                  <a:tcPr anchor="ctr"/>
                </a:tc>
                <a:tc>
                  <a:txBody>
                    <a:bodyPr/>
                    <a:lstStyle/>
                    <a:p>
                      <a:pPr>
                        <a:defRPr sz="1000">
                          <a:solidFill>
                            <a:srgbClr val="333333"/>
                          </a:solidFill>
                          <a:latin typeface="Calibri"/>
                        </a:defRPr>
                      </a:pPr>
                      <a:r>
                        <a:t>⏳ Pending</a:t>
                      </a:r>
                    </a:p>
                  </a:txBody>
                  <a:tcPr anchor="ctr"/>
                </a:tc>
              </a:tr>
              <a:tr h="320040">
                <a:tc>
                  <a:txBody>
                    <a:bodyPr/>
                    <a:lstStyle/>
                    <a:p>
                      <a:pPr>
                        <a:defRPr sz="1000">
                          <a:solidFill>
                            <a:srgbClr val="333333"/>
                          </a:solidFill>
                          <a:latin typeface="Calibri"/>
                        </a:defRPr>
                      </a:pPr>
                      <a:r>
                        <a:t>UNet 3D</a:t>
                      </a:r>
                    </a:p>
                  </a:txBody>
                  <a:tcPr anchor="ctr">
                    <a:solidFill>
                      <a:srgbClr val="F2F2F2"/>
                    </a:solidFill>
                  </a:tcPr>
                </a:tc>
                <a:tc>
                  <a:txBody>
                    <a:bodyPr/>
                    <a:lstStyle/>
                    <a:p>
                      <a:pPr>
                        <a:defRPr sz="1000">
                          <a:solidFill>
                            <a:srgbClr val="333333"/>
                          </a:solidFill>
                          <a:latin typeface="Calibri"/>
                        </a:defRPr>
                      </a:pPr>
                      <a:r>
                        <a:t>L40S</a:t>
                      </a:r>
                    </a:p>
                  </a:txBody>
                  <a:tcPr anchor="ctr">
                    <a:solidFill>
                      <a:srgbClr val="F2F2F2"/>
                    </a:solidFill>
                  </a:tcPr>
                </a:tc>
                <a:tc>
                  <a:txBody>
                    <a:bodyPr/>
                    <a:lstStyle/>
                    <a:p>
                      <a:pPr>
                        <a:defRPr sz="1000">
                          <a:solidFill>
                            <a:srgbClr val="333333"/>
                          </a:solidFill>
                          <a:latin typeface="Calibri"/>
                        </a:defRPr>
                      </a:pPr>
                      <a:r>
                        <a:t>2</a:t>
                      </a:r>
                    </a:p>
                  </a:txBody>
                  <a:tcPr anchor="ctr">
                    <a:solidFill>
                      <a:srgbClr val="F2F2F2"/>
                    </a:solidFill>
                  </a:tcPr>
                </a:tc>
                <a:tc>
                  <a:txBody>
                    <a:bodyPr/>
                    <a:lstStyle/>
                    <a:p>
                      <a:pPr>
                        <a:defRPr sz="1000">
                          <a:solidFill>
                            <a:srgbClr val="333333"/>
                          </a:solidFill>
                          <a:latin typeface="Calibri"/>
                        </a:defRPr>
                      </a:pPr>
                      <a:r>
                        <a:t>300K</a:t>
                      </a:r>
                    </a:p>
                  </a:txBody>
                  <a:tcPr anchor="ctr">
                    <a:solidFill>
                      <a:srgbClr val="F2F2F2"/>
                    </a:solidFill>
                  </a:tcPr>
                </a:tc>
                <a:tc>
                  <a:txBody>
                    <a:bodyPr/>
                    <a:lstStyle/>
                    <a:p>
                      <a:pPr>
                        <a:defRPr sz="1000">
                          <a:solidFill>
                            <a:srgbClr val="333333"/>
                          </a:solidFill>
                          <a:latin typeface="Calibri"/>
                        </a:defRPr>
                      </a:pPr>
                      <a:r>
                        <a:t>30 ep</a:t>
                      </a:r>
                    </a:p>
                  </a:txBody>
                  <a:tcPr anchor="ctr">
                    <a:solidFill>
                      <a:srgbClr val="F2F2F2"/>
                    </a:solidFill>
                  </a:tcPr>
                </a:tc>
                <a:tc>
                  <a:txBody>
                    <a:bodyPr/>
                    <a:lstStyle/>
                    <a:p>
                      <a:pPr>
                        <a:defRPr sz="1000">
                          <a:solidFill>
                            <a:srgbClr val="333333"/>
                          </a:solidFill>
                          <a:latin typeface="Calibri"/>
                        </a:defRPr>
                      </a:pPr>
                      <a:r>
                        <a:t>⏳ Pending</a:t>
                      </a:r>
                    </a:p>
                  </a:txBody>
                  <a:tcPr anchor="ctr">
                    <a:solidFill>
                      <a:srgbClr val="F2F2F2"/>
                    </a:solidFill>
                  </a:tcPr>
                </a:tc>
              </a:tr>
              <a:tr h="320040">
                <a:tc>
                  <a:txBody>
                    <a:bodyPr/>
                    <a:lstStyle/>
                    <a:p>
                      <a:pPr>
                        <a:defRPr sz="1000">
                          <a:solidFill>
                            <a:srgbClr val="333333"/>
                          </a:solidFill>
                          <a:latin typeface="Calibri"/>
                        </a:defRPr>
                      </a:pPr>
                      <a:r>
                        <a:t>ViTNet 3D</a:t>
                      </a:r>
                    </a:p>
                  </a:txBody>
                  <a:tcPr anchor="ctr"/>
                </a:tc>
                <a:tc>
                  <a:txBody>
                    <a:bodyPr/>
                    <a:lstStyle/>
                    <a:p>
                      <a:pPr>
                        <a:defRPr sz="1000">
                          <a:solidFill>
                            <a:srgbClr val="333333"/>
                          </a:solidFill>
                          <a:latin typeface="Calibri"/>
                        </a:defRPr>
                      </a:pPr>
                      <a:r>
                        <a:t>L40S</a:t>
                      </a:r>
                    </a:p>
                  </a:txBody>
                  <a:tcPr anchor="ctr"/>
                </a:tc>
                <a:tc>
                  <a:txBody>
                    <a:bodyPr/>
                    <a:lstStyle/>
                    <a:p>
                      <a:pPr>
                        <a:defRPr sz="1000">
                          <a:solidFill>
                            <a:srgbClr val="333333"/>
                          </a:solidFill>
                          <a:latin typeface="Calibri"/>
                        </a:defRPr>
                      </a:pPr>
                      <a:r>
                        <a:t>1</a:t>
                      </a:r>
                    </a:p>
                  </a:txBody>
                  <a:tcPr anchor="ctr"/>
                </a:tc>
                <a:tc>
                  <a:txBody>
                    <a:bodyPr/>
                    <a:lstStyle/>
                    <a:p>
                      <a:pPr>
                        <a:defRPr sz="1000">
                          <a:solidFill>
                            <a:srgbClr val="333333"/>
                          </a:solidFill>
                          <a:latin typeface="Calibri"/>
                        </a:defRPr>
                      </a:pPr>
                      <a:r>
                        <a:t>300K</a:t>
                      </a:r>
                    </a:p>
                  </a:txBody>
                  <a:tcPr anchor="ctr"/>
                </a:tc>
                <a:tc>
                  <a:txBody>
                    <a:bodyPr/>
                    <a:lstStyle/>
                    <a:p>
                      <a:pPr>
                        <a:defRPr sz="1000">
                          <a:solidFill>
                            <a:srgbClr val="333333"/>
                          </a:solidFill>
                          <a:latin typeface="Calibri"/>
                        </a:defRPr>
                      </a:pPr>
                      <a:r>
                        <a:t>30 ep</a:t>
                      </a:r>
                    </a:p>
                  </a:txBody>
                  <a:tcPr anchor="ctr"/>
                </a:tc>
                <a:tc>
                  <a:txBody>
                    <a:bodyPr/>
                    <a:lstStyle/>
                    <a:p>
                      <a:pPr>
                        <a:defRPr sz="1000">
                          <a:solidFill>
                            <a:srgbClr val="333333"/>
                          </a:solidFill>
                          <a:latin typeface="Calibri"/>
                        </a:defRPr>
                      </a:pPr>
                      <a:r>
                        <a:t>⏳ Pending</a:t>
                      </a:r>
                    </a:p>
                  </a:txBody>
                  <a:tcPr anchor="ctr"/>
                </a:tc>
              </a:tr>
            </a:tbl>
          </a:graphicData>
        </a:graphic>
      </p:graphicFrame>
      <p:sp>
        <p:nvSpPr>
          <p:cNvPr id="9" name="TextBox 8"/>
          <p:cNvSpPr txBox="1"/>
          <p:nvPr/>
        </p:nvSpPr>
        <p:spPr>
          <a:xfrm>
            <a:off x="7772400" y="777240"/>
            <a:ext cx="4114800" cy="3200400"/>
          </a:xfrm>
          <a:prstGeom prst="rect">
            <a:avLst/>
          </a:prstGeom>
          <a:noFill/>
        </p:spPr>
        <p:txBody>
          <a:bodyPr wrap="square">
            <a:spAutoFit/>
          </a:bodyPr>
          <a:lstStyle/>
          <a:p>
            <a:pPr algn="l">
              <a:spcBef>
                <a:spcPts val="0"/>
              </a:spcBef>
              <a:spcAft>
                <a:spcPts val="400"/>
              </a:spcAft>
              <a:defRPr sz="1600" b="1">
                <a:solidFill>
                  <a:srgbClr val="156082"/>
                </a:solidFill>
                <a:latin typeface="Calibri"/>
              </a:defRPr>
            </a:pPr>
            <a:r>
              <a:t>What’s Different This Time</a:t>
            </a:r>
          </a:p>
          <a:p>
            <a:pPr algn="l">
              <a:spcBef>
                <a:spcPts val="0"/>
              </a:spcBef>
              <a:spcAft>
                <a:spcPts val="400"/>
              </a:spcAft>
              <a:defRPr sz="600" b="0">
                <a:solidFill>
                  <a:srgbClr val="333333"/>
                </a:solidFill>
                <a:latin typeface="Calibri"/>
              </a:defRPr>
            </a:pPr>
          </a:p>
          <a:p>
            <a:pPr algn="l">
              <a:spcBef>
                <a:spcPts val="0"/>
              </a:spcBef>
              <a:spcAft>
                <a:spcPts val="600"/>
              </a:spcAft>
              <a:defRPr sz="1200" b="0">
                <a:solidFill>
                  <a:srgbClr val="333333"/>
                </a:solidFill>
                <a:latin typeface="Calibri"/>
              </a:defRPr>
            </a:pPr>
            <a:r>
              <a:t>• Clean start: all old checkpoints</a:t>
            </a:r>
            <a:br/>
            <a:r>
              <a:t>and outputs wiped</a:t>
            </a:r>
          </a:p>
          <a:p>
            <a:pPr algn="l">
              <a:spcBef>
                <a:spcPts val="0"/>
              </a:spcBef>
              <a:spcAft>
                <a:spcPts val="600"/>
              </a:spcAft>
              <a:defRPr sz="1200" b="0">
                <a:solidFill>
                  <a:srgbClr val="333333"/>
                </a:solidFill>
                <a:latin typeface="Calibri"/>
              </a:defRPr>
            </a:pPr>
            <a:r>
              <a:t>• Per-class Dice from epoch 1:</a:t>
            </a:r>
            <a:br/>
            <a:r>
              <a:t>48 classes tracked in TensorBoard</a:t>
            </a:r>
          </a:p>
          <a:p>
            <a:pPr algn="l">
              <a:spcBef>
                <a:spcPts val="0"/>
              </a:spcBef>
              <a:spcAft>
                <a:spcPts val="600"/>
              </a:spcAft>
              <a:defRPr sz="1200" b="0">
                <a:solidFill>
                  <a:srgbClr val="333333"/>
                </a:solidFill>
                <a:latin typeface="Calibri"/>
              </a:defRPr>
            </a:pPr>
            <a:r>
              <a:t>• Best model saved by val_dice</a:t>
            </a:r>
            <a:br/>
            <a:r>
              <a:t>(not val_loss)</a:t>
            </a:r>
          </a:p>
          <a:p>
            <a:pPr algn="l">
              <a:spcBef>
                <a:spcPts val="0"/>
              </a:spcBef>
              <a:spcAft>
                <a:spcPts val="600"/>
              </a:spcAft>
              <a:defRPr sz="1200" b="0">
                <a:solidFill>
                  <a:srgbClr val="333333"/>
                </a:solidFill>
                <a:latin typeface="Calibri"/>
              </a:defRPr>
            </a:pPr>
            <a:r>
              <a:t>• Fixed checkpoint resume bug:</a:t>
            </a:r>
            <a:br/>
            <a:r>
              <a:t>best metrics now survive restarts</a:t>
            </a:r>
          </a:p>
          <a:p>
            <a:pPr algn="l">
              <a:spcBef>
                <a:spcPts val="0"/>
              </a:spcBef>
              <a:spcAft>
                <a:spcPts val="600"/>
              </a:spcAft>
              <a:defRPr sz="1200" b="0">
                <a:solidFill>
                  <a:srgbClr val="333333"/>
                </a:solidFill>
                <a:latin typeface="Calibri"/>
              </a:defRPr>
            </a:pPr>
            <a:r>
              <a:t>• 3D OOM fix: persistent_workers=</a:t>
            </a:r>
            <a:br/>
            <a:r>
              <a:t>false prevents memory leak</a:t>
            </a:r>
          </a:p>
        </p:txBody>
      </p:sp>
      <p:sp>
        <p:nvSpPr>
          <p:cNvPr id="10" name="Rounded Rectangle 9"/>
          <p:cNvSpPr/>
          <p:nvPr/>
        </p:nvSpPr>
        <p:spPr>
          <a:xfrm>
            <a:off x="274320" y="4160520"/>
            <a:ext cx="11612880" cy="1737360"/>
          </a:xfrm>
          <a:prstGeom prst="round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251960"/>
            <a:ext cx="11247120" cy="1554480"/>
          </a:xfrm>
          <a:prstGeom prst="rect">
            <a:avLst/>
          </a:prstGeom>
          <a:noFill/>
        </p:spPr>
        <p:txBody>
          <a:bodyPr wrap="square">
            <a:spAutoFit/>
          </a:bodyPr>
          <a:lstStyle/>
          <a:p>
            <a:pPr algn="l">
              <a:spcBef>
                <a:spcPts val="0"/>
              </a:spcBef>
              <a:spcAft>
                <a:spcPts val="400"/>
              </a:spcAft>
              <a:defRPr sz="1400" b="1">
                <a:solidFill>
                  <a:srgbClr val="E97132"/>
                </a:solidFill>
                <a:latin typeface="Calibri"/>
              </a:defRPr>
            </a:pPr>
            <a:r>
              <a:t>Infrastructure Challenges Overcome</a:t>
            </a:r>
          </a:p>
          <a:p>
            <a:pPr algn="l">
              <a:spcBef>
                <a:spcPts val="0"/>
              </a:spcBef>
              <a:spcAft>
                <a:spcPts val="400"/>
              </a:spcAft>
              <a:defRPr sz="400" b="0">
                <a:solidFill>
                  <a:srgbClr val="333333"/>
                </a:solidFill>
                <a:latin typeface="Calibri"/>
              </a:defRPr>
            </a:pPr>
          </a:p>
        </p:txBody>
      </p:sp>
      <p:sp>
        <p:nvSpPr>
          <p:cNvPr id="12" name="TextBox 11"/>
          <p:cNvSpPr txBox="1"/>
          <p:nvPr/>
        </p:nvSpPr>
        <p:spPr>
          <a:xfrm>
            <a:off x="274320" y="4526280"/>
            <a:ext cx="2743200" cy="274320"/>
          </a:xfrm>
          <a:prstGeom prst="rect">
            <a:avLst/>
          </a:prstGeom>
          <a:noFill/>
        </p:spPr>
        <p:txBody>
          <a:bodyPr wrap="square">
            <a:spAutoFit/>
          </a:bodyPr>
          <a:lstStyle/>
          <a:p>
            <a:pPr algn="l">
              <a:spcBef>
                <a:spcPts val="0"/>
              </a:spcBef>
              <a:spcAft>
                <a:spcPts val="400"/>
              </a:spcAft>
              <a:defRPr sz="1100" b="1">
                <a:solidFill>
                  <a:srgbClr val="E97132"/>
                </a:solidFill>
                <a:latin typeface="Calibri"/>
              </a:defRPr>
            </a:pPr>
            <a:r>
              <a:t>3D Host RAM OOM</a:t>
            </a:r>
          </a:p>
        </p:txBody>
      </p:sp>
      <p:sp>
        <p:nvSpPr>
          <p:cNvPr id="13" name="TextBox 12"/>
          <p:cNvSpPr txBox="1"/>
          <p:nvPr/>
        </p:nvSpPr>
        <p:spPr>
          <a:xfrm>
            <a:off x="274320" y="4754880"/>
            <a:ext cx="2743200" cy="1005840"/>
          </a:xfrm>
          <a:prstGeom prst="rect">
            <a:avLst/>
          </a:prstGeom>
          <a:noFill/>
        </p:spPr>
        <p:txBody>
          <a:bodyPr wrap="square">
            <a:spAutoFit/>
          </a:bodyPr>
          <a:lstStyle/>
          <a:p>
            <a:pPr algn="l">
              <a:spcBef>
                <a:spcPts val="0"/>
              </a:spcBef>
              <a:spcAft>
                <a:spcPts val="400"/>
              </a:spcAft>
              <a:defRPr sz="1000" b="0">
                <a:solidFill>
                  <a:srgbClr val="767676"/>
                </a:solidFill>
                <a:latin typeface="Calibri"/>
              </a:defRPr>
            </a:pPr>
            <a:r>
              <a:t>CellMapDataLoader.refresh() leaks</a:t>
            </a:r>
            <a:br/>
            <a:r>
              <a:t>memory via persistent workers.</a:t>
            </a:r>
            <a:br/>
            <a:r>
              <a:t>Fix: persistent_workers=false</a:t>
            </a:r>
          </a:p>
        </p:txBody>
      </p:sp>
      <p:sp>
        <p:nvSpPr>
          <p:cNvPr id="14" name="TextBox 13"/>
          <p:cNvSpPr txBox="1"/>
          <p:nvPr/>
        </p:nvSpPr>
        <p:spPr>
          <a:xfrm>
            <a:off x="3200400" y="4526280"/>
            <a:ext cx="2743200" cy="274320"/>
          </a:xfrm>
          <a:prstGeom prst="rect">
            <a:avLst/>
          </a:prstGeom>
          <a:noFill/>
        </p:spPr>
        <p:txBody>
          <a:bodyPr wrap="square">
            <a:spAutoFit/>
          </a:bodyPr>
          <a:lstStyle/>
          <a:p>
            <a:pPr algn="l">
              <a:spcBef>
                <a:spcPts val="0"/>
              </a:spcBef>
              <a:spcAft>
                <a:spcPts val="400"/>
              </a:spcAft>
              <a:defRPr sz="1100" b="1">
                <a:solidFill>
                  <a:srgbClr val="E97132"/>
                </a:solidFill>
                <a:latin typeface="Calibri"/>
              </a:defRPr>
            </a:pPr>
            <a:r>
              <a:t>No Dice Tracking</a:t>
            </a:r>
          </a:p>
        </p:txBody>
      </p:sp>
      <p:sp>
        <p:nvSpPr>
          <p:cNvPr id="15" name="TextBox 14"/>
          <p:cNvSpPr txBox="1"/>
          <p:nvPr/>
        </p:nvSpPr>
        <p:spPr>
          <a:xfrm>
            <a:off x="3200400" y="4754880"/>
            <a:ext cx="2743200" cy="1005840"/>
          </a:xfrm>
          <a:prstGeom prst="rect">
            <a:avLst/>
          </a:prstGeom>
          <a:noFill/>
        </p:spPr>
        <p:txBody>
          <a:bodyPr wrap="square">
            <a:spAutoFit/>
          </a:bodyPr>
          <a:lstStyle/>
          <a:p>
            <a:pPr algn="l">
              <a:spcBef>
                <a:spcPts val="0"/>
              </a:spcBef>
              <a:spcAft>
                <a:spcPts val="400"/>
              </a:spcAft>
              <a:defRPr sz="1000" b="0">
                <a:solidFill>
                  <a:srgbClr val="767676"/>
                </a:solidFill>
                <a:latin typeface="Calibri"/>
              </a:defRPr>
            </a:pPr>
            <a:r>
              <a:t>Original code only logged val_loss.</a:t>
            </a:r>
            <a:br/>
            <a:r>
              <a:t>Added per-class Dice for all 48</a:t>
            </a:r>
            <a:br/>
            <a:r>
              <a:t>classes with NaN masking.</a:t>
            </a:r>
          </a:p>
        </p:txBody>
      </p:sp>
      <p:sp>
        <p:nvSpPr>
          <p:cNvPr id="16" name="TextBox 15"/>
          <p:cNvSpPr txBox="1"/>
          <p:nvPr/>
        </p:nvSpPr>
        <p:spPr>
          <a:xfrm>
            <a:off x="6126480" y="4526280"/>
            <a:ext cx="2743200" cy="274320"/>
          </a:xfrm>
          <a:prstGeom prst="rect">
            <a:avLst/>
          </a:prstGeom>
          <a:noFill/>
        </p:spPr>
        <p:txBody>
          <a:bodyPr wrap="square">
            <a:spAutoFit/>
          </a:bodyPr>
          <a:lstStyle/>
          <a:p>
            <a:pPr algn="l">
              <a:spcBef>
                <a:spcPts val="0"/>
              </a:spcBef>
              <a:spcAft>
                <a:spcPts val="400"/>
              </a:spcAft>
              <a:defRPr sz="1100" b="1">
                <a:solidFill>
                  <a:srgbClr val="E97132"/>
                </a:solidFill>
                <a:latin typeface="Calibri"/>
              </a:defRPr>
            </a:pPr>
            <a:r>
              <a:t>Checkpoint Bug</a:t>
            </a:r>
          </a:p>
        </p:txBody>
      </p:sp>
      <p:sp>
        <p:nvSpPr>
          <p:cNvPr id="17" name="TextBox 16"/>
          <p:cNvSpPr txBox="1"/>
          <p:nvPr/>
        </p:nvSpPr>
        <p:spPr>
          <a:xfrm>
            <a:off x="6126480" y="4754880"/>
            <a:ext cx="2743200" cy="1005840"/>
          </a:xfrm>
          <a:prstGeom prst="rect">
            <a:avLst/>
          </a:prstGeom>
          <a:noFill/>
        </p:spPr>
        <p:txBody>
          <a:bodyPr wrap="square">
            <a:spAutoFit/>
          </a:bodyPr>
          <a:lstStyle/>
          <a:p>
            <a:pPr algn="l">
              <a:spcBef>
                <a:spcPts val="0"/>
              </a:spcBef>
              <a:spcAft>
                <a:spcPts val="400"/>
              </a:spcAft>
              <a:defRPr sz="1000" b="0">
                <a:solidFill>
                  <a:srgbClr val="767676"/>
                </a:solidFill>
                <a:latin typeface="Calibri"/>
              </a:defRPr>
            </a:pPr>
            <a:r>
              <a:t>best_val_dice was reset after</a:t>
            </a:r>
            <a:br/>
            <a:r>
              <a:t>checkpoint restore, losing best</a:t>
            </a:r>
            <a:br/>
            <a:r>
              <a:t>model on job preemption. Fixed.</a:t>
            </a:r>
          </a:p>
        </p:txBody>
      </p:sp>
      <p:sp>
        <p:nvSpPr>
          <p:cNvPr id="18" name="TextBox 17"/>
          <p:cNvSpPr txBox="1"/>
          <p:nvPr/>
        </p:nvSpPr>
        <p:spPr>
          <a:xfrm>
            <a:off x="9052560" y="4526280"/>
            <a:ext cx="2743200" cy="274320"/>
          </a:xfrm>
          <a:prstGeom prst="rect">
            <a:avLst/>
          </a:prstGeom>
          <a:noFill/>
        </p:spPr>
        <p:txBody>
          <a:bodyPr wrap="square">
            <a:spAutoFit/>
          </a:bodyPr>
          <a:lstStyle/>
          <a:p>
            <a:pPr algn="l">
              <a:spcBef>
                <a:spcPts val="0"/>
              </a:spcBef>
              <a:spcAft>
                <a:spcPts val="400"/>
              </a:spcAft>
              <a:defRPr sz="1100" b="1">
                <a:solidFill>
                  <a:srgbClr val="E97132"/>
                </a:solidFill>
                <a:latin typeface="Calibri"/>
              </a:defRPr>
            </a:pPr>
            <a:r>
              <a:t>MONAI API Break</a:t>
            </a:r>
          </a:p>
        </p:txBody>
      </p:sp>
      <p:sp>
        <p:nvSpPr>
          <p:cNvPr id="19" name="TextBox 18"/>
          <p:cNvSpPr txBox="1"/>
          <p:nvPr/>
        </p:nvSpPr>
        <p:spPr>
          <a:xfrm>
            <a:off x="9052560" y="4754880"/>
            <a:ext cx="2743200" cy="1005840"/>
          </a:xfrm>
          <a:prstGeom prst="rect">
            <a:avLst/>
          </a:prstGeom>
          <a:noFill/>
        </p:spPr>
        <p:txBody>
          <a:bodyPr wrap="square">
            <a:spAutoFit/>
          </a:bodyPr>
          <a:lstStyle/>
          <a:p>
            <a:pPr algn="l">
              <a:spcBef>
                <a:spcPts val="0"/>
              </a:spcBef>
              <a:spcAft>
                <a:spcPts val="400"/>
              </a:spcAft>
              <a:defRPr sz="1000" b="0">
                <a:solidFill>
                  <a:srgbClr val="767676"/>
                </a:solidFill>
                <a:latin typeface="Calibri"/>
              </a:defRPr>
            </a:pPr>
            <a:r>
              <a:t>SwinUNETR removed img_size in</a:t>
            </a:r>
            <a:br/>
            <a:r>
              <a:t>v1.5.2. ViT patch_size fix.</a:t>
            </a:r>
            <a:br/>
            <a:r>
              <a:t>Both resolved.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88952"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0972800" cy="502920"/>
          </a:xfrm>
          <a:prstGeom prst="rect">
            <a:avLst/>
          </a:prstGeom>
          <a:noFill/>
        </p:spPr>
        <p:txBody>
          <a:bodyPr wrap="square">
            <a:spAutoFit/>
          </a:bodyPr>
          <a:lstStyle/>
          <a:p>
            <a:pPr algn="l">
              <a:spcBef>
                <a:spcPts val="0"/>
              </a:spcBef>
              <a:spcAft>
                <a:spcPts val="400"/>
              </a:spcAft>
              <a:defRPr sz="2800" b="1">
                <a:solidFill>
                  <a:srgbClr val="CFB87C"/>
                </a:solidFill>
                <a:latin typeface="Calibri Light"/>
              </a:defRPr>
            </a:pPr>
            <a:r>
              <a:t>What’s Next</a:t>
            </a:r>
          </a:p>
        </p:txBody>
      </p:sp>
      <p:sp>
        <p:nvSpPr>
          <p:cNvPr id="6" name="Rectangle 5"/>
          <p:cNvSpPr/>
          <p:nvPr/>
        </p:nvSpPr>
        <p:spPr>
          <a:xfrm>
            <a:off x="457200" y="612648"/>
            <a:ext cx="11274552" cy="31750"/>
          </a:xfrm>
          <a:prstGeom prst="rect">
            <a:avLst/>
          </a:prstGeom>
          <a:solidFill>
            <a:srgbClr val="CFB8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469880" y="6007608"/>
            <a:ext cx="1719072" cy="786384"/>
          </a:xfrm>
          <a:prstGeom prst="rect">
            <a:avLst/>
          </a:prstGeom>
        </p:spPr>
      </p:pic>
      <p:sp>
        <p:nvSpPr>
          <p:cNvPr id="8" name="TextBox 7"/>
          <p:cNvSpPr txBox="1"/>
          <p:nvPr/>
        </p:nvSpPr>
        <p:spPr>
          <a:xfrm>
            <a:off x="457200" y="777240"/>
            <a:ext cx="11247120" cy="365760"/>
          </a:xfrm>
          <a:prstGeom prst="rect">
            <a:avLst/>
          </a:prstGeom>
          <a:noFill/>
        </p:spPr>
        <p:txBody>
          <a:bodyPr wrap="square">
            <a:spAutoFit/>
          </a:bodyPr>
          <a:lstStyle/>
          <a:p>
            <a:pPr algn="l">
              <a:spcBef>
                <a:spcPts val="0"/>
              </a:spcBef>
              <a:spcAft>
                <a:spcPts val="400"/>
              </a:spcAft>
              <a:defRPr sz="2000" b="1">
                <a:solidFill>
                  <a:srgbClr val="156082"/>
                </a:solidFill>
                <a:latin typeface="Calibri"/>
              </a:defRPr>
            </a:pPr>
            <a:r>
              <a:t>Estimated Timeline</a:t>
            </a:r>
          </a:p>
        </p:txBody>
      </p:sp>
      <p:sp>
        <p:nvSpPr>
          <p:cNvPr id="9" name="Rounded Rectangle 8"/>
          <p:cNvSpPr/>
          <p:nvPr/>
        </p:nvSpPr>
        <p:spPr>
          <a:xfrm>
            <a:off x="457200" y="1234440"/>
            <a:ext cx="1371600" cy="457200"/>
          </a:xfrm>
          <a:prstGeom prst="roundRect">
            <a:avLst/>
          </a:prstGeom>
          <a:solidFill>
            <a:srgbClr val="D4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80160"/>
            <a:ext cx="1280160" cy="365760"/>
          </a:xfrm>
          <a:prstGeom prst="rect">
            <a:avLst/>
          </a:prstGeom>
          <a:noFill/>
        </p:spPr>
        <p:txBody>
          <a:bodyPr wrap="square">
            <a:spAutoFit/>
          </a:bodyPr>
          <a:lstStyle/>
          <a:p>
            <a:pPr algn="ctr">
              <a:spcBef>
                <a:spcPts val="0"/>
              </a:spcBef>
              <a:spcAft>
                <a:spcPts val="400"/>
              </a:spcAft>
              <a:defRPr sz="1200" b="1">
                <a:solidFill>
                  <a:srgbClr val="156082"/>
                </a:solidFill>
                <a:latin typeface="Calibri"/>
              </a:defRPr>
            </a:pPr>
            <a:r>
              <a:t>Now</a:t>
            </a:r>
          </a:p>
        </p:txBody>
      </p:sp>
      <p:sp>
        <p:nvSpPr>
          <p:cNvPr id="11" name="TextBox 10"/>
          <p:cNvSpPr txBox="1"/>
          <p:nvPr/>
        </p:nvSpPr>
        <p:spPr>
          <a:xfrm>
            <a:off x="2011680" y="1252728"/>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Phase 2 launched</a:t>
            </a:r>
          </a:p>
        </p:txBody>
      </p:sp>
      <p:sp>
        <p:nvSpPr>
          <p:cNvPr id="12" name="TextBox 11"/>
          <p:cNvSpPr txBox="1"/>
          <p:nvPr/>
        </p:nvSpPr>
        <p:spPr>
          <a:xfrm>
            <a:off x="4846320" y="1252728"/>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All 9 models + TensorBoard submitted to L40S</a:t>
            </a:r>
          </a:p>
        </p:txBody>
      </p:sp>
      <p:sp>
        <p:nvSpPr>
          <p:cNvPr id="13" name="Rounded Rectangle 12"/>
          <p:cNvSpPr/>
          <p:nvPr/>
        </p:nvSpPr>
        <p:spPr>
          <a:xfrm>
            <a:off x="457200" y="1801368"/>
            <a:ext cx="1371600" cy="4572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847088"/>
            <a:ext cx="1280160" cy="365760"/>
          </a:xfrm>
          <a:prstGeom prst="rect">
            <a:avLst/>
          </a:prstGeom>
          <a:noFill/>
        </p:spPr>
        <p:txBody>
          <a:bodyPr wrap="square">
            <a:spAutoFit/>
          </a:bodyPr>
          <a:lstStyle/>
          <a:p>
            <a:pPr algn="ctr">
              <a:spcBef>
                <a:spcPts val="0"/>
              </a:spcBef>
              <a:spcAft>
                <a:spcPts val="400"/>
              </a:spcAft>
              <a:defRPr sz="1200" b="1">
                <a:solidFill>
                  <a:srgbClr val="156082"/>
                </a:solidFill>
                <a:latin typeface="Calibri"/>
              </a:defRPr>
            </a:pPr>
            <a:r>
              <a:t>~1 hour</a:t>
            </a:r>
          </a:p>
        </p:txBody>
      </p:sp>
      <p:sp>
        <p:nvSpPr>
          <p:cNvPr id="15" name="TextBox 14"/>
          <p:cNvSpPr txBox="1"/>
          <p:nvPr/>
        </p:nvSpPr>
        <p:spPr>
          <a:xfrm>
            <a:off x="2011680" y="1819656"/>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3D OOM check</a:t>
            </a:r>
          </a:p>
        </p:txBody>
      </p:sp>
      <p:sp>
        <p:nvSpPr>
          <p:cNvPr id="16" name="TextBox 15"/>
          <p:cNvSpPr txBox="1"/>
          <p:nvPr/>
        </p:nvSpPr>
        <p:spPr>
          <a:xfrm>
            <a:off x="4846320" y="1819656"/>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Verify persistent_workers fix — 3D jobs submitted first</a:t>
            </a:r>
          </a:p>
        </p:txBody>
      </p:sp>
      <p:sp>
        <p:nvSpPr>
          <p:cNvPr id="17" name="Rounded Rectangle 16"/>
          <p:cNvSpPr/>
          <p:nvPr/>
        </p:nvSpPr>
        <p:spPr>
          <a:xfrm>
            <a:off x="457200" y="2368296"/>
            <a:ext cx="1371600" cy="4572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14016"/>
            <a:ext cx="1280160" cy="365760"/>
          </a:xfrm>
          <a:prstGeom prst="rect">
            <a:avLst/>
          </a:prstGeom>
          <a:noFill/>
        </p:spPr>
        <p:txBody>
          <a:bodyPr wrap="square">
            <a:spAutoFit/>
          </a:bodyPr>
          <a:lstStyle/>
          <a:p>
            <a:pPr algn="ctr">
              <a:spcBef>
                <a:spcPts val="0"/>
              </a:spcBef>
              <a:spcAft>
                <a:spcPts val="400"/>
              </a:spcAft>
              <a:defRPr sz="1200" b="1">
                <a:solidFill>
                  <a:srgbClr val="156082"/>
                </a:solidFill>
                <a:latin typeface="Calibri"/>
              </a:defRPr>
            </a:pPr>
            <a:r>
              <a:t>~6 hours</a:t>
            </a:r>
          </a:p>
        </p:txBody>
      </p:sp>
      <p:sp>
        <p:nvSpPr>
          <p:cNvPr id="19" name="TextBox 18"/>
          <p:cNvSpPr txBox="1"/>
          <p:nvPr/>
        </p:nvSpPr>
        <p:spPr>
          <a:xfrm>
            <a:off x="2011680" y="2386584"/>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First 2D Dice</a:t>
            </a:r>
          </a:p>
        </p:txBody>
      </p:sp>
      <p:sp>
        <p:nvSpPr>
          <p:cNvPr id="20" name="TextBox 19"/>
          <p:cNvSpPr txBox="1"/>
          <p:nvPr/>
        </p:nvSpPr>
        <p:spPr>
          <a:xfrm>
            <a:off x="4846320" y="2386584"/>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2D models hit epoch 10 → first per-class Dice scores</a:t>
            </a:r>
          </a:p>
        </p:txBody>
      </p:sp>
      <p:sp>
        <p:nvSpPr>
          <p:cNvPr id="21" name="Rounded Rectangle 20"/>
          <p:cNvSpPr/>
          <p:nvPr/>
        </p:nvSpPr>
        <p:spPr>
          <a:xfrm>
            <a:off x="457200" y="2935224"/>
            <a:ext cx="1371600" cy="4572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980944"/>
            <a:ext cx="1280160" cy="365760"/>
          </a:xfrm>
          <a:prstGeom prst="rect">
            <a:avLst/>
          </a:prstGeom>
          <a:noFill/>
        </p:spPr>
        <p:txBody>
          <a:bodyPr wrap="square">
            <a:spAutoFit/>
          </a:bodyPr>
          <a:lstStyle/>
          <a:p>
            <a:pPr algn="ctr">
              <a:spcBef>
                <a:spcPts val="0"/>
              </a:spcBef>
              <a:spcAft>
                <a:spcPts val="400"/>
              </a:spcAft>
              <a:defRPr sz="1200" b="1">
                <a:solidFill>
                  <a:srgbClr val="156082"/>
                </a:solidFill>
                <a:latin typeface="Calibri"/>
              </a:defRPr>
            </a:pPr>
            <a:r>
              <a:t>~2 days</a:t>
            </a:r>
          </a:p>
        </p:txBody>
      </p:sp>
      <p:sp>
        <p:nvSpPr>
          <p:cNvPr id="23" name="TextBox 22"/>
          <p:cNvSpPr txBox="1"/>
          <p:nvPr/>
        </p:nvSpPr>
        <p:spPr>
          <a:xfrm>
            <a:off x="2011680" y="2953512"/>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2D complete</a:t>
            </a:r>
          </a:p>
        </p:txBody>
      </p:sp>
      <p:sp>
        <p:nvSpPr>
          <p:cNvPr id="24" name="TextBox 23"/>
          <p:cNvSpPr txBox="1"/>
          <p:nvPr/>
        </p:nvSpPr>
        <p:spPr>
          <a:xfrm>
            <a:off x="4846320" y="2953512"/>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All four 2D models finish 100 epochs (100K steps)</a:t>
            </a:r>
          </a:p>
        </p:txBody>
      </p:sp>
      <p:sp>
        <p:nvSpPr>
          <p:cNvPr id="25" name="Rounded Rectangle 24"/>
          <p:cNvSpPr/>
          <p:nvPr/>
        </p:nvSpPr>
        <p:spPr>
          <a:xfrm>
            <a:off x="457200" y="3502152"/>
            <a:ext cx="1371600" cy="457200"/>
          </a:xfrm>
          <a:prstGeom prst="roundRect">
            <a:avLst/>
          </a:prstGeom>
          <a:solidFill>
            <a:srgbClr val="D0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547872"/>
            <a:ext cx="1280160" cy="365760"/>
          </a:xfrm>
          <a:prstGeom prst="rect">
            <a:avLst/>
          </a:prstGeom>
          <a:noFill/>
        </p:spPr>
        <p:txBody>
          <a:bodyPr wrap="square">
            <a:spAutoFit/>
          </a:bodyPr>
          <a:lstStyle/>
          <a:p>
            <a:pPr algn="ctr">
              <a:spcBef>
                <a:spcPts val="0"/>
              </a:spcBef>
              <a:spcAft>
                <a:spcPts val="400"/>
              </a:spcAft>
              <a:defRPr sz="1200" b="1">
                <a:solidFill>
                  <a:srgbClr val="156082"/>
                </a:solidFill>
                <a:latin typeface="Calibri"/>
              </a:defRPr>
            </a:pPr>
            <a:r>
              <a:t>~10–13 days</a:t>
            </a:r>
          </a:p>
        </p:txBody>
      </p:sp>
      <p:sp>
        <p:nvSpPr>
          <p:cNvPr id="27" name="TextBox 26"/>
          <p:cNvSpPr txBox="1"/>
          <p:nvPr/>
        </p:nvSpPr>
        <p:spPr>
          <a:xfrm>
            <a:off x="2011680" y="3520440"/>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3D complete</a:t>
            </a:r>
          </a:p>
        </p:txBody>
      </p:sp>
      <p:sp>
        <p:nvSpPr>
          <p:cNvPr id="28" name="TextBox 27"/>
          <p:cNvSpPr txBox="1"/>
          <p:nvPr/>
        </p:nvSpPr>
        <p:spPr>
          <a:xfrm>
            <a:off x="4846320" y="3520440"/>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All five 3D models finish 1000 epochs (300K steps)</a:t>
            </a:r>
          </a:p>
        </p:txBody>
      </p:sp>
      <p:sp>
        <p:nvSpPr>
          <p:cNvPr id="29" name="Rounded Rectangle 28"/>
          <p:cNvSpPr/>
          <p:nvPr/>
        </p:nvSpPr>
        <p:spPr>
          <a:xfrm>
            <a:off x="457200" y="4069080"/>
            <a:ext cx="1371600" cy="4572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4114800"/>
            <a:ext cx="1280160" cy="365760"/>
          </a:xfrm>
          <a:prstGeom prst="rect">
            <a:avLst/>
          </a:prstGeom>
          <a:noFill/>
        </p:spPr>
        <p:txBody>
          <a:bodyPr wrap="square">
            <a:spAutoFit/>
          </a:bodyPr>
          <a:lstStyle/>
          <a:p>
            <a:pPr algn="ctr">
              <a:spcBef>
                <a:spcPts val="0"/>
              </a:spcBef>
              <a:spcAft>
                <a:spcPts val="400"/>
              </a:spcAft>
              <a:defRPr sz="1200" b="1">
                <a:solidFill>
                  <a:srgbClr val="767676"/>
                </a:solidFill>
                <a:latin typeface="Calibri"/>
              </a:defRPr>
            </a:pPr>
            <a:r>
              <a:t>+ 2 days</a:t>
            </a:r>
          </a:p>
        </p:txBody>
      </p:sp>
      <p:sp>
        <p:nvSpPr>
          <p:cNvPr id="31" name="TextBox 30"/>
          <p:cNvSpPr txBox="1"/>
          <p:nvPr/>
        </p:nvSpPr>
        <p:spPr>
          <a:xfrm>
            <a:off x="2011680" y="4087368"/>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Threshold tuning</a:t>
            </a:r>
          </a:p>
        </p:txBody>
      </p:sp>
      <p:sp>
        <p:nvSpPr>
          <p:cNvPr id="32" name="TextBox 31"/>
          <p:cNvSpPr txBox="1"/>
          <p:nvPr/>
        </p:nvSpPr>
        <p:spPr>
          <a:xfrm>
            <a:off x="4846320" y="4087368"/>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Per-class sigmoid optimization on validation crops</a:t>
            </a:r>
          </a:p>
        </p:txBody>
      </p:sp>
      <p:sp>
        <p:nvSpPr>
          <p:cNvPr id="33" name="Rounded Rectangle 32"/>
          <p:cNvSpPr/>
          <p:nvPr/>
        </p:nvSpPr>
        <p:spPr>
          <a:xfrm>
            <a:off x="457200" y="4636008"/>
            <a:ext cx="1371600" cy="4572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681728"/>
            <a:ext cx="1280160" cy="365760"/>
          </a:xfrm>
          <a:prstGeom prst="rect">
            <a:avLst/>
          </a:prstGeom>
          <a:noFill/>
        </p:spPr>
        <p:txBody>
          <a:bodyPr wrap="square">
            <a:spAutoFit/>
          </a:bodyPr>
          <a:lstStyle/>
          <a:p>
            <a:pPr algn="ctr">
              <a:spcBef>
                <a:spcPts val="0"/>
              </a:spcBef>
              <a:spcAft>
                <a:spcPts val="400"/>
              </a:spcAft>
              <a:defRPr sz="1200" b="1">
                <a:solidFill>
                  <a:srgbClr val="767676"/>
                </a:solidFill>
                <a:latin typeface="Calibri"/>
              </a:defRPr>
            </a:pPr>
            <a:r>
              <a:t>+ 1 day</a:t>
            </a:r>
          </a:p>
        </p:txBody>
      </p:sp>
      <p:sp>
        <p:nvSpPr>
          <p:cNvPr id="35" name="TextBox 34"/>
          <p:cNvSpPr txBox="1"/>
          <p:nvPr/>
        </p:nvSpPr>
        <p:spPr>
          <a:xfrm>
            <a:off x="2011680" y="4654296"/>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Per-class ensemble</a:t>
            </a:r>
          </a:p>
        </p:txBody>
      </p:sp>
      <p:sp>
        <p:nvSpPr>
          <p:cNvPr id="36" name="TextBox 35"/>
          <p:cNvSpPr txBox="1"/>
          <p:nvPr/>
        </p:nvSpPr>
        <p:spPr>
          <a:xfrm>
            <a:off x="4846320" y="4654296"/>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Select best architecture per organelle class</a:t>
            </a:r>
          </a:p>
        </p:txBody>
      </p:sp>
      <p:sp>
        <p:nvSpPr>
          <p:cNvPr id="37" name="Rounded Rectangle 36"/>
          <p:cNvSpPr/>
          <p:nvPr/>
        </p:nvSpPr>
        <p:spPr>
          <a:xfrm>
            <a:off x="457200" y="5202936"/>
            <a:ext cx="1371600" cy="4572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5248656"/>
            <a:ext cx="1280160" cy="365760"/>
          </a:xfrm>
          <a:prstGeom prst="rect">
            <a:avLst/>
          </a:prstGeom>
          <a:noFill/>
        </p:spPr>
        <p:txBody>
          <a:bodyPr wrap="square">
            <a:spAutoFit/>
          </a:bodyPr>
          <a:lstStyle/>
          <a:p>
            <a:pPr algn="ctr">
              <a:spcBef>
                <a:spcPts val="0"/>
              </a:spcBef>
              <a:spcAft>
                <a:spcPts val="400"/>
              </a:spcAft>
              <a:defRPr sz="1200" b="1">
                <a:solidFill>
                  <a:srgbClr val="767676"/>
                </a:solidFill>
                <a:latin typeface="Calibri"/>
              </a:defRPr>
            </a:pPr>
            <a:r>
              <a:t>+ 1 day</a:t>
            </a:r>
          </a:p>
        </p:txBody>
      </p:sp>
      <p:sp>
        <p:nvSpPr>
          <p:cNvPr id="39" name="TextBox 38"/>
          <p:cNvSpPr txBox="1"/>
          <p:nvPr/>
        </p:nvSpPr>
        <p:spPr>
          <a:xfrm>
            <a:off x="2011680" y="5221224"/>
            <a:ext cx="2743200" cy="420624"/>
          </a:xfrm>
          <a:prstGeom prst="rect">
            <a:avLst/>
          </a:prstGeom>
          <a:noFill/>
        </p:spPr>
        <p:txBody>
          <a:bodyPr wrap="square">
            <a:spAutoFit/>
          </a:bodyPr>
          <a:lstStyle/>
          <a:p>
            <a:pPr algn="l">
              <a:spcBef>
                <a:spcPts val="0"/>
              </a:spcBef>
              <a:spcAft>
                <a:spcPts val="400"/>
              </a:spcAft>
              <a:defRPr sz="1300" b="1">
                <a:solidFill>
                  <a:srgbClr val="333333"/>
                </a:solidFill>
                <a:latin typeface="Calibri"/>
              </a:defRPr>
            </a:pPr>
            <a:r>
              <a:t>Leaderboard</a:t>
            </a:r>
          </a:p>
        </p:txBody>
      </p:sp>
      <p:sp>
        <p:nvSpPr>
          <p:cNvPr id="40" name="TextBox 39"/>
          <p:cNvSpPr txBox="1"/>
          <p:nvPr/>
        </p:nvSpPr>
        <p:spPr>
          <a:xfrm>
            <a:off x="4846320" y="5221224"/>
            <a:ext cx="6858000" cy="420624"/>
          </a:xfrm>
          <a:prstGeom prst="rect">
            <a:avLst/>
          </a:prstGeom>
          <a:noFill/>
        </p:spPr>
        <p:txBody>
          <a:bodyPr wrap="square">
            <a:spAutoFit/>
          </a:bodyPr>
          <a:lstStyle/>
          <a:p>
            <a:pPr algn="l">
              <a:spcBef>
                <a:spcPts val="0"/>
              </a:spcBef>
              <a:spcAft>
                <a:spcPts val="400"/>
              </a:spcAft>
              <a:defRPr sz="1100" b="0">
                <a:solidFill>
                  <a:srgbClr val="767676"/>
                </a:solidFill>
                <a:latin typeface="Calibri"/>
              </a:defRPr>
            </a:pPr>
            <a:r>
              <a:t>Submit to CellMap challenge → objective score</a:t>
            </a:r>
          </a:p>
        </p:txBody>
      </p:sp>
      <p:sp>
        <p:nvSpPr>
          <p:cNvPr id="41" name="Rounded Rectangle 40"/>
          <p:cNvSpPr/>
          <p:nvPr/>
        </p:nvSpPr>
        <p:spPr>
          <a:xfrm>
            <a:off x="457200" y="5486400"/>
            <a:ext cx="11247120" cy="685800"/>
          </a:xfrm>
          <a:prstGeom prst="roundRect">
            <a:avLst/>
          </a:prstGeom>
          <a:solidFill>
            <a:srgbClr val="D4E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550408"/>
            <a:ext cx="10881360" cy="548640"/>
          </a:xfrm>
          <a:prstGeom prst="rect">
            <a:avLst/>
          </a:prstGeom>
          <a:noFill/>
        </p:spPr>
        <p:txBody>
          <a:bodyPr wrap="square">
            <a:spAutoFit/>
          </a:bodyPr>
          <a:lstStyle/>
          <a:p>
            <a:pPr algn="ctr">
              <a:spcBef>
                <a:spcPts val="0"/>
              </a:spcBef>
              <a:spcAft>
                <a:spcPts val="400"/>
              </a:spcAft>
              <a:defRPr sz="1400" b="1">
                <a:solidFill>
                  <a:srgbClr val="196B24"/>
                </a:solidFill>
                <a:latin typeface="Calibri"/>
              </a:defRPr>
            </a:pPr>
            <a:r>
              <a:t>The Vision:  CellMap model  →  per-class threshold tuning  →  per-class ensemble  →  apply to our own novel electron tomograms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1828800"/>
            <a:ext cx="10360152" cy="1371600"/>
          </a:xfrm>
          <a:prstGeom prst="rect">
            <a:avLst/>
          </a:prstGeom>
          <a:noFill/>
        </p:spPr>
        <p:txBody>
          <a:bodyPr wrap="square">
            <a:spAutoFit/>
          </a:bodyPr>
          <a:lstStyle/>
          <a:p>
            <a:pPr algn="ctr">
              <a:spcBef>
                <a:spcPts val="0"/>
              </a:spcBef>
              <a:spcAft>
                <a:spcPts val="400"/>
              </a:spcAft>
              <a:defRPr sz="4800" b="1">
                <a:solidFill>
                  <a:srgbClr val="CFB87C"/>
                </a:solidFill>
                <a:latin typeface="Calibri Light"/>
              </a:defRPr>
            </a:pPr>
            <a:r>
              <a:t>Thank You!</a:t>
            </a:r>
          </a:p>
        </p:txBody>
      </p:sp>
      <p:sp>
        <p:nvSpPr>
          <p:cNvPr id="5" name="TextBox 4"/>
          <p:cNvSpPr txBox="1"/>
          <p:nvPr/>
        </p:nvSpPr>
        <p:spPr>
          <a:xfrm>
            <a:off x="914400" y="3200400"/>
            <a:ext cx="10360152" cy="457200"/>
          </a:xfrm>
          <a:prstGeom prst="rect">
            <a:avLst/>
          </a:prstGeom>
          <a:noFill/>
        </p:spPr>
        <p:txBody>
          <a:bodyPr wrap="square">
            <a:spAutoFit/>
          </a:bodyPr>
          <a:lstStyle/>
          <a:p>
            <a:pPr algn="ctr">
              <a:spcBef>
                <a:spcPts val="0"/>
              </a:spcBef>
              <a:spcAft>
                <a:spcPts val="400"/>
              </a:spcAft>
              <a:defRPr sz="2800" b="0">
                <a:solidFill>
                  <a:srgbClr val="767676"/>
                </a:solidFill>
                <a:latin typeface="Calibri Light"/>
              </a:defRPr>
            </a:pPr>
            <a:r>
              <a:t>Questions?</a:t>
            </a:r>
          </a:p>
        </p:txBody>
      </p:sp>
      <p:sp>
        <p:nvSpPr>
          <p:cNvPr id="6" name="TextBox 5"/>
          <p:cNvSpPr txBox="1"/>
          <p:nvPr/>
        </p:nvSpPr>
        <p:spPr>
          <a:xfrm>
            <a:off x="914400" y="4114800"/>
            <a:ext cx="10360152" cy="457200"/>
          </a:xfrm>
          <a:prstGeom prst="rect">
            <a:avLst/>
          </a:prstGeom>
          <a:noFill/>
        </p:spPr>
        <p:txBody>
          <a:bodyPr wrap="square">
            <a:spAutoFit/>
          </a:bodyPr>
          <a:lstStyle/>
          <a:p>
            <a:pPr algn="ctr">
              <a:spcBef>
                <a:spcPts val="0"/>
              </a:spcBef>
              <a:spcAft>
                <a:spcPts val="400"/>
              </a:spcAft>
              <a:defRPr sz="1600" b="0">
                <a:solidFill>
                  <a:srgbClr val="767676"/>
                </a:solidFill>
                <a:latin typeface="Calibri"/>
              </a:defRPr>
            </a:pPr>
            <a:r>
              <a:t>George S. George  •  gsgeorge@unc.edu</a:t>
            </a:r>
          </a:p>
        </p:txBody>
      </p:sp>
      <p:sp>
        <p:nvSpPr>
          <p:cNvPr id="7" name="TextBox 6"/>
          <p:cNvSpPr txBox="1"/>
          <p:nvPr/>
        </p:nvSpPr>
        <p:spPr>
          <a:xfrm>
            <a:off x="914400" y="4846320"/>
            <a:ext cx="10360152" cy="731520"/>
          </a:xfrm>
          <a:prstGeom prst="rect">
            <a:avLst/>
          </a:prstGeom>
          <a:noFill/>
        </p:spPr>
        <p:txBody>
          <a:bodyPr wrap="square">
            <a:spAutoFit/>
          </a:bodyPr>
          <a:lstStyle/>
          <a:p>
            <a:pPr algn="ctr">
              <a:spcBef>
                <a:spcPts val="0"/>
              </a:spcBef>
              <a:spcAft>
                <a:spcPts val="400"/>
              </a:spcAft>
              <a:defRPr sz="1300" b="0">
                <a:solidFill>
                  <a:srgbClr val="D9D9D9"/>
                </a:solidFill>
                <a:latin typeface="Calibri"/>
              </a:defRPr>
            </a:pPr>
            <a:r>
              <a:t>Code: github.com/Shan-CU/CellMap-Segmentation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BDCAE5AB8CB6E4DA5E3E6960FA14961" ma:contentTypeVersion="5" ma:contentTypeDescription="Create a new document." ma:contentTypeScope="" ma:versionID="977174e26617ef315414bd51ea0600dc">
  <xsd:schema xmlns:xsd="http://www.w3.org/2001/XMLSchema" xmlns:xs="http://www.w3.org/2001/XMLSchema" xmlns:p="http://schemas.microsoft.com/office/2006/metadata/properties" xmlns:ns3="e8f9bfac-c2a4-45f3-a98c-98b2872a7994" targetNamespace="http://schemas.microsoft.com/office/2006/metadata/properties" ma:root="true" ma:fieldsID="4bbf91fe8bd11ffa257e90278c334b52" ns3:_="">
    <xsd:import namespace="e8f9bfac-c2a4-45f3-a98c-98b2872a7994"/>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f9bfac-c2a4-45f3-a98c-98b2872a799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8f9bfac-c2a4-45f3-a98c-98b2872a7994" xsi:nil="true"/>
  </documentManagement>
</p:properties>
</file>

<file path=customXml/itemProps1.xml><?xml version="1.0" encoding="utf-8"?>
<ds:datastoreItem xmlns:ds="http://schemas.openxmlformats.org/officeDocument/2006/customXml" ds:itemID="{37F5763D-5CE0-471B-A997-E2BAF106C9BF}">
  <ds:schemaRefs>
    <ds:schemaRef ds:uri="http://schemas.microsoft.com/sharepoint/v3/contenttype/forms"/>
  </ds:schemaRefs>
</ds:datastoreItem>
</file>

<file path=customXml/itemProps2.xml><?xml version="1.0" encoding="utf-8"?>
<ds:datastoreItem xmlns:ds="http://schemas.openxmlformats.org/officeDocument/2006/customXml" ds:itemID="{73E1EDA9-0259-4B09-9151-59FCA06D340E}">
  <ds:schemaRefs>
    <ds:schemaRef ds:uri="e8f9bfac-c2a4-45f3-a98c-98b2872a79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55332CA-9418-44DB-8F3D-D01A2AE62B89}">
  <ds:schemaRefs>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e8f9bfac-c2a4-45f3-a98c-98b2872a7994"/>
    <ds:schemaRef ds:uri="http://purl.org/dc/dcmitype/"/>
  </ds:schemaRefs>
</ds:datastoreItem>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GStephenson_rotation1_slides</Template>
  <TotalTime>350</TotalTime>
  <Words>47</Words>
  <Application>Microsoft Macintosh PowerPoint</Application>
  <PresentationFormat>Widescreen</PresentationFormat>
  <Paragraphs>8</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Stephenson</dc:creator>
  <cp:lastModifiedBy>George Stephenson</cp:lastModifiedBy>
  <cp:revision>5</cp:revision>
  <dcterms:created xsi:type="dcterms:W3CDTF">2025-12-02T03:50:19Z</dcterms:created>
  <dcterms:modified xsi:type="dcterms:W3CDTF">2026-02-23T20:32:04Z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0x010100CBDCAE5AB8CB6E4DA5E3E6960FA14961</vt:lpwstr>
  </property>
</Properties>
</file>